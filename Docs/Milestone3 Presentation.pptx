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4.xml" ContentType="application/vnd.openxmlformats-officedocument.presentationml.notesSlide+xml"/>
  <Override PartName="/ppt/charts/chart6.xml" ContentType="application/vnd.openxmlformats-officedocument.drawingml.chart+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72" r:id="rId6"/>
    <p:sldId id="273" r:id="rId7"/>
    <p:sldId id="260" r:id="rId8"/>
    <p:sldId id="261" r:id="rId9"/>
    <p:sldId id="262" r:id="rId10"/>
    <p:sldId id="263" r:id="rId11"/>
    <p:sldId id="264" r:id="rId12"/>
    <p:sldId id="274" r:id="rId13"/>
    <p:sldId id="265" r:id="rId14"/>
    <p:sldId id="268" r:id="rId15"/>
    <p:sldId id="269" r:id="rId16"/>
    <p:sldId id="270"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5" d="100"/>
          <a:sy n="75" d="100"/>
        </p:scale>
        <p:origin x="300" y="2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34B"/>
                </a:solidFill>
                <a:latin typeface="Calibri"/>
              </a:defRPr>
            </a:pPr>
            <a:r>
              <a:rPr lang="en-IN" sz="1300" b="0" i="0" u="none" strike="noStrike">
                <a:solidFill>
                  <a:srgbClr val="13234B"/>
                </a:solidFill>
                <a:latin typeface="Calibri"/>
              </a:rPr>
              <a:t>Strict Execution Accuracy, zero-shot</a:t>
            </a:r>
          </a:p>
        </c:rich>
      </c:tx>
      <c:overlay val="0"/>
    </c:title>
    <c:autoTitleDeleted val="0"/>
    <c:plotArea>
      <c:layout/>
      <c:barChart>
        <c:barDir val="bar"/>
        <c:grouping val="clustered"/>
        <c:varyColors val="0"/>
        <c:ser>
          <c:idx val="0"/>
          <c:order val="0"/>
          <c:tx>
            <c:strRef>
              <c:f>Sheet1!$B$1</c:f>
              <c:strCache>
                <c:ptCount val="1"/>
                <c:pt idx="0">
                  <c:v>Strict Execution Accuracy (%)</c:v>
                </c:pt>
              </c:strCache>
            </c:strRef>
          </c:tx>
          <c:spPr>
            <a:solidFill>
              <a:srgbClr val="13234B"/>
            </a:solidFill>
            <a:effectLst/>
          </c:spPr>
          <c:invertIfNegative val="0"/>
          <c:dLbls>
            <c:numFmt formatCode="0.0&quot;%&quot;" sourceLinked="0"/>
            <c:spPr>
              <a:noFill/>
              <a:ln>
                <a:noFill/>
              </a:ln>
              <a:effectLst/>
            </c:spPr>
            <c:txPr>
              <a:bodyPr/>
              <a:lstStyle/>
              <a:p>
                <a:pPr>
                  <a:defRPr sz="11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DeepSeek-Coder 1.3B</c:v>
                </c:pt>
                <c:pt idx="1">
                  <c:v>Qwen2.5-Coder 1.5B</c:v>
                </c:pt>
                <c:pt idx="2">
                  <c:v>Qwen3 4B</c:v>
                </c:pt>
              </c:strCache>
            </c:strRef>
          </c:cat>
          <c:val>
            <c:numRef>
              <c:f>Sheet1!$B$2:$B$4</c:f>
              <c:numCache>
                <c:formatCode>General</c:formatCode>
                <c:ptCount val="3"/>
                <c:pt idx="0">
                  <c:v>47.292000000000002</c:v>
                </c:pt>
                <c:pt idx="1">
                  <c:v>56.576000000000001</c:v>
                </c:pt>
                <c:pt idx="2">
                  <c:v>72.34</c:v>
                </c:pt>
              </c:numCache>
            </c:numRef>
          </c:val>
          <c:extLst>
            <c:ext xmlns:c16="http://schemas.microsoft.com/office/drawing/2014/chart" uri="{C3380CC4-5D6E-409C-BE32-E72D297353CC}">
              <c16:uniqueId val="{00000000-092B-4587-92B5-A20DC31DE6B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max val="85"/>
        </c:scaling>
        <c:delete val="0"/>
        <c:axPos val="b"/>
        <c:majorGridlines>
          <c:spPr>
            <a:ln w="12700" cap="flat">
              <a:solidFill>
                <a:srgbClr val="ED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3234B"/>
                </a:solidFill>
                <a:latin typeface="Calibri"/>
              </a:defRPr>
            </a:pPr>
            <a:r>
              <a:rPr lang="en-US" sz="1300" b="0" i="0" u="none" strike="noStrike">
                <a:solidFill>
                  <a:srgbClr val="13234B"/>
                </a:solidFill>
                <a:latin typeface="Calibri"/>
              </a:rPr>
              <a:t>Strict Execution Accuracy: Before vs After QLoRA</a:t>
            </a:r>
          </a:p>
        </c:rich>
      </c:tx>
      <c:overlay val="0"/>
    </c:title>
    <c:autoTitleDeleted val="0"/>
    <c:plotArea>
      <c:layout/>
      <c:barChart>
        <c:barDir val="col"/>
        <c:grouping val="clustered"/>
        <c:varyColors val="0"/>
        <c:ser>
          <c:idx val="0"/>
          <c:order val="0"/>
          <c:tx>
            <c:strRef>
              <c:f>Sheet1!$B$1</c:f>
              <c:strCache>
                <c:ptCount val="1"/>
                <c:pt idx="0">
                  <c:v>Before QLoRA</c:v>
                </c:pt>
              </c:strCache>
            </c:strRef>
          </c:tx>
          <c:spPr>
            <a:solidFill>
              <a:srgbClr val="13234B"/>
            </a:solidFill>
            <a:effectLst/>
          </c:spPr>
          <c:invertIfNegative val="0"/>
          <c:dLbls>
            <c:numFmt formatCode="0.0&quot;%&quot;" sourceLinked="0"/>
            <c:spPr>
              <a:noFill/>
              <a:ln>
                <a:noFill/>
              </a:ln>
              <a:effectLst/>
            </c:spPr>
            <c:txPr>
              <a:bodyPr/>
              <a:lstStyle/>
              <a:p>
                <a:pPr>
                  <a:defRPr sz="10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Qwen3 4B</c:v>
                </c:pt>
                <c:pt idx="1">
                  <c:v>Qwen2.5-Coder 1.5B</c:v>
                </c:pt>
                <c:pt idx="2">
                  <c:v>DeepSeek-Coder 1.3B</c:v>
                </c:pt>
              </c:strCache>
            </c:strRef>
          </c:cat>
          <c:val>
            <c:numRef>
              <c:f>Sheet1!$B$2:$B$4</c:f>
              <c:numCache>
                <c:formatCode>General</c:formatCode>
                <c:ptCount val="3"/>
                <c:pt idx="0">
                  <c:v>72.34</c:v>
                </c:pt>
                <c:pt idx="1">
                  <c:v>56.576000000000001</c:v>
                </c:pt>
                <c:pt idx="2">
                  <c:v>47.292000000000002</c:v>
                </c:pt>
              </c:numCache>
            </c:numRef>
          </c:val>
          <c:extLst>
            <c:ext xmlns:c16="http://schemas.microsoft.com/office/drawing/2014/chart" uri="{C3380CC4-5D6E-409C-BE32-E72D297353CC}">
              <c16:uniqueId val="{00000000-296B-4130-BAE4-FCBCBFB094FC}"/>
            </c:ext>
          </c:extLst>
        </c:ser>
        <c:ser>
          <c:idx val="1"/>
          <c:order val="1"/>
          <c:tx>
            <c:strRef>
              <c:f>Sheet1!$C$1</c:f>
              <c:strCache>
                <c:ptCount val="1"/>
                <c:pt idx="0">
                  <c:v>After QLoRA</c:v>
                </c:pt>
              </c:strCache>
            </c:strRef>
          </c:tx>
          <c:spPr>
            <a:solidFill>
              <a:srgbClr val="E8A33D"/>
            </a:solidFill>
            <a:effectLst/>
          </c:spPr>
          <c:invertIfNegative val="0"/>
          <c:dLbls>
            <c:numFmt formatCode="0.0&quot;%&quot;" sourceLinked="0"/>
            <c:spPr>
              <a:noFill/>
              <a:ln>
                <a:noFill/>
              </a:ln>
              <a:effectLst/>
            </c:spPr>
            <c:txPr>
              <a:bodyPr/>
              <a:lstStyle/>
              <a:p>
                <a:pPr>
                  <a:defRPr sz="10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Qwen3 4B</c:v>
                </c:pt>
                <c:pt idx="1">
                  <c:v>Qwen2.5-Coder 1.5B</c:v>
                </c:pt>
                <c:pt idx="2">
                  <c:v>DeepSeek-Coder 1.3B</c:v>
                </c:pt>
              </c:strCache>
            </c:strRef>
          </c:cat>
          <c:val>
            <c:numRef>
              <c:f>Sheet1!$C$2:$C$4</c:f>
              <c:numCache>
                <c:formatCode>General</c:formatCode>
                <c:ptCount val="3"/>
                <c:pt idx="0">
                  <c:v>76.885999999999996</c:v>
                </c:pt>
                <c:pt idx="1">
                  <c:v>65.570999999999998</c:v>
                </c:pt>
                <c:pt idx="2">
                  <c:v>67.602000000000004</c:v>
                </c:pt>
              </c:numCache>
            </c:numRef>
          </c:val>
          <c:extLst>
            <c:ext xmlns:c16="http://schemas.microsoft.com/office/drawing/2014/chart" uri="{C3380CC4-5D6E-409C-BE32-E72D297353CC}">
              <c16:uniqueId val="{00000001-296B-4130-BAE4-FCBCBFB094FC}"/>
            </c:ext>
          </c:extLst>
        </c:ser>
        <c:dLbls>
          <c:showLegendKey val="0"/>
          <c:showVal val="1"/>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max val="90"/>
        </c:scaling>
        <c:delete val="0"/>
        <c:axPos val="l"/>
        <c:majorGridlines>
          <c:spPr>
            <a:ln w="12700" cap="flat">
              <a:solidFill>
                <a:srgbClr val="EDEF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1100">
              <a:solidFill>
                <a:srgbClr val="1A2233"/>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Strict EX</c:v>
                </c:pt>
              </c:strCache>
            </c:strRef>
          </c:tx>
          <c:spPr>
            <a:solidFill>
              <a:srgbClr val="0E7C86"/>
            </a:solidFill>
            <a:effectLst/>
          </c:spPr>
          <c:invertIfNegative val="0"/>
          <c:dLbls>
            <c:numFmt formatCode="0.00&quot;%&quot;" sourceLinked="0"/>
            <c:spPr>
              <a:noFill/>
              <a:ln>
                <a:noFill/>
              </a:ln>
              <a:effectLst/>
            </c:spPr>
            <c:txPr>
              <a:bodyPr/>
              <a:lstStyle/>
              <a:p>
                <a:pPr>
                  <a:defRPr sz="11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DDL prompt</c:v>
                </c:pt>
                <c:pt idx="1">
                  <c:v>M-Schema prompt</c:v>
                </c:pt>
              </c:strCache>
            </c:strRef>
          </c:cat>
          <c:val>
            <c:numRef>
              <c:f>Sheet1!$B$2:$B$3</c:f>
              <c:numCache>
                <c:formatCode>General</c:formatCode>
                <c:ptCount val="2"/>
                <c:pt idx="0">
                  <c:v>76.885999999999996</c:v>
                </c:pt>
                <c:pt idx="1">
                  <c:v>78.626999999999995</c:v>
                </c:pt>
              </c:numCache>
            </c:numRef>
          </c:val>
          <c:extLst>
            <c:ext xmlns:c16="http://schemas.microsoft.com/office/drawing/2014/chart" uri="{C3380CC4-5D6E-409C-BE32-E72D297353CC}">
              <c16:uniqueId val="{00000000-97FC-48B7-BB9C-FBDDCEE3474D}"/>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max val="85"/>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Peak VRAM (GiB)</c:v>
                </c:pt>
              </c:strCache>
            </c:strRef>
          </c:tx>
          <c:spPr>
            <a:solidFill>
              <a:srgbClr val="0E7C86"/>
            </a:solidFill>
            <a:effectLst/>
          </c:spPr>
          <c:invertIfNegative val="0"/>
          <c:dLbls>
            <c:numFmt formatCode="0.00" sourceLinked="0"/>
            <c:spPr>
              <a:noFill/>
              <a:ln>
                <a:noFill/>
              </a:ln>
              <a:effectLst/>
            </c:spPr>
            <c:txPr>
              <a:bodyPr/>
              <a:lstStyle/>
              <a:p>
                <a:pPr>
                  <a:defRPr sz="11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Qwen3 baseline inference</c:v>
                </c:pt>
                <c:pt idx="1">
                  <c:v>QLoRA training</c:v>
                </c:pt>
              </c:strCache>
            </c:strRef>
          </c:cat>
          <c:val>
            <c:numRef>
              <c:f>Sheet1!$B$2:$B$3</c:f>
              <c:numCache>
                <c:formatCode>General</c:formatCode>
                <c:ptCount val="2"/>
                <c:pt idx="0">
                  <c:v>9.1340000000000003</c:v>
                </c:pt>
                <c:pt idx="1">
                  <c:v>10.638</c:v>
                </c:pt>
              </c:numCache>
            </c:numRef>
          </c:val>
          <c:extLst>
            <c:ext xmlns:c16="http://schemas.microsoft.com/office/drawing/2014/chart" uri="{C3380CC4-5D6E-409C-BE32-E72D297353CC}">
              <c16:uniqueId val="{00000000-B282-4ED0-B14A-7AF29B18462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max val="22"/>
        </c:scaling>
        <c:delete val="0"/>
        <c:axPos val="b"/>
        <c:majorGridlines>
          <c:spPr>
            <a:ln w="12700" cap="flat">
              <a:solidFill>
                <a:srgbClr val="EDEF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472"/>
                </a:solidFill>
                <a:latin typeface="Arial"/>
              </a:defRPr>
            </a:pPr>
            <a:endParaRPr lang="en-US"/>
          </a:p>
        </c:txPr>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ms/example</c:v>
                </c:pt>
              </c:strCache>
            </c:strRef>
          </c:tx>
          <c:spPr>
            <a:solidFill>
              <a:srgbClr val="B97A1F"/>
            </a:solidFill>
            <a:effectLst/>
          </c:spPr>
          <c:invertIfNegative val="0"/>
          <c:dLbls>
            <c:numFmt formatCode="0&quot;ms&quot;" sourceLinked="0"/>
            <c:spPr>
              <a:noFill/>
              <a:ln>
                <a:noFill/>
              </a:ln>
              <a:effectLst/>
            </c:spPr>
            <c:txPr>
              <a:bodyPr/>
              <a:lstStyle/>
              <a:p>
                <a:pPr>
                  <a:defRPr sz="95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Qwen2.5 1.5B baseline</c:v>
                </c:pt>
                <c:pt idx="1">
                  <c:v>XiYanSQL 3B M-Schema</c:v>
                </c:pt>
                <c:pt idx="2">
                  <c:v>Qwen3 4B baseline DDL</c:v>
                </c:pt>
                <c:pt idx="3">
                  <c:v>Qwen3 4B M-Schema (final)</c:v>
                </c:pt>
                <c:pt idx="4">
                  <c:v>FINER 3B enriched greedy</c:v>
                </c:pt>
              </c:strCache>
            </c:strRef>
          </c:cat>
          <c:val>
            <c:numRef>
              <c:f>Sheet1!$B$2:$B$6</c:f>
              <c:numCache>
                <c:formatCode>General</c:formatCode>
                <c:ptCount val="5"/>
                <c:pt idx="0">
                  <c:v>197.72800000000001</c:v>
                </c:pt>
                <c:pt idx="1">
                  <c:v>465.59300000000002</c:v>
                </c:pt>
                <c:pt idx="2">
                  <c:v>596.25199999999995</c:v>
                </c:pt>
                <c:pt idx="3">
                  <c:v>1169.046</c:v>
                </c:pt>
                <c:pt idx="4">
                  <c:v>2202.8960000000002</c:v>
                </c:pt>
              </c:numCache>
            </c:numRef>
          </c:val>
          <c:extLst>
            <c:ext xmlns:c16="http://schemas.microsoft.com/office/drawing/2014/chart" uri="{C3380CC4-5D6E-409C-BE32-E72D297353CC}">
              <c16:uniqueId val="{00000000-D437-45EC-A0F0-EBA169FFA99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b"/>
        <c:numFmt formatCode="General" sourceLinked="0"/>
        <c:majorTickMark val="out"/>
        <c:minorTickMark val="none"/>
        <c:tickLblPos val="low"/>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Strict EX (%)</c:v>
                </c:pt>
              </c:strCache>
            </c:strRef>
          </c:tx>
          <c:spPr>
            <a:solidFill>
              <a:srgbClr val="C0453A"/>
            </a:solidFill>
            <a:effectLst/>
          </c:spPr>
          <c:invertIfNegative val="0"/>
          <c:dLbls>
            <c:numFmt formatCode="0.0&quot;%&quot;" sourceLinked="0"/>
            <c:spPr>
              <a:noFill/>
              <a:ln>
                <a:noFill/>
              </a:ln>
              <a:effectLst/>
            </c:spPr>
            <c:txPr>
              <a:bodyPr/>
              <a:lstStyle/>
              <a:p>
                <a:pPr>
                  <a:defRPr sz="1100" b="0" i="0" u="none" strike="noStrike">
                    <a:solidFill>
                      <a:srgbClr val="1A22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Simple</c:v>
                </c:pt>
                <c:pt idx="1">
                  <c:v>Moderate</c:v>
                </c:pt>
                <c:pt idx="2">
                  <c:v>Complex</c:v>
                </c:pt>
              </c:strCache>
            </c:strRef>
          </c:cat>
          <c:val>
            <c:numRef>
              <c:f>Sheet1!$B$2:$B$4</c:f>
              <c:numCache>
                <c:formatCode>General</c:formatCode>
                <c:ptCount val="3"/>
                <c:pt idx="0">
                  <c:v>82.12</c:v>
                </c:pt>
                <c:pt idx="1">
                  <c:v>61.91</c:v>
                </c:pt>
                <c:pt idx="2">
                  <c:v>50.48</c:v>
                </c:pt>
              </c:numCache>
            </c:numRef>
          </c:val>
          <c:extLst>
            <c:ext xmlns:c16="http://schemas.microsoft.com/office/drawing/2014/chart" uri="{C3380CC4-5D6E-409C-BE32-E72D297353CC}">
              <c16:uniqueId val="{00000000-D14E-48FB-B387-1FDEB219E9EF}"/>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A2233"/>
                </a:solidFill>
                <a:latin typeface="Calibri"/>
              </a:defRPr>
            </a:pPr>
            <a:endParaRPr lang="en-US"/>
          </a:p>
        </c:txPr>
        <c:crossAx val="2094734552"/>
        <c:crosses val="autoZero"/>
        <c:auto val="1"/>
        <c:lblAlgn val="ctr"/>
        <c:lblOffset val="100"/>
        <c:noMultiLvlLbl val="1"/>
      </c:catAx>
      <c:valAx>
        <c:axId val="2094734552"/>
        <c:scaling>
          <c:orientation val="minMax"/>
          <c:max val="95"/>
        </c:scaling>
        <c:delete val="1"/>
        <c:axPos val="l"/>
        <c:numFmt formatCode="General" sourceLinked="0"/>
        <c:majorTickMark val="out"/>
        <c:minorTickMark val="none"/>
        <c:tickLblPos val="nextTo"/>
        <c:crossAx val="2094734554"/>
        <c:crosses val="autoZero"/>
        <c:crossBetween val="between"/>
      </c:valAx>
      <c:spPr>
        <a:solidFill>
          <a:srgbClr val="FFFFFF"/>
        </a:solidFill>
        <a:ln>
          <a:noFill/>
        </a:ln>
        <a:effectLst/>
      </c:spPr>
    </c:plotArea>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886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331E0-A6C5-A4EB-D5AA-F221B0A478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60BC69-32CE-DAA5-A63A-8ACF05439E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757239-6DAA-4E79-17AD-5734C3D6BF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6A6CD17-BE2E-CF59-4CF7-A4B44DFFAE58}"/>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4074301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image" Target="../media/image14.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5" Type="http://schemas.openxmlformats.org/officeDocument/2006/relationships/image" Target="../media/image1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 Id="rId14" Type="http://schemas.openxmlformats.org/officeDocument/2006/relationships/image" Target="../media/image1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5.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730"/>
        </a:solidFill>
        <a:effectLst/>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0E7C86">
              <a:alpha val="15000"/>
            </a:srgbClr>
          </a:solidFill>
          <a:ln/>
        </p:spPr>
      </p:sp>
      <p:sp>
        <p:nvSpPr>
          <p:cNvPr id="3" name="Shape 1"/>
          <p:cNvSpPr/>
          <p:nvPr/>
        </p:nvSpPr>
        <p:spPr>
          <a:xfrm>
            <a:off x="-1371600" y="4754880"/>
            <a:ext cx="3840480" cy="3840480"/>
          </a:xfrm>
          <a:prstGeom prst="ellipse">
            <a:avLst/>
          </a:prstGeom>
          <a:solidFill>
            <a:srgbClr val="E8A33D">
              <a:alpha val="12000"/>
            </a:srgbClr>
          </a:solidFill>
          <a:ln/>
        </p:spPr>
      </p:sp>
      <p:sp>
        <p:nvSpPr>
          <p:cNvPr id="4" name="Text 2"/>
          <p:cNvSpPr/>
          <p:nvPr/>
        </p:nvSpPr>
        <p:spPr>
          <a:xfrm>
            <a:off x="822960" y="1965960"/>
            <a:ext cx="10515600" cy="457200"/>
          </a:xfrm>
          <a:prstGeom prst="rect">
            <a:avLst/>
          </a:prstGeom>
          <a:noFill/>
          <a:ln/>
        </p:spPr>
        <p:txBody>
          <a:bodyPr wrap="square" lIns="0" tIns="0" rIns="0" bIns="0" rtlCol="0" anchor="ctr"/>
          <a:lstStyle/>
          <a:p>
            <a:pPr marL="0" indent="0">
              <a:buNone/>
            </a:pPr>
            <a:r>
              <a:rPr lang="en-US" sz="1400" b="1" kern="0" spc="300" dirty="0">
                <a:solidFill>
                  <a:srgbClr val="E8A33D"/>
                </a:solidFill>
                <a:latin typeface="Calibri" pitchFamily="34" charset="0"/>
                <a:ea typeface="Calibri" pitchFamily="34" charset="-122"/>
                <a:cs typeface="Calibri" pitchFamily="34" charset="-120"/>
              </a:rPr>
              <a:t>TALK TO YOUR DATABASE</a:t>
            </a:r>
            <a:endParaRPr lang="en-US" sz="1400" dirty="0"/>
          </a:p>
        </p:txBody>
      </p:sp>
      <p:sp>
        <p:nvSpPr>
          <p:cNvPr id="5" name="Text 3"/>
          <p:cNvSpPr/>
          <p:nvPr/>
        </p:nvSpPr>
        <p:spPr>
          <a:xfrm>
            <a:off x="822960" y="2377440"/>
            <a:ext cx="10515600" cy="1737360"/>
          </a:xfrm>
          <a:prstGeom prst="rect">
            <a:avLst/>
          </a:prstGeom>
          <a:noFill/>
          <a:ln/>
        </p:spPr>
        <p:txBody>
          <a:bodyPr wrap="square" lIns="0" tIns="0" rIns="0" bIns="0"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Milestone 3: Model Architecture &amp;</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End-to-End System Design</a:t>
            </a:r>
            <a:endParaRPr lang="en-US" sz="4000" dirty="0"/>
          </a:p>
        </p:txBody>
      </p:sp>
      <p:sp>
        <p:nvSpPr>
          <p:cNvPr id="6" name="Text 4"/>
          <p:cNvSpPr/>
          <p:nvPr/>
        </p:nvSpPr>
        <p:spPr>
          <a:xfrm>
            <a:off x="822960" y="3977640"/>
            <a:ext cx="9601200" cy="457200"/>
          </a:xfrm>
          <a:prstGeom prst="rect">
            <a:avLst/>
          </a:prstGeom>
          <a:noFill/>
          <a:ln/>
        </p:spPr>
        <p:txBody>
          <a:bodyPr wrap="square" lIns="0" tIns="0" rIns="0" bIns="0" rtlCol="0" anchor="ctr"/>
          <a:lstStyle/>
          <a:p>
            <a:pPr marL="0" indent="0">
              <a:buNone/>
            </a:pPr>
            <a:r>
              <a:rPr lang="en-US" sz="1500" i="1" dirty="0">
                <a:solidFill>
                  <a:srgbClr val="CFE8E9"/>
                </a:solidFill>
                <a:latin typeface="Calibri" pitchFamily="34" charset="0"/>
                <a:ea typeface="Calibri" pitchFamily="34" charset="-122"/>
                <a:cs typeface="Calibri" pitchFamily="34" charset="-120"/>
              </a:rPr>
              <a:t>A Natural-Language Analytics Copilot for Safe, Schema-Grounded Text-to-SQL</a:t>
            </a:r>
            <a:endParaRPr lang="en-US" sz="1500" dirty="0"/>
          </a:p>
        </p:txBody>
      </p:sp>
      <p:sp>
        <p:nvSpPr>
          <p:cNvPr id="7" name="Shape 5"/>
          <p:cNvSpPr/>
          <p:nvPr/>
        </p:nvSpPr>
        <p:spPr>
          <a:xfrm>
            <a:off x="822960" y="4572000"/>
            <a:ext cx="2926080" cy="0"/>
          </a:xfrm>
          <a:prstGeom prst="line">
            <a:avLst/>
          </a:prstGeom>
          <a:noFill/>
          <a:ln w="25400">
            <a:solidFill>
              <a:srgbClr val="0E7C86"/>
            </a:solidFill>
            <a:prstDash val="solid"/>
          </a:ln>
        </p:spPr>
      </p:sp>
      <p:sp>
        <p:nvSpPr>
          <p:cNvPr id="8" name="Text 6"/>
          <p:cNvSpPr/>
          <p:nvPr/>
        </p:nvSpPr>
        <p:spPr>
          <a:xfrm>
            <a:off x="822960" y="4754880"/>
            <a:ext cx="7315200" cy="320040"/>
          </a:xfrm>
          <a:prstGeom prst="rect">
            <a:avLst/>
          </a:prstGeom>
          <a:noFill/>
          <a:ln/>
        </p:spPr>
        <p:txBody>
          <a:bodyPr wrap="square" lIns="0" tIns="0" rIns="0" bIns="0" rtlCol="0" anchor="ctr"/>
          <a:lstStyle/>
          <a:p>
            <a:pPr marL="0" indent="0">
              <a:buNone/>
            </a:pPr>
            <a:r>
              <a:rPr lang="en-US" sz="1400" dirty="0">
                <a:solidFill>
                  <a:srgbClr val="AEB9CC"/>
                </a:solidFill>
                <a:latin typeface="Calibri" pitchFamily="34" charset="0"/>
                <a:ea typeface="Calibri" pitchFamily="34" charset="-122"/>
                <a:cs typeface="Calibri" pitchFamily="34" charset="-120"/>
              </a:rPr>
              <a:t>Data Science and AI Lab </a:t>
            </a:r>
            <a:endParaRPr lang="en-US" sz="1400" dirty="0"/>
          </a:p>
        </p:txBody>
      </p:sp>
      <p:sp>
        <p:nvSpPr>
          <p:cNvPr id="9" name="Text 7"/>
          <p:cNvSpPr/>
          <p:nvPr/>
        </p:nvSpPr>
        <p:spPr>
          <a:xfrm>
            <a:off x="822960" y="5806440"/>
            <a:ext cx="9601200" cy="640080"/>
          </a:xfrm>
          <a:prstGeom prst="rect">
            <a:avLst/>
          </a:prstGeom>
          <a:noFill/>
          <a:ln/>
        </p:spPr>
        <p:txBody>
          <a:bodyPr wrap="square" lIns="0" tIns="0" rIns="0" bIns="0" rtlCol="0" anchor="ctr"/>
          <a:lstStyle/>
          <a:p>
            <a:pPr marL="0" indent="0">
              <a:lnSpc>
                <a:spcPct val="130000"/>
              </a:lnSpc>
              <a:buNone/>
            </a:pPr>
            <a:r>
              <a:rPr lang="en-US" sz="1400" dirty="0">
                <a:solidFill>
                  <a:srgbClr val="8C99B3"/>
                </a:solidFill>
                <a:latin typeface="Calibri" pitchFamily="34" charset="0"/>
                <a:ea typeface="Calibri" pitchFamily="34" charset="-122"/>
                <a:cs typeface="Calibri" pitchFamily="34" charset="-120"/>
              </a:rPr>
              <a:t>Siddhant Hitesh Mantri  ·  Anirudh Komanduri  ·  Vishal S</a:t>
            </a:r>
            <a:endParaRPr lang="en-US" sz="1400" dirty="0"/>
          </a:p>
          <a:p>
            <a:pPr marL="0" indent="0">
              <a:lnSpc>
                <a:spcPct val="130000"/>
              </a:lnSpc>
              <a:buNone/>
            </a:pPr>
            <a:r>
              <a:rPr lang="en-US" sz="1400" dirty="0">
                <a:solidFill>
                  <a:srgbClr val="8C99B3"/>
                </a:solidFill>
                <a:latin typeface="Calibri" pitchFamily="34" charset="0"/>
                <a:ea typeface="Calibri" pitchFamily="34" charset="-122"/>
                <a:cs typeface="Calibri" pitchFamily="34" charset="-120"/>
              </a:rPr>
              <a:t>Smrutishikta Das  ·  Walunila Aier  ·  Sambhav Jha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EXECUTIVE SUMMARY</a:t>
            </a:r>
            <a:endParaRPr lang="en-US" sz="1150" dirty="0"/>
          </a:p>
        </p:txBody>
      </p:sp>
      <p:sp>
        <p:nvSpPr>
          <p:cNvPr id="4" name="Text 2"/>
          <p:cNvSpPr/>
          <p:nvPr/>
        </p:nvSpPr>
        <p:spPr>
          <a:xfrm>
            <a:off x="457200" y="417630"/>
            <a:ext cx="11247120" cy="640080"/>
          </a:xfrm>
          <a:prstGeom prst="rect">
            <a:avLst/>
          </a:prstGeom>
          <a:noFill/>
          <a:ln/>
        </p:spPr>
        <p:txBody>
          <a:bodyPr wrap="square" lIns="0" tIns="0" rIns="0" bIns="0" rtlCol="0" anchor="ctr"/>
          <a:lstStyle/>
          <a:p>
            <a:pPr marL="0" indent="0">
              <a:lnSpc>
                <a:spcPct val="115000"/>
              </a:lnSpc>
              <a:buNone/>
            </a:pPr>
            <a:r>
              <a:rPr lang="en-US" sz="1400" dirty="0">
                <a:solidFill>
                  <a:srgbClr val="1A2233"/>
                </a:solidFill>
                <a:latin typeface="Calibri" pitchFamily="34" charset="0"/>
                <a:ea typeface="Calibri" pitchFamily="34" charset="-122"/>
                <a:cs typeface="Calibri" pitchFamily="34" charset="-120"/>
              </a:rPr>
              <a:t>The copilot turns a plain-English question into safe, executable SQL: retrieve/serialize schema → generate SQL → validate → execute read-only → return SQL, results, summary, and chart.</a:t>
            </a:r>
            <a:endParaRPr lang="en-US" sz="1400" dirty="0"/>
          </a:p>
        </p:txBody>
      </p:sp>
      <p:grpSp>
        <p:nvGrpSpPr>
          <p:cNvPr id="29" name="Group 28">
            <a:extLst>
              <a:ext uri="{FF2B5EF4-FFF2-40B4-BE49-F238E27FC236}">
                <a16:creationId xmlns:a16="http://schemas.microsoft.com/office/drawing/2014/main" id="{E4E732B7-5C9F-1835-4BAA-78F020E0DB44}"/>
              </a:ext>
            </a:extLst>
          </p:cNvPr>
          <p:cNvGrpSpPr/>
          <p:nvPr/>
        </p:nvGrpSpPr>
        <p:grpSpPr>
          <a:xfrm>
            <a:off x="457200" y="1888391"/>
            <a:ext cx="11155680" cy="1600200"/>
            <a:chOff x="457200" y="1700784"/>
            <a:chExt cx="11155680" cy="1600200"/>
          </a:xfrm>
        </p:grpSpPr>
        <p:sp>
          <p:nvSpPr>
            <p:cNvPr id="5" name="Shape 3"/>
            <p:cNvSpPr/>
            <p:nvPr/>
          </p:nvSpPr>
          <p:spPr>
            <a:xfrm>
              <a:off x="457200" y="1700784"/>
              <a:ext cx="3566160" cy="1600200"/>
            </a:xfrm>
            <a:prstGeom prst="roundRect">
              <a:avLst>
                <a:gd name="adj" fmla="val 4571"/>
              </a:avLst>
            </a:prstGeom>
            <a:solidFill>
              <a:srgbClr val="F6F7F9"/>
            </a:solidFill>
            <a:ln w="12700">
              <a:solidFill>
                <a:srgbClr val="E4E7EC"/>
              </a:solidFill>
              <a:prstDash val="solid"/>
            </a:ln>
            <a:effectLst>
              <a:outerShdw blurRad="76200" dist="25400" dir="5400000" algn="bl" rotWithShape="0">
                <a:srgbClr val="1A2233">
                  <a:alpha val="12000"/>
                </a:srgbClr>
              </a:outerShdw>
            </a:effectLst>
          </p:spPr>
        </p:sp>
        <p:sp>
          <p:nvSpPr>
            <p:cNvPr id="6" name="Text 4"/>
            <p:cNvSpPr/>
            <p:nvPr/>
          </p:nvSpPr>
          <p:spPr>
            <a:xfrm>
              <a:off x="685800" y="1865376"/>
              <a:ext cx="3108960" cy="640080"/>
            </a:xfrm>
            <a:prstGeom prst="rect">
              <a:avLst/>
            </a:prstGeom>
            <a:noFill/>
            <a:ln/>
          </p:spPr>
          <p:txBody>
            <a:bodyPr wrap="square" lIns="0" tIns="0" rIns="0" bIns="0" rtlCol="0" anchor="ctr"/>
            <a:lstStyle/>
            <a:p>
              <a:pPr marL="0" indent="0">
                <a:buNone/>
              </a:pPr>
              <a:r>
                <a:rPr lang="en-US" sz="3400" b="1" dirty="0">
                  <a:solidFill>
                    <a:srgbClr val="13234B"/>
                  </a:solidFill>
                  <a:latin typeface="Cambria" pitchFamily="34" charset="0"/>
                  <a:ea typeface="Cambria" pitchFamily="34" charset="-122"/>
                  <a:cs typeface="Cambria" pitchFamily="34" charset="-120"/>
                </a:rPr>
                <a:t>4.0B</a:t>
              </a:r>
              <a:endParaRPr lang="en-US" sz="3400" dirty="0"/>
            </a:p>
          </p:txBody>
        </p:sp>
        <p:sp>
          <p:nvSpPr>
            <p:cNvPr id="7" name="Text 5"/>
            <p:cNvSpPr/>
            <p:nvPr/>
          </p:nvSpPr>
          <p:spPr>
            <a:xfrm>
              <a:off x="685800" y="2487168"/>
              <a:ext cx="3108960" cy="274320"/>
            </a:xfrm>
            <a:prstGeom prst="rect">
              <a:avLst/>
            </a:prstGeom>
            <a:noFill/>
            <a:ln/>
          </p:spPr>
          <p:txBody>
            <a:bodyPr wrap="square" lIns="0" tIns="0" rIns="0" bIns="0"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Parameters</a:t>
              </a:r>
              <a:endParaRPr lang="en-US" sz="1250" dirty="0"/>
            </a:p>
          </p:txBody>
        </p:sp>
        <p:sp>
          <p:nvSpPr>
            <p:cNvPr id="8" name="Text 6"/>
            <p:cNvSpPr/>
            <p:nvPr/>
          </p:nvSpPr>
          <p:spPr>
            <a:xfrm>
              <a:off x="685800" y="2779776"/>
              <a:ext cx="3108960" cy="457200"/>
            </a:xfrm>
            <a:prstGeom prst="rect">
              <a:avLst/>
            </a:prstGeom>
            <a:noFill/>
            <a:ln/>
          </p:spPr>
          <p:txBody>
            <a:bodyPr wrap="square" lIns="0" tIns="0" rIns="0" bIns="0" rtlCol="0" anchor="ctr"/>
            <a:lstStyle/>
            <a:p>
              <a:pPr marL="0" indent="0">
                <a:lnSpc>
                  <a:spcPct val="105000"/>
                </a:lnSpc>
                <a:buNone/>
              </a:pPr>
              <a:r>
                <a:rPr lang="en-US" sz="1050" dirty="0">
                  <a:solidFill>
                    <a:srgbClr val="5B6472"/>
                  </a:solidFill>
                  <a:latin typeface="Calibri" pitchFamily="34" charset="0"/>
                  <a:ea typeface="Calibri" pitchFamily="34" charset="-122"/>
                  <a:cs typeface="Calibri" pitchFamily="34" charset="-120"/>
                </a:rPr>
                <a:t>Fits the project's explicit model-size limit</a:t>
              </a:r>
              <a:endParaRPr lang="en-US" sz="1050" dirty="0"/>
            </a:p>
          </p:txBody>
        </p:sp>
        <p:sp>
          <p:nvSpPr>
            <p:cNvPr id="9" name="Shape 7"/>
            <p:cNvSpPr/>
            <p:nvPr/>
          </p:nvSpPr>
          <p:spPr>
            <a:xfrm>
              <a:off x="4251960" y="1700784"/>
              <a:ext cx="3566160" cy="1600200"/>
            </a:xfrm>
            <a:prstGeom prst="roundRect">
              <a:avLst>
                <a:gd name="adj" fmla="val 4571"/>
              </a:avLst>
            </a:prstGeom>
            <a:solidFill>
              <a:srgbClr val="F6F7F9"/>
            </a:solidFill>
            <a:ln w="12700">
              <a:solidFill>
                <a:srgbClr val="E4E7EC"/>
              </a:solidFill>
              <a:prstDash val="solid"/>
            </a:ln>
            <a:effectLst>
              <a:outerShdw blurRad="76200" dist="25400" dir="5400000" algn="bl" rotWithShape="0">
                <a:srgbClr val="1A2233">
                  <a:alpha val="12000"/>
                </a:srgbClr>
              </a:outerShdw>
            </a:effectLst>
          </p:spPr>
        </p:sp>
        <p:sp>
          <p:nvSpPr>
            <p:cNvPr id="10" name="Text 8"/>
            <p:cNvSpPr/>
            <p:nvPr/>
          </p:nvSpPr>
          <p:spPr>
            <a:xfrm>
              <a:off x="4480560" y="1865376"/>
              <a:ext cx="3108960" cy="640080"/>
            </a:xfrm>
            <a:prstGeom prst="rect">
              <a:avLst/>
            </a:prstGeom>
            <a:noFill/>
            <a:ln/>
          </p:spPr>
          <p:txBody>
            <a:bodyPr wrap="square" lIns="0" tIns="0" rIns="0" bIns="0" rtlCol="0" anchor="ctr"/>
            <a:lstStyle/>
            <a:p>
              <a:pPr marL="0" indent="0">
                <a:buNone/>
              </a:pPr>
              <a:r>
                <a:rPr lang="en-US" sz="3400" b="1" dirty="0">
                  <a:solidFill>
                    <a:srgbClr val="13234B"/>
                  </a:solidFill>
                  <a:latin typeface="Cambria" pitchFamily="34" charset="0"/>
                  <a:ea typeface="Cambria" pitchFamily="34" charset="-122"/>
                  <a:cs typeface="Cambria" pitchFamily="34" charset="-120"/>
                </a:rPr>
                <a:t>78.63%</a:t>
              </a:r>
              <a:endParaRPr lang="en-US" sz="3400" dirty="0"/>
            </a:p>
          </p:txBody>
        </p:sp>
        <p:sp>
          <p:nvSpPr>
            <p:cNvPr id="11" name="Text 9"/>
            <p:cNvSpPr/>
            <p:nvPr/>
          </p:nvSpPr>
          <p:spPr>
            <a:xfrm>
              <a:off x="4480560" y="2487168"/>
              <a:ext cx="3108960" cy="274320"/>
            </a:xfrm>
            <a:prstGeom prst="rect">
              <a:avLst/>
            </a:prstGeom>
            <a:noFill/>
            <a:ln/>
          </p:spPr>
          <p:txBody>
            <a:bodyPr wrap="square" lIns="0" tIns="0" rIns="0" bIns="0"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Strict Execution Accuracy</a:t>
              </a:r>
              <a:endParaRPr lang="en-US" sz="1250" dirty="0"/>
            </a:p>
          </p:txBody>
        </p:sp>
        <p:sp>
          <p:nvSpPr>
            <p:cNvPr id="12" name="Text 10"/>
            <p:cNvSpPr/>
            <p:nvPr/>
          </p:nvSpPr>
          <p:spPr>
            <a:xfrm>
              <a:off x="4480560" y="2779776"/>
              <a:ext cx="3108960" cy="457200"/>
            </a:xfrm>
            <a:prstGeom prst="rect">
              <a:avLst/>
            </a:prstGeom>
            <a:noFill/>
            <a:ln/>
          </p:spPr>
          <p:txBody>
            <a:bodyPr wrap="square" lIns="0" tIns="0" rIns="0" bIns="0" rtlCol="0" anchor="ctr"/>
            <a:lstStyle/>
            <a:p>
              <a:pPr marL="0" indent="0">
                <a:lnSpc>
                  <a:spcPct val="105000"/>
                </a:lnSpc>
                <a:buNone/>
              </a:pPr>
              <a:r>
                <a:rPr lang="en-US" sz="1050" dirty="0">
                  <a:solidFill>
                    <a:srgbClr val="5B6472"/>
                  </a:solidFill>
                  <a:latin typeface="Calibri" pitchFamily="34" charset="0"/>
                  <a:ea typeface="Calibri" pitchFamily="34" charset="-122"/>
                  <a:cs typeface="Calibri" pitchFamily="34" charset="-120"/>
                </a:rPr>
                <a:t>on all 1,034 Spider validation examples</a:t>
              </a:r>
              <a:endParaRPr lang="en-US" sz="1050" dirty="0"/>
            </a:p>
          </p:txBody>
        </p:sp>
        <p:sp>
          <p:nvSpPr>
            <p:cNvPr id="13" name="Shape 11"/>
            <p:cNvSpPr/>
            <p:nvPr/>
          </p:nvSpPr>
          <p:spPr>
            <a:xfrm>
              <a:off x="8046720" y="1700784"/>
              <a:ext cx="3566160" cy="1600200"/>
            </a:xfrm>
            <a:prstGeom prst="roundRect">
              <a:avLst>
                <a:gd name="adj" fmla="val 4571"/>
              </a:avLst>
            </a:prstGeom>
            <a:solidFill>
              <a:srgbClr val="F6F7F9"/>
            </a:solidFill>
            <a:ln w="12700">
              <a:solidFill>
                <a:srgbClr val="E4E7EC"/>
              </a:solidFill>
              <a:prstDash val="solid"/>
            </a:ln>
            <a:effectLst>
              <a:outerShdw blurRad="76200" dist="25400" dir="5400000" algn="bl" rotWithShape="0">
                <a:srgbClr val="1A2233">
                  <a:alpha val="12000"/>
                </a:srgbClr>
              </a:outerShdw>
            </a:effectLst>
          </p:spPr>
        </p:sp>
        <p:sp>
          <p:nvSpPr>
            <p:cNvPr id="14" name="Text 12"/>
            <p:cNvSpPr/>
            <p:nvPr/>
          </p:nvSpPr>
          <p:spPr>
            <a:xfrm>
              <a:off x="8275320" y="1865376"/>
              <a:ext cx="3108960" cy="640080"/>
            </a:xfrm>
            <a:prstGeom prst="rect">
              <a:avLst/>
            </a:prstGeom>
            <a:noFill/>
            <a:ln/>
          </p:spPr>
          <p:txBody>
            <a:bodyPr wrap="square" lIns="0" tIns="0" rIns="0" bIns="0" rtlCol="0" anchor="ctr"/>
            <a:lstStyle/>
            <a:p>
              <a:pPr marL="0" indent="0">
                <a:buNone/>
              </a:pPr>
              <a:r>
                <a:rPr lang="en-US" sz="3400" b="1" dirty="0">
                  <a:solidFill>
                    <a:srgbClr val="13234B"/>
                  </a:solidFill>
                  <a:latin typeface="Cambria" pitchFamily="34" charset="0"/>
                  <a:ea typeface="Cambria" pitchFamily="34" charset="-122"/>
                  <a:cs typeface="Cambria" pitchFamily="34" charset="-120"/>
                </a:rPr>
                <a:t>83.17%</a:t>
              </a:r>
              <a:endParaRPr lang="en-US" sz="3400" dirty="0"/>
            </a:p>
          </p:txBody>
        </p:sp>
        <p:sp>
          <p:nvSpPr>
            <p:cNvPr id="15" name="Text 13"/>
            <p:cNvSpPr/>
            <p:nvPr/>
          </p:nvSpPr>
          <p:spPr>
            <a:xfrm>
              <a:off x="8275320" y="2547545"/>
              <a:ext cx="3073400" cy="274320"/>
            </a:xfrm>
            <a:prstGeom prst="rect">
              <a:avLst/>
            </a:prstGeom>
            <a:noFill/>
            <a:ln/>
          </p:spPr>
          <p:txBody>
            <a:bodyPr wrap="square" lIns="0" tIns="0" rIns="0" bIns="0" rtlCol="0" anchor="ctr"/>
            <a:lstStyle/>
            <a:p>
              <a:pPr marL="0" indent="0">
                <a:buNone/>
              </a:pPr>
              <a:r>
                <a:rPr lang="en-US" sz="1250" b="1" dirty="0">
                  <a:solidFill>
                    <a:srgbClr val="0E7C86"/>
                  </a:solidFill>
                  <a:latin typeface="Calibri" pitchFamily="34" charset="0"/>
                  <a:ea typeface="Calibri" pitchFamily="34" charset="-122"/>
                  <a:cs typeface="Calibri" pitchFamily="34" charset="-120"/>
                </a:rPr>
                <a:t>MAC-SQL/FINER-Compatible Execution Accuracy</a:t>
              </a:r>
              <a:endParaRPr lang="en-US" sz="1250" dirty="0"/>
            </a:p>
          </p:txBody>
        </p:sp>
        <p:sp>
          <p:nvSpPr>
            <p:cNvPr id="16" name="Text 14"/>
            <p:cNvSpPr/>
            <p:nvPr/>
          </p:nvSpPr>
          <p:spPr>
            <a:xfrm>
              <a:off x="8275320" y="2779776"/>
              <a:ext cx="3108960" cy="457200"/>
            </a:xfrm>
            <a:prstGeom prst="rect">
              <a:avLst/>
            </a:prstGeom>
            <a:noFill/>
            <a:ln/>
          </p:spPr>
          <p:txBody>
            <a:bodyPr wrap="square" lIns="0" tIns="0" rIns="0" bIns="0" rtlCol="0" anchor="ctr"/>
            <a:lstStyle/>
            <a:p>
              <a:pPr>
                <a:lnSpc>
                  <a:spcPct val="105000"/>
                </a:lnSpc>
              </a:pPr>
              <a:r>
                <a:rPr lang="en-US" sz="1050" dirty="0">
                  <a:solidFill>
                    <a:srgbClr val="5B6472"/>
                  </a:solidFill>
                  <a:latin typeface="Calibri" pitchFamily="34" charset="0"/>
                  <a:ea typeface="Calibri" pitchFamily="34" charset="-122"/>
                  <a:cs typeface="Calibri" pitchFamily="34" charset="-120"/>
                </a:rPr>
                <a:t>on all 1,034 Spider validation examples</a:t>
              </a:r>
              <a:endParaRPr lang="en-US" sz="1050" dirty="0"/>
            </a:p>
          </p:txBody>
        </p:sp>
      </p:grpSp>
      <p:sp>
        <p:nvSpPr>
          <p:cNvPr id="17" name="Shape 15"/>
          <p:cNvSpPr/>
          <p:nvPr/>
        </p:nvSpPr>
        <p:spPr>
          <a:xfrm>
            <a:off x="457200" y="3886200"/>
            <a:ext cx="11247120" cy="1965960"/>
          </a:xfrm>
          <a:prstGeom prst="roundRect">
            <a:avLst>
              <a:gd name="adj" fmla="val 3721"/>
            </a:avLst>
          </a:prstGeom>
          <a:solidFill>
            <a:srgbClr val="13234B"/>
          </a:solidFill>
          <a:ln/>
        </p:spPr>
      </p:sp>
      <p:sp>
        <p:nvSpPr>
          <p:cNvPr id="18" name="Text 16"/>
          <p:cNvSpPr/>
          <p:nvPr/>
        </p:nvSpPr>
        <p:spPr>
          <a:xfrm>
            <a:off x="777240" y="4069080"/>
            <a:ext cx="10607040" cy="365760"/>
          </a:xfrm>
          <a:prstGeom prst="rect">
            <a:avLst/>
          </a:prstGeom>
          <a:noFill/>
          <a:ln/>
        </p:spPr>
        <p:txBody>
          <a:bodyPr wrap="square" lIns="0" tIns="0" rIns="0" bIns="0" rtlCol="0" anchor="ctr"/>
          <a:lstStyle/>
          <a:p>
            <a:pPr marL="0" indent="0">
              <a:buNone/>
            </a:pPr>
            <a:r>
              <a:rPr lang="en-US" sz="1600" b="1" dirty="0">
                <a:solidFill>
                  <a:srgbClr val="E8A33D"/>
                </a:solidFill>
                <a:latin typeface="Cambria" pitchFamily="34" charset="0"/>
                <a:ea typeface="Cambria" pitchFamily="34" charset="-122"/>
                <a:cs typeface="Cambria" pitchFamily="34" charset="-120"/>
              </a:rPr>
              <a:t>Why Qwen3 remains the primary architecture</a:t>
            </a:r>
            <a:endParaRPr lang="en-US" sz="1600" dirty="0"/>
          </a:p>
        </p:txBody>
      </p:sp>
      <p:sp>
        <p:nvSpPr>
          <p:cNvPr id="19" name="Shape 17"/>
          <p:cNvSpPr/>
          <p:nvPr/>
        </p:nvSpPr>
        <p:spPr>
          <a:xfrm>
            <a:off x="777240" y="4599432"/>
            <a:ext cx="109728" cy="109728"/>
          </a:xfrm>
          <a:prstGeom prst="ellipse">
            <a:avLst/>
          </a:prstGeom>
          <a:solidFill>
            <a:srgbClr val="0E7C86"/>
          </a:solidFill>
          <a:ln/>
        </p:spPr>
      </p:sp>
      <p:sp>
        <p:nvSpPr>
          <p:cNvPr id="20" name="Text 18"/>
          <p:cNvSpPr/>
          <p:nvPr/>
        </p:nvSpPr>
        <p:spPr>
          <a:xfrm>
            <a:off x="1033272" y="4453128"/>
            <a:ext cx="5120640" cy="502920"/>
          </a:xfrm>
          <a:prstGeom prst="rect">
            <a:avLst/>
          </a:prstGeom>
          <a:noFill/>
          <a:ln/>
        </p:spPr>
        <p:txBody>
          <a:bodyPr wrap="square" lIns="0" tIns="0" rIns="0" bIns="0"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Strongest zero-shot result among original general-model candidates</a:t>
            </a:r>
            <a:endParaRPr lang="en-US" sz="1200" dirty="0"/>
          </a:p>
        </p:txBody>
      </p:sp>
      <p:sp>
        <p:nvSpPr>
          <p:cNvPr id="21" name="Shape 19"/>
          <p:cNvSpPr/>
          <p:nvPr/>
        </p:nvSpPr>
        <p:spPr>
          <a:xfrm>
            <a:off x="6263640" y="4599432"/>
            <a:ext cx="109728" cy="109728"/>
          </a:xfrm>
          <a:prstGeom prst="ellipse">
            <a:avLst/>
          </a:prstGeom>
          <a:solidFill>
            <a:srgbClr val="0E7C86"/>
          </a:solidFill>
          <a:ln/>
        </p:spPr>
      </p:sp>
      <p:sp>
        <p:nvSpPr>
          <p:cNvPr id="22" name="Text 20"/>
          <p:cNvSpPr/>
          <p:nvPr/>
        </p:nvSpPr>
        <p:spPr>
          <a:xfrm>
            <a:off x="6519672" y="4453128"/>
            <a:ext cx="5120640" cy="502920"/>
          </a:xfrm>
          <a:prstGeom prst="rect">
            <a:avLst/>
          </a:prstGeom>
          <a:noFill/>
          <a:ln/>
        </p:spPr>
        <p:txBody>
          <a:bodyPr wrap="square" lIns="0" tIns="0" rIns="0" bIns="0"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Trainable end-to-end via QLoRA on a single Colab NVIDIA L4</a:t>
            </a:r>
            <a:endParaRPr lang="en-US" sz="1200" dirty="0"/>
          </a:p>
        </p:txBody>
      </p:sp>
      <p:sp>
        <p:nvSpPr>
          <p:cNvPr id="23" name="Shape 21"/>
          <p:cNvSpPr/>
          <p:nvPr/>
        </p:nvSpPr>
        <p:spPr>
          <a:xfrm>
            <a:off x="777240" y="5166360"/>
            <a:ext cx="109728" cy="109728"/>
          </a:xfrm>
          <a:prstGeom prst="ellipse">
            <a:avLst/>
          </a:prstGeom>
          <a:solidFill>
            <a:srgbClr val="0E7C86"/>
          </a:solidFill>
          <a:ln/>
        </p:spPr>
      </p:sp>
      <p:sp>
        <p:nvSpPr>
          <p:cNvPr id="24" name="Text 22"/>
          <p:cNvSpPr/>
          <p:nvPr/>
        </p:nvSpPr>
        <p:spPr>
          <a:xfrm>
            <a:off x="1033272" y="5020056"/>
            <a:ext cx="5120640" cy="502920"/>
          </a:xfrm>
          <a:prstGeom prst="rect">
            <a:avLst/>
          </a:prstGeom>
          <a:noFill/>
          <a:ln/>
        </p:spPr>
        <p:txBody>
          <a:bodyPr wrap="square" lIns="0" tIns="0" rIns="0" bIns="0"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Strong accuracy, general instruction capability and full ownership of the task-specific training process</a:t>
            </a:r>
            <a:endParaRPr lang="en-US" sz="1200" dirty="0"/>
          </a:p>
        </p:txBody>
      </p:sp>
      <p:sp>
        <p:nvSpPr>
          <p:cNvPr id="25" name="Shape 23"/>
          <p:cNvSpPr/>
          <p:nvPr/>
        </p:nvSpPr>
        <p:spPr>
          <a:xfrm>
            <a:off x="6263640" y="5166360"/>
            <a:ext cx="109728" cy="109728"/>
          </a:xfrm>
          <a:prstGeom prst="ellipse">
            <a:avLst/>
          </a:prstGeom>
          <a:solidFill>
            <a:srgbClr val="0E7C86"/>
          </a:solidFill>
          <a:ln/>
        </p:spPr>
      </p:sp>
      <p:sp>
        <p:nvSpPr>
          <p:cNvPr id="26" name="Text 24"/>
          <p:cNvSpPr/>
          <p:nvPr/>
        </p:nvSpPr>
        <p:spPr>
          <a:xfrm>
            <a:off x="6519672" y="5020056"/>
            <a:ext cx="5120640" cy="502920"/>
          </a:xfrm>
          <a:prstGeom prst="rect">
            <a:avLst/>
          </a:prstGeom>
          <a:noFill/>
          <a:ln/>
        </p:spPr>
        <p:txBody>
          <a:bodyPr wrap="square" lIns="0" tIns="0" rIns="0" bIns="0" rtlCol="0" anchor="ctr"/>
          <a:lstStyle/>
          <a:p>
            <a:pPr marL="0" indent="0">
              <a:lnSpc>
                <a:spcPct val="110000"/>
              </a:lnSpc>
              <a:buNone/>
            </a:pPr>
            <a:r>
              <a:rPr lang="en-US" sz="1200" dirty="0">
                <a:solidFill>
                  <a:srgbClr val="FFFFFF"/>
                </a:solidFill>
                <a:latin typeface="Calibri" pitchFamily="34" charset="0"/>
                <a:ea typeface="Calibri" pitchFamily="34" charset="-122"/>
                <a:cs typeface="Calibri" pitchFamily="34" charset="-120"/>
              </a:rPr>
              <a:t>Nearly ties specialist </a:t>
            </a:r>
            <a:r>
              <a:rPr lang="en-US" sz="1200" dirty="0" err="1">
                <a:solidFill>
                  <a:srgbClr val="FFFFFF"/>
                </a:solidFill>
                <a:latin typeface="Calibri" pitchFamily="34" charset="0"/>
                <a:ea typeface="Calibri" pitchFamily="34" charset="-122"/>
                <a:cs typeface="Calibri" pitchFamily="34" charset="-120"/>
              </a:rPr>
              <a:t>XiYanSQL</a:t>
            </a:r>
            <a:r>
              <a:rPr lang="en-US" sz="1200" dirty="0">
                <a:solidFill>
                  <a:srgbClr val="FFFFFF"/>
                </a:solidFill>
                <a:latin typeface="Calibri" pitchFamily="34" charset="0"/>
                <a:ea typeface="Calibri" pitchFamily="34" charset="-122"/>
                <a:cs typeface="Calibri" pitchFamily="34" charset="-120"/>
              </a:rPr>
              <a:t>; multi-model execution-consensus system (87.3%) retained as an optional accuracy extensions</a:t>
            </a:r>
            <a:endParaRPr lang="en-US" sz="120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
        <p:nvSpPr>
          <p:cNvPr id="30" name="Text 1">
            <a:extLst>
              <a:ext uri="{FF2B5EF4-FFF2-40B4-BE49-F238E27FC236}">
                <a16:creationId xmlns:a16="http://schemas.microsoft.com/office/drawing/2014/main" id="{1B368A80-F657-59A8-9263-6439F4C2188E}"/>
              </a:ext>
            </a:extLst>
          </p:cNvPr>
          <p:cNvSpPr/>
          <p:nvPr/>
        </p:nvSpPr>
        <p:spPr>
          <a:xfrm>
            <a:off x="457200" y="1234757"/>
            <a:ext cx="11247120" cy="640080"/>
          </a:xfrm>
          <a:prstGeom prst="rect">
            <a:avLst/>
          </a:prstGeom>
          <a:noFill/>
          <a:ln/>
        </p:spPr>
        <p:txBody>
          <a:bodyPr wrap="square" lIns="0" tIns="0" rIns="0" bIns="0" rtlCol="0" anchor="ctr"/>
          <a:lstStyle/>
          <a:p>
            <a:r>
              <a:rPr lang="en-IN" b="1" dirty="0"/>
              <a:t>Primary Model: Qwen/Qwen3-4B-Instruct-2507 </a:t>
            </a:r>
            <a:endParaRPr lang="en-US" sz="3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INTRODUCTION</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Text-to-SQL is harder than syntactically valid SQL</a:t>
            </a:r>
            <a:endParaRPr lang="en-US" sz="3000" dirty="0"/>
          </a:p>
        </p:txBody>
      </p:sp>
      <p:sp>
        <p:nvSpPr>
          <p:cNvPr id="4" name="Text 2"/>
          <p:cNvSpPr/>
          <p:nvPr/>
        </p:nvSpPr>
        <p:spPr>
          <a:xfrm>
            <a:off x="457200" y="990597"/>
            <a:ext cx="5486400" cy="1828800"/>
          </a:xfrm>
          <a:prstGeom prst="rect">
            <a:avLst/>
          </a:prstGeom>
          <a:noFill/>
          <a:ln/>
        </p:spPr>
        <p:txBody>
          <a:bodyPr wrap="square" lIns="0" tIns="0" rIns="0" bIns="0" rtlCol="0" anchor="ctr"/>
          <a:lstStyle/>
          <a:p>
            <a:pPr marL="0" indent="0">
              <a:lnSpc>
                <a:spcPct val="120000"/>
              </a:lnSpc>
              <a:buNone/>
            </a:pPr>
            <a:r>
              <a:rPr lang="en-US" sz="1400" dirty="0">
                <a:solidFill>
                  <a:srgbClr val="1A2233"/>
                </a:solidFill>
                <a:latin typeface="Calibri" pitchFamily="34" charset="0"/>
                <a:ea typeface="Calibri" pitchFamily="34" charset="-122"/>
                <a:cs typeface="Calibri" pitchFamily="34" charset="-120"/>
              </a:rPr>
              <a:t>Producing SQL that runs isn't the same as producing SQL that's correct. The model must understand the question, pick the right tables and columns, work out joins, apply filters and aggregations, and generalize to unseen databases — and a query can execute perfectly while still answering the wrong question. That's why the system checks whether results actually match, not just whether the SQL text looks right.</a:t>
            </a:r>
            <a:endParaRPr lang="en-US" sz="1400" dirty="0"/>
          </a:p>
        </p:txBody>
      </p:sp>
      <p:grpSp>
        <p:nvGrpSpPr>
          <p:cNvPr id="30" name="Group 29">
            <a:extLst>
              <a:ext uri="{FF2B5EF4-FFF2-40B4-BE49-F238E27FC236}">
                <a16:creationId xmlns:a16="http://schemas.microsoft.com/office/drawing/2014/main" id="{2B0AD431-F42D-60AE-C3DB-14ABAD6AD6F5}"/>
              </a:ext>
            </a:extLst>
          </p:cNvPr>
          <p:cNvGrpSpPr/>
          <p:nvPr/>
        </p:nvGrpSpPr>
        <p:grpSpPr>
          <a:xfrm>
            <a:off x="457200" y="3124202"/>
            <a:ext cx="5486400" cy="2514600"/>
            <a:chOff x="457200" y="2286000"/>
            <a:chExt cx="5486400" cy="2514600"/>
          </a:xfrm>
        </p:grpSpPr>
        <p:sp>
          <p:nvSpPr>
            <p:cNvPr id="5" name="Text 3"/>
            <p:cNvSpPr/>
            <p:nvPr/>
          </p:nvSpPr>
          <p:spPr>
            <a:xfrm>
              <a:off x="457200" y="2286000"/>
              <a:ext cx="5486400" cy="320040"/>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Milestone 1 scope, carried forward</a:t>
              </a:r>
              <a:endParaRPr lang="en-US" sz="1400" dirty="0"/>
            </a:p>
          </p:txBody>
        </p:sp>
        <p:sp>
          <p:nvSpPr>
            <p:cNvPr id="6" name="Text 4"/>
            <p:cNvSpPr/>
            <p:nvPr/>
          </p:nvSpPr>
          <p:spPr>
            <a:xfrm>
              <a:off x="457200" y="2651760"/>
              <a:ext cx="5486400" cy="2148840"/>
            </a:xfrm>
            <a:prstGeom prst="rect">
              <a:avLst/>
            </a:prstGeom>
            <a:noFill/>
            <a:ln/>
          </p:spPr>
          <p:txBody>
            <a:bodyPr wrap="square" lIns="0" tIns="0" rIns="0" bIns="0" rtlCol="0" anchor="ctr"/>
            <a:lstStyle/>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Single-database, single-turn questions</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SQLite first; PostgreSQL as a later deployment target</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Read-only SELECT or WITH queries only</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Schema-aware SQL generation</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Safe execution with row and time limits</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SQL and result transparency</a:t>
              </a:r>
              <a:endParaRPr lang="en-US" sz="1400" dirty="0"/>
            </a:p>
            <a:p>
              <a:pPr marL="177800" indent="-177800">
                <a:spcAft>
                  <a:spcPts val="800"/>
                </a:spcAft>
                <a:buSzPct val="100000"/>
                <a:buChar char="•"/>
              </a:pPr>
              <a:r>
                <a:rPr lang="en-US" sz="1400" dirty="0">
                  <a:solidFill>
                    <a:srgbClr val="1A2233"/>
                  </a:solidFill>
                  <a:latin typeface="Calibri" pitchFamily="34" charset="0"/>
                  <a:ea typeface="Calibri" pitchFamily="34" charset="-122"/>
                  <a:cs typeface="Calibri" pitchFamily="34" charset="-120"/>
                </a:rPr>
                <a:t>Small open-source models on constrained hardware</a:t>
              </a:r>
              <a:endParaRPr lang="en-US" sz="1400" dirty="0"/>
            </a:p>
          </p:txBody>
        </p:sp>
      </p:grpSp>
      <p:sp>
        <p:nvSpPr>
          <p:cNvPr id="7" name="Shape 5"/>
          <p:cNvSpPr/>
          <p:nvPr/>
        </p:nvSpPr>
        <p:spPr>
          <a:xfrm>
            <a:off x="6309360" y="1209036"/>
            <a:ext cx="5394960" cy="5394960"/>
          </a:xfrm>
          <a:prstGeom prst="roundRect">
            <a:avLst>
              <a:gd name="adj" fmla="val 1441"/>
            </a:avLst>
          </a:prstGeom>
          <a:solidFill>
            <a:srgbClr val="F6F7F9"/>
          </a:solidFill>
          <a:ln w="12700">
            <a:solidFill>
              <a:srgbClr val="E4E7EC"/>
            </a:solidFill>
            <a:prstDash val="solid"/>
          </a:ln>
        </p:spPr>
      </p:sp>
      <p:sp>
        <p:nvSpPr>
          <p:cNvPr id="8" name="Text 6"/>
          <p:cNvSpPr/>
          <p:nvPr/>
        </p:nvSpPr>
        <p:spPr>
          <a:xfrm>
            <a:off x="6583680" y="1325880"/>
            <a:ext cx="4846320" cy="365760"/>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Requirement → Architectural response</a:t>
            </a:r>
            <a:endParaRPr lang="en-US" sz="1400" dirty="0"/>
          </a:p>
        </p:txBody>
      </p:sp>
      <p:grpSp>
        <p:nvGrpSpPr>
          <p:cNvPr id="31" name="Group 30">
            <a:extLst>
              <a:ext uri="{FF2B5EF4-FFF2-40B4-BE49-F238E27FC236}">
                <a16:creationId xmlns:a16="http://schemas.microsoft.com/office/drawing/2014/main" id="{71CA52B8-EA26-12C5-25D5-06EFE38E2C4B}"/>
              </a:ext>
            </a:extLst>
          </p:cNvPr>
          <p:cNvGrpSpPr/>
          <p:nvPr/>
        </p:nvGrpSpPr>
        <p:grpSpPr>
          <a:xfrm>
            <a:off x="6583680" y="1709928"/>
            <a:ext cx="5047488" cy="4685455"/>
            <a:chOff x="6583680" y="1709928"/>
            <a:chExt cx="5047488" cy="4685455"/>
          </a:xfrm>
        </p:grpSpPr>
        <p:sp>
          <p:nvSpPr>
            <p:cNvPr id="9" name="Shape 7"/>
            <p:cNvSpPr/>
            <p:nvPr/>
          </p:nvSpPr>
          <p:spPr>
            <a:xfrm>
              <a:off x="6583680" y="1811189"/>
              <a:ext cx="91440" cy="91440"/>
            </a:xfrm>
            <a:prstGeom prst="ellipse">
              <a:avLst/>
            </a:prstGeom>
            <a:solidFill>
              <a:srgbClr val="E8A33D"/>
            </a:solidFill>
            <a:ln/>
          </p:spPr>
        </p:sp>
        <p:sp>
          <p:nvSpPr>
            <p:cNvPr id="10" name="Text 8"/>
            <p:cNvSpPr/>
            <p:nvPr/>
          </p:nvSpPr>
          <p:spPr>
            <a:xfrm>
              <a:off x="6784848" y="1709928"/>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Complex SQL generation</a:t>
              </a:r>
              <a:endParaRPr lang="en-US" sz="1200" dirty="0"/>
            </a:p>
          </p:txBody>
        </p:sp>
        <p:sp>
          <p:nvSpPr>
            <p:cNvPr id="11" name="Text 9"/>
            <p:cNvSpPr/>
            <p:nvPr/>
          </p:nvSpPr>
          <p:spPr>
            <a:xfrm>
              <a:off x="6784848" y="1950380"/>
              <a:ext cx="4846320" cy="219114"/>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Decoder-only causal language model with strong instruction &amp; code ability</a:t>
              </a:r>
              <a:endParaRPr lang="en-US" sz="1100" dirty="0"/>
            </a:p>
          </p:txBody>
        </p:sp>
        <p:sp>
          <p:nvSpPr>
            <p:cNvPr id="12" name="Shape 10"/>
            <p:cNvSpPr/>
            <p:nvPr/>
          </p:nvSpPr>
          <p:spPr>
            <a:xfrm>
              <a:off x="6583680" y="2304963"/>
              <a:ext cx="91440" cy="91440"/>
            </a:xfrm>
            <a:prstGeom prst="ellipse">
              <a:avLst/>
            </a:prstGeom>
            <a:solidFill>
              <a:srgbClr val="E8A33D"/>
            </a:solidFill>
            <a:ln/>
          </p:spPr>
        </p:sp>
        <p:sp>
          <p:nvSpPr>
            <p:cNvPr id="13" name="Text 11"/>
            <p:cNvSpPr/>
            <p:nvPr/>
          </p:nvSpPr>
          <p:spPr>
            <a:xfrm>
              <a:off x="6784848" y="2195235"/>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Generalization to unseen DBs</a:t>
              </a:r>
              <a:endParaRPr lang="en-US" sz="1200" dirty="0"/>
            </a:p>
          </p:txBody>
        </p:sp>
        <p:sp>
          <p:nvSpPr>
            <p:cNvPr id="14" name="Text 12"/>
            <p:cNvSpPr/>
            <p:nvPr/>
          </p:nvSpPr>
          <p:spPr>
            <a:xfrm>
              <a:off x="6784848" y="2401819"/>
              <a:ext cx="4846320" cy="274320"/>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Question + Schema applied in every prompt; database-disjoint Spider split</a:t>
              </a:r>
              <a:endParaRPr lang="en-US" sz="1100" dirty="0"/>
            </a:p>
          </p:txBody>
        </p:sp>
        <p:sp>
          <p:nvSpPr>
            <p:cNvPr id="15" name="Shape 13"/>
            <p:cNvSpPr/>
            <p:nvPr/>
          </p:nvSpPr>
          <p:spPr>
            <a:xfrm>
              <a:off x="6583680" y="2828374"/>
              <a:ext cx="91440" cy="91440"/>
            </a:xfrm>
            <a:prstGeom prst="ellipse">
              <a:avLst/>
            </a:prstGeom>
            <a:solidFill>
              <a:srgbClr val="E8A33D"/>
            </a:solidFill>
            <a:ln/>
          </p:spPr>
        </p:sp>
        <p:sp>
          <p:nvSpPr>
            <p:cNvPr id="16" name="Text 14"/>
            <p:cNvSpPr/>
            <p:nvPr/>
          </p:nvSpPr>
          <p:spPr>
            <a:xfrm>
              <a:off x="6784848" y="2718646"/>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Limited compute</a:t>
              </a:r>
              <a:endParaRPr lang="en-US" sz="1200" dirty="0"/>
            </a:p>
          </p:txBody>
        </p:sp>
        <p:sp>
          <p:nvSpPr>
            <p:cNvPr id="17" name="Text 15"/>
            <p:cNvSpPr/>
            <p:nvPr/>
          </p:nvSpPr>
          <p:spPr>
            <a:xfrm>
              <a:off x="6784848" y="2992966"/>
              <a:ext cx="4846320" cy="265176"/>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4B parameter cap, trained via </a:t>
              </a:r>
              <a:r>
                <a:rPr lang="en-US" sz="1100" dirty="0" err="1">
                  <a:solidFill>
                    <a:srgbClr val="1A2233"/>
                  </a:solidFill>
                  <a:latin typeface="Calibri" pitchFamily="34" charset="0"/>
                  <a:ea typeface="Calibri" pitchFamily="34" charset="-122"/>
                  <a:cs typeface="Calibri" pitchFamily="34" charset="-120"/>
                </a:rPr>
                <a:t>QLoRA</a:t>
              </a:r>
              <a:r>
                <a:rPr lang="en-US" sz="1100" dirty="0">
                  <a:solidFill>
                    <a:srgbClr val="1A2233"/>
                  </a:solidFill>
                  <a:latin typeface="Calibri" pitchFamily="34" charset="0"/>
                  <a:ea typeface="Calibri" pitchFamily="34" charset="-122"/>
                  <a:cs typeface="Calibri" pitchFamily="34" charset="-120"/>
                </a:rPr>
                <a:t> rather than full fine-tuning</a:t>
              </a:r>
              <a:endParaRPr lang="en-US" sz="1100" dirty="0"/>
            </a:p>
          </p:txBody>
        </p:sp>
        <p:sp>
          <p:nvSpPr>
            <p:cNvPr id="18" name="Shape 16"/>
            <p:cNvSpPr/>
            <p:nvPr/>
          </p:nvSpPr>
          <p:spPr>
            <a:xfrm>
              <a:off x="6583680" y="3440683"/>
              <a:ext cx="91440" cy="91440"/>
            </a:xfrm>
            <a:prstGeom prst="ellipse">
              <a:avLst/>
            </a:prstGeom>
            <a:solidFill>
              <a:srgbClr val="E8A33D"/>
            </a:solidFill>
            <a:ln/>
          </p:spPr>
        </p:sp>
        <p:sp>
          <p:nvSpPr>
            <p:cNvPr id="19" name="Text 17"/>
            <p:cNvSpPr/>
            <p:nvPr/>
          </p:nvSpPr>
          <p:spPr>
            <a:xfrm>
              <a:off x="6784848" y="3330955"/>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Database safety</a:t>
              </a:r>
              <a:endParaRPr lang="en-US" sz="1200" dirty="0"/>
            </a:p>
          </p:txBody>
        </p:sp>
        <p:sp>
          <p:nvSpPr>
            <p:cNvPr id="20" name="Text 18"/>
            <p:cNvSpPr/>
            <p:nvPr/>
          </p:nvSpPr>
          <p:spPr>
            <a:xfrm>
              <a:off x="6784848" y="3546007"/>
              <a:ext cx="4846320" cy="457200"/>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SQL-only prompt, parser validation, immutable connection, SQL authorizer, timeout, row cap</a:t>
              </a:r>
              <a:endParaRPr lang="en-US" sz="1100" dirty="0"/>
            </a:p>
          </p:txBody>
        </p:sp>
        <p:sp>
          <p:nvSpPr>
            <p:cNvPr id="21" name="Shape 19"/>
            <p:cNvSpPr/>
            <p:nvPr/>
          </p:nvSpPr>
          <p:spPr>
            <a:xfrm>
              <a:off x="6583680" y="4129191"/>
              <a:ext cx="91440" cy="91440"/>
            </a:xfrm>
            <a:prstGeom prst="ellipse">
              <a:avLst/>
            </a:prstGeom>
            <a:solidFill>
              <a:srgbClr val="E8A33D"/>
            </a:solidFill>
            <a:ln/>
          </p:spPr>
        </p:sp>
        <p:sp>
          <p:nvSpPr>
            <p:cNvPr id="22" name="Text 20"/>
            <p:cNvSpPr/>
            <p:nvPr/>
          </p:nvSpPr>
          <p:spPr>
            <a:xfrm>
              <a:off x="6784848" y="4019463"/>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Schema/value grounding</a:t>
              </a:r>
              <a:endParaRPr lang="en-US" sz="1200" dirty="0"/>
            </a:p>
          </p:txBody>
        </p:sp>
        <p:sp>
          <p:nvSpPr>
            <p:cNvPr id="23" name="Text 21"/>
            <p:cNvSpPr/>
            <p:nvPr/>
          </p:nvSpPr>
          <p:spPr>
            <a:xfrm>
              <a:off x="6784848" y="4255343"/>
              <a:ext cx="4846320" cy="460928"/>
            </a:xfrm>
            <a:prstGeom prst="rect">
              <a:avLst/>
            </a:prstGeom>
            <a:noFill/>
            <a:ln/>
          </p:spPr>
          <p:txBody>
            <a:bodyPr wrap="square" lIns="0" tIns="0" rIns="0" bIns="0" rtlCol="0" anchor="ctr"/>
            <a:lstStyle/>
            <a:p>
              <a:r>
                <a:rPr lang="en-IN" sz="1200" dirty="0"/>
                <a:t>DDL and M-Schema representations; retrieval layer planned for larger databases 	</a:t>
              </a:r>
            </a:p>
          </p:txBody>
        </p:sp>
        <p:sp>
          <p:nvSpPr>
            <p:cNvPr id="24" name="Shape 22"/>
            <p:cNvSpPr/>
            <p:nvPr/>
          </p:nvSpPr>
          <p:spPr>
            <a:xfrm>
              <a:off x="6583680" y="5956471"/>
              <a:ext cx="91440" cy="91440"/>
            </a:xfrm>
            <a:prstGeom prst="ellipse">
              <a:avLst/>
            </a:prstGeom>
            <a:solidFill>
              <a:srgbClr val="E8A33D"/>
            </a:solidFill>
            <a:ln/>
          </p:spPr>
        </p:sp>
        <p:sp>
          <p:nvSpPr>
            <p:cNvPr id="25" name="Text 23"/>
            <p:cNvSpPr/>
            <p:nvPr/>
          </p:nvSpPr>
          <p:spPr>
            <a:xfrm>
              <a:off x="6784848" y="5846743"/>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Reproducibility</a:t>
              </a:r>
              <a:endParaRPr lang="en-US" sz="1200" dirty="0"/>
            </a:p>
          </p:txBody>
        </p:sp>
        <p:sp>
          <p:nvSpPr>
            <p:cNvPr id="26" name="Text 24"/>
            <p:cNvSpPr/>
            <p:nvPr/>
          </p:nvSpPr>
          <p:spPr>
            <a:xfrm>
              <a:off x="6784848" y="6121063"/>
              <a:ext cx="4846320" cy="274320"/>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Pinned revisions, checksums, fixed seeds, resumable checkpoints</a:t>
              </a:r>
              <a:endParaRPr lang="en-US" sz="1100" dirty="0"/>
            </a:p>
          </p:txBody>
        </p:sp>
      </p:grpSp>
      <p:sp>
        <p:nvSpPr>
          <p:cNvPr id="27" name="Text 2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
        <p:nvSpPr>
          <p:cNvPr id="37" name="Shape 19">
            <a:extLst>
              <a:ext uri="{FF2B5EF4-FFF2-40B4-BE49-F238E27FC236}">
                <a16:creationId xmlns:a16="http://schemas.microsoft.com/office/drawing/2014/main" id="{FC201DA1-94EF-F99E-123C-DCD408CAB350}"/>
              </a:ext>
            </a:extLst>
          </p:cNvPr>
          <p:cNvSpPr/>
          <p:nvPr/>
        </p:nvSpPr>
        <p:spPr>
          <a:xfrm>
            <a:off x="6583680" y="4894410"/>
            <a:ext cx="91440" cy="91440"/>
          </a:xfrm>
          <a:prstGeom prst="ellipse">
            <a:avLst/>
          </a:prstGeom>
          <a:solidFill>
            <a:srgbClr val="E8A33D"/>
          </a:solidFill>
          <a:ln/>
        </p:spPr>
      </p:sp>
      <p:sp>
        <p:nvSpPr>
          <p:cNvPr id="38" name="Text 20">
            <a:extLst>
              <a:ext uri="{FF2B5EF4-FFF2-40B4-BE49-F238E27FC236}">
                <a16:creationId xmlns:a16="http://schemas.microsoft.com/office/drawing/2014/main" id="{1B3685B0-D6A8-E1B1-5E09-E16DDE467B92}"/>
              </a:ext>
            </a:extLst>
          </p:cNvPr>
          <p:cNvSpPr/>
          <p:nvPr/>
        </p:nvSpPr>
        <p:spPr>
          <a:xfrm>
            <a:off x="6784848" y="4784682"/>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Semantic correctness</a:t>
            </a:r>
            <a:endParaRPr lang="en-US" sz="1200" dirty="0"/>
          </a:p>
        </p:txBody>
      </p:sp>
      <p:sp>
        <p:nvSpPr>
          <p:cNvPr id="39" name="Text 21">
            <a:extLst>
              <a:ext uri="{FF2B5EF4-FFF2-40B4-BE49-F238E27FC236}">
                <a16:creationId xmlns:a16="http://schemas.microsoft.com/office/drawing/2014/main" id="{D02FFC25-41E4-7F50-B902-EF6042A8F8C0}"/>
              </a:ext>
            </a:extLst>
          </p:cNvPr>
          <p:cNvSpPr/>
          <p:nvPr/>
        </p:nvSpPr>
        <p:spPr>
          <a:xfrm>
            <a:off x="6784848" y="5059002"/>
            <a:ext cx="4846320" cy="274320"/>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Execution-result equivalence as the primary metric</a:t>
            </a:r>
            <a:endParaRPr lang="en-US" sz="1100" dirty="0"/>
          </a:p>
        </p:txBody>
      </p:sp>
      <p:sp>
        <p:nvSpPr>
          <p:cNvPr id="40" name="Shape 19">
            <a:extLst>
              <a:ext uri="{FF2B5EF4-FFF2-40B4-BE49-F238E27FC236}">
                <a16:creationId xmlns:a16="http://schemas.microsoft.com/office/drawing/2014/main" id="{9CA41DED-1C05-946D-50AC-8E8D832F3BDA}"/>
              </a:ext>
            </a:extLst>
          </p:cNvPr>
          <p:cNvSpPr/>
          <p:nvPr/>
        </p:nvSpPr>
        <p:spPr>
          <a:xfrm>
            <a:off x="6583680" y="5392930"/>
            <a:ext cx="91440" cy="91440"/>
          </a:xfrm>
          <a:prstGeom prst="ellipse">
            <a:avLst/>
          </a:prstGeom>
          <a:solidFill>
            <a:srgbClr val="E8A33D"/>
          </a:solidFill>
          <a:ln/>
        </p:spPr>
      </p:sp>
      <p:sp>
        <p:nvSpPr>
          <p:cNvPr id="41" name="Text 20">
            <a:extLst>
              <a:ext uri="{FF2B5EF4-FFF2-40B4-BE49-F238E27FC236}">
                <a16:creationId xmlns:a16="http://schemas.microsoft.com/office/drawing/2014/main" id="{C003D20A-7C19-45DF-A296-A8AF6434F9D5}"/>
              </a:ext>
            </a:extLst>
          </p:cNvPr>
          <p:cNvSpPr/>
          <p:nvPr/>
        </p:nvSpPr>
        <p:spPr>
          <a:xfrm>
            <a:off x="6784848" y="5283202"/>
            <a:ext cx="4846320" cy="274320"/>
          </a:xfrm>
          <a:prstGeom prst="rect">
            <a:avLst/>
          </a:prstGeom>
          <a:noFill/>
          <a:ln/>
        </p:spPr>
        <p:txBody>
          <a:bodyPr wrap="square" lIns="0" tIns="0" rIns="0" bIns="0" rtlCol="0" anchor="ctr"/>
          <a:lstStyle/>
          <a:p>
            <a:pPr marL="0" indent="0">
              <a:buNone/>
            </a:pPr>
            <a:r>
              <a:rPr lang="en-US" sz="1200" b="1" dirty="0">
                <a:solidFill>
                  <a:srgbClr val="0E7C86"/>
                </a:solidFill>
                <a:latin typeface="Calibri" pitchFamily="34" charset="0"/>
                <a:ea typeface="Calibri" pitchFamily="34" charset="-122"/>
                <a:cs typeface="Calibri" pitchFamily="34" charset="-120"/>
              </a:rPr>
              <a:t>Interactive use</a:t>
            </a:r>
            <a:endParaRPr lang="en-US" sz="1200" dirty="0"/>
          </a:p>
        </p:txBody>
      </p:sp>
      <p:sp>
        <p:nvSpPr>
          <p:cNvPr id="42" name="Text 21">
            <a:extLst>
              <a:ext uri="{FF2B5EF4-FFF2-40B4-BE49-F238E27FC236}">
                <a16:creationId xmlns:a16="http://schemas.microsoft.com/office/drawing/2014/main" id="{F87E2903-9AE3-83A5-917D-D94A6BE8A0B7}"/>
              </a:ext>
            </a:extLst>
          </p:cNvPr>
          <p:cNvSpPr/>
          <p:nvPr/>
        </p:nvSpPr>
        <p:spPr>
          <a:xfrm>
            <a:off x="6784848" y="5557522"/>
            <a:ext cx="4846320" cy="274320"/>
          </a:xfrm>
          <a:prstGeom prst="rect">
            <a:avLst/>
          </a:prstGeom>
          <a:noFill/>
          <a:ln/>
        </p:spPr>
        <p:txBody>
          <a:bodyPr wrap="square" lIns="0" tIns="0" rIns="0" bIns="0" rtlCol="0" anchor="ctr"/>
          <a:lstStyle/>
          <a:p>
            <a:pPr marL="0" indent="0">
              <a:lnSpc>
                <a:spcPct val="108000"/>
              </a:lnSpc>
              <a:buNone/>
            </a:pPr>
            <a:r>
              <a:rPr lang="en-US" sz="1100" dirty="0">
                <a:solidFill>
                  <a:srgbClr val="1A2233"/>
                </a:solidFill>
                <a:latin typeface="Calibri" pitchFamily="34" charset="0"/>
                <a:ea typeface="Calibri" pitchFamily="34" charset="-122"/>
                <a:cs typeface="Calibri" pitchFamily="34" charset="-120"/>
              </a:rPr>
              <a:t>Qwen3 model as primary path; ensembles (optional0</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SYSTEM ARCHITECTURE</a:t>
            </a:r>
            <a:endParaRPr lang="en-US" sz="1150" dirty="0"/>
          </a:p>
        </p:txBody>
      </p:sp>
      <p:sp>
        <p:nvSpPr>
          <p:cNvPr id="3" name="Text 1"/>
          <p:cNvSpPr/>
          <p:nvPr/>
        </p:nvSpPr>
        <p:spPr>
          <a:xfrm>
            <a:off x="391734" y="464520"/>
            <a:ext cx="5617331" cy="640080"/>
          </a:xfrm>
          <a:prstGeom prst="rect">
            <a:avLst/>
          </a:prstGeom>
          <a:noFill/>
          <a:ln/>
        </p:spPr>
        <p:txBody>
          <a:bodyPr wrap="square" lIns="0" tIns="0" rIns="0" bIns="0" rtlCol="0" anchor="ctr"/>
          <a:lstStyle/>
          <a:p>
            <a:pPr marL="0" indent="0">
              <a:buNone/>
            </a:pPr>
            <a:r>
              <a:rPr lang="en-US" sz="3000" b="1" dirty="0">
                <a:solidFill>
                  <a:srgbClr val="13234B"/>
                </a:solidFill>
                <a:latin typeface="Cambria" pitchFamily="34" charset="0"/>
                <a:ea typeface="Cambria" pitchFamily="34" charset="-122"/>
                <a:cs typeface="Cambria" pitchFamily="34" charset="-120"/>
              </a:rPr>
              <a:t>High-Level Architecture</a:t>
            </a:r>
            <a:endParaRPr lang="en-US" sz="3000" dirty="0"/>
          </a:p>
        </p:txBody>
      </p:sp>
      <p:sp>
        <p:nvSpPr>
          <p:cNvPr id="38" name="Text 36"/>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pic>
        <p:nvPicPr>
          <p:cNvPr id="55" name="Picture 54">
            <a:extLst>
              <a:ext uri="{FF2B5EF4-FFF2-40B4-BE49-F238E27FC236}">
                <a16:creationId xmlns:a16="http://schemas.microsoft.com/office/drawing/2014/main" id="{8FC49660-7A46-A55F-EEBC-EF23CA263E15}"/>
              </a:ext>
            </a:extLst>
          </p:cNvPr>
          <p:cNvPicPr>
            <a:picLocks noChangeAspect="1"/>
          </p:cNvPicPr>
          <p:nvPr/>
        </p:nvPicPr>
        <p:blipFill>
          <a:blip r:embed="rId3"/>
          <a:stretch>
            <a:fillRect/>
          </a:stretch>
        </p:blipFill>
        <p:spPr>
          <a:xfrm>
            <a:off x="287568" y="1199696"/>
            <a:ext cx="5702644" cy="4238578"/>
          </a:xfrm>
          <a:prstGeom prst="rect">
            <a:avLst/>
          </a:prstGeom>
        </p:spPr>
      </p:pic>
      <p:grpSp>
        <p:nvGrpSpPr>
          <p:cNvPr id="40" name="Group 39">
            <a:extLst>
              <a:ext uri="{FF2B5EF4-FFF2-40B4-BE49-F238E27FC236}">
                <a16:creationId xmlns:a16="http://schemas.microsoft.com/office/drawing/2014/main" id="{F877BDF3-8BAB-5980-602B-203EE1E76180}"/>
              </a:ext>
            </a:extLst>
          </p:cNvPr>
          <p:cNvGrpSpPr/>
          <p:nvPr/>
        </p:nvGrpSpPr>
        <p:grpSpPr>
          <a:xfrm>
            <a:off x="6335766" y="2377652"/>
            <a:ext cx="5725923" cy="1964987"/>
            <a:chOff x="933450" y="2190749"/>
            <a:chExt cx="10325102" cy="3543302"/>
          </a:xfrm>
        </p:grpSpPr>
        <p:pic>
          <p:nvPicPr>
            <p:cNvPr id="41" name="Picture 40" descr="image.png">
              <a:extLst>
                <a:ext uri="{FF2B5EF4-FFF2-40B4-BE49-F238E27FC236}">
                  <a16:creationId xmlns:a16="http://schemas.microsoft.com/office/drawing/2014/main" id="{8BD11D97-DEE2-4AA1-D68A-F0A914868CBE}"/>
                </a:ext>
              </a:extLst>
            </p:cNvPr>
            <p:cNvPicPr>
              <a:picLocks noChangeAspect="1"/>
            </p:cNvPicPr>
            <p:nvPr/>
          </p:nvPicPr>
          <p:blipFill>
            <a:blip r:embed="rId4"/>
            <a:stretch>
              <a:fillRect/>
            </a:stretch>
          </p:blipFill>
          <p:spPr>
            <a:xfrm>
              <a:off x="1485900" y="2190749"/>
              <a:ext cx="2724150" cy="714375"/>
            </a:xfrm>
            <a:prstGeom prst="rect">
              <a:avLst/>
            </a:prstGeom>
          </p:spPr>
        </p:pic>
        <p:pic>
          <p:nvPicPr>
            <p:cNvPr id="42" name="Picture 41" descr="image.png">
              <a:extLst>
                <a:ext uri="{FF2B5EF4-FFF2-40B4-BE49-F238E27FC236}">
                  <a16:creationId xmlns:a16="http://schemas.microsoft.com/office/drawing/2014/main" id="{93DF2BDF-7507-943E-0AF9-E3914F45A0E9}"/>
                </a:ext>
              </a:extLst>
            </p:cNvPr>
            <p:cNvPicPr>
              <a:picLocks noChangeAspect="1"/>
            </p:cNvPicPr>
            <p:nvPr/>
          </p:nvPicPr>
          <p:blipFill>
            <a:blip r:embed="rId5"/>
            <a:stretch>
              <a:fillRect/>
            </a:stretch>
          </p:blipFill>
          <p:spPr>
            <a:xfrm>
              <a:off x="4438651" y="2190749"/>
              <a:ext cx="2619375" cy="714375"/>
            </a:xfrm>
            <a:prstGeom prst="rect">
              <a:avLst/>
            </a:prstGeom>
          </p:spPr>
        </p:pic>
        <p:pic>
          <p:nvPicPr>
            <p:cNvPr id="43" name="Picture 42" descr="image.png">
              <a:extLst>
                <a:ext uri="{FF2B5EF4-FFF2-40B4-BE49-F238E27FC236}">
                  <a16:creationId xmlns:a16="http://schemas.microsoft.com/office/drawing/2014/main" id="{6BA87B58-7E0B-21A3-CD19-EF55D88536F0}"/>
                </a:ext>
              </a:extLst>
            </p:cNvPr>
            <p:cNvPicPr>
              <a:picLocks noChangeAspect="1"/>
            </p:cNvPicPr>
            <p:nvPr/>
          </p:nvPicPr>
          <p:blipFill>
            <a:blip r:embed="rId6"/>
            <a:stretch>
              <a:fillRect/>
            </a:stretch>
          </p:blipFill>
          <p:spPr>
            <a:xfrm>
              <a:off x="7286626" y="2190749"/>
              <a:ext cx="3419476" cy="714375"/>
            </a:xfrm>
            <a:prstGeom prst="rect">
              <a:avLst/>
            </a:prstGeom>
          </p:spPr>
        </p:pic>
        <p:pic>
          <p:nvPicPr>
            <p:cNvPr id="44" name="Picture 43" descr="image.png">
              <a:extLst>
                <a:ext uri="{FF2B5EF4-FFF2-40B4-BE49-F238E27FC236}">
                  <a16:creationId xmlns:a16="http://schemas.microsoft.com/office/drawing/2014/main" id="{03765EF2-2DB9-0E66-B783-7839F7F3AF50}"/>
                </a:ext>
              </a:extLst>
            </p:cNvPr>
            <p:cNvPicPr>
              <a:picLocks noChangeAspect="1"/>
            </p:cNvPicPr>
            <p:nvPr/>
          </p:nvPicPr>
          <p:blipFill>
            <a:blip r:embed="rId7"/>
            <a:stretch>
              <a:fillRect/>
            </a:stretch>
          </p:blipFill>
          <p:spPr>
            <a:xfrm>
              <a:off x="1619250" y="3133723"/>
              <a:ext cx="3419476" cy="714375"/>
            </a:xfrm>
            <a:prstGeom prst="rect">
              <a:avLst/>
            </a:prstGeom>
          </p:spPr>
        </p:pic>
        <p:pic>
          <p:nvPicPr>
            <p:cNvPr id="45" name="Picture 44" descr="image.png">
              <a:extLst>
                <a:ext uri="{FF2B5EF4-FFF2-40B4-BE49-F238E27FC236}">
                  <a16:creationId xmlns:a16="http://schemas.microsoft.com/office/drawing/2014/main" id="{268A2882-B511-61AC-6483-502EF88622D1}"/>
                </a:ext>
              </a:extLst>
            </p:cNvPr>
            <p:cNvPicPr>
              <a:picLocks noChangeAspect="1"/>
            </p:cNvPicPr>
            <p:nvPr/>
          </p:nvPicPr>
          <p:blipFill>
            <a:blip r:embed="rId8"/>
            <a:stretch>
              <a:fillRect/>
            </a:stretch>
          </p:blipFill>
          <p:spPr>
            <a:xfrm>
              <a:off x="5267326" y="3133723"/>
              <a:ext cx="2752725" cy="714375"/>
            </a:xfrm>
            <a:prstGeom prst="rect">
              <a:avLst/>
            </a:prstGeom>
          </p:spPr>
        </p:pic>
        <p:pic>
          <p:nvPicPr>
            <p:cNvPr id="46" name="Picture 45" descr="image.png">
              <a:extLst>
                <a:ext uri="{FF2B5EF4-FFF2-40B4-BE49-F238E27FC236}">
                  <a16:creationId xmlns:a16="http://schemas.microsoft.com/office/drawing/2014/main" id="{8185C7A6-6B4C-56C2-DE47-322711D3EFC3}"/>
                </a:ext>
              </a:extLst>
            </p:cNvPr>
            <p:cNvPicPr>
              <a:picLocks noChangeAspect="1"/>
            </p:cNvPicPr>
            <p:nvPr/>
          </p:nvPicPr>
          <p:blipFill>
            <a:blip r:embed="rId9"/>
            <a:stretch>
              <a:fillRect/>
            </a:stretch>
          </p:blipFill>
          <p:spPr>
            <a:xfrm>
              <a:off x="8248652" y="3133722"/>
              <a:ext cx="2324101" cy="714375"/>
            </a:xfrm>
            <a:prstGeom prst="rect">
              <a:avLst/>
            </a:prstGeom>
          </p:spPr>
        </p:pic>
        <p:pic>
          <p:nvPicPr>
            <p:cNvPr id="47" name="Picture 46" descr="image.png">
              <a:extLst>
                <a:ext uri="{FF2B5EF4-FFF2-40B4-BE49-F238E27FC236}">
                  <a16:creationId xmlns:a16="http://schemas.microsoft.com/office/drawing/2014/main" id="{6D31AC9D-5D26-3724-64B6-7A90ED6F9EB6}"/>
                </a:ext>
              </a:extLst>
            </p:cNvPr>
            <p:cNvPicPr>
              <a:picLocks noChangeAspect="1"/>
            </p:cNvPicPr>
            <p:nvPr/>
          </p:nvPicPr>
          <p:blipFill>
            <a:blip r:embed="rId10"/>
            <a:stretch>
              <a:fillRect/>
            </a:stretch>
          </p:blipFill>
          <p:spPr>
            <a:xfrm>
              <a:off x="933450" y="4076698"/>
              <a:ext cx="3867151" cy="714375"/>
            </a:xfrm>
            <a:prstGeom prst="rect">
              <a:avLst/>
            </a:prstGeom>
          </p:spPr>
        </p:pic>
        <p:pic>
          <p:nvPicPr>
            <p:cNvPr id="48" name="Picture 47" descr="image.png">
              <a:extLst>
                <a:ext uri="{FF2B5EF4-FFF2-40B4-BE49-F238E27FC236}">
                  <a16:creationId xmlns:a16="http://schemas.microsoft.com/office/drawing/2014/main" id="{2B765FA6-7585-63C6-2367-5BD7D9E3FF72}"/>
                </a:ext>
              </a:extLst>
            </p:cNvPr>
            <p:cNvPicPr>
              <a:picLocks noChangeAspect="1"/>
            </p:cNvPicPr>
            <p:nvPr/>
          </p:nvPicPr>
          <p:blipFill>
            <a:blip r:embed="rId11"/>
            <a:stretch>
              <a:fillRect/>
            </a:stretch>
          </p:blipFill>
          <p:spPr>
            <a:xfrm>
              <a:off x="5029201" y="4076699"/>
              <a:ext cx="3076576" cy="714375"/>
            </a:xfrm>
            <a:prstGeom prst="rect">
              <a:avLst/>
            </a:prstGeom>
          </p:spPr>
        </p:pic>
        <p:pic>
          <p:nvPicPr>
            <p:cNvPr id="49" name="Picture 48" descr="image.png">
              <a:extLst>
                <a:ext uri="{FF2B5EF4-FFF2-40B4-BE49-F238E27FC236}">
                  <a16:creationId xmlns:a16="http://schemas.microsoft.com/office/drawing/2014/main" id="{BD753B74-117F-6A88-E09D-00E6F81599FB}"/>
                </a:ext>
              </a:extLst>
            </p:cNvPr>
            <p:cNvPicPr>
              <a:picLocks noChangeAspect="1"/>
            </p:cNvPicPr>
            <p:nvPr/>
          </p:nvPicPr>
          <p:blipFill>
            <a:blip r:embed="rId12"/>
            <a:stretch>
              <a:fillRect/>
            </a:stretch>
          </p:blipFill>
          <p:spPr>
            <a:xfrm>
              <a:off x="8334376" y="4076700"/>
              <a:ext cx="2924176" cy="714375"/>
            </a:xfrm>
            <a:prstGeom prst="rect">
              <a:avLst/>
            </a:prstGeom>
          </p:spPr>
        </p:pic>
        <p:pic>
          <p:nvPicPr>
            <p:cNvPr id="50" name="Picture 49" descr="image.png">
              <a:extLst>
                <a:ext uri="{FF2B5EF4-FFF2-40B4-BE49-F238E27FC236}">
                  <a16:creationId xmlns:a16="http://schemas.microsoft.com/office/drawing/2014/main" id="{C97C35EB-637B-FEB4-478C-FDDB094F7A23}"/>
                </a:ext>
              </a:extLst>
            </p:cNvPr>
            <p:cNvPicPr>
              <a:picLocks noChangeAspect="1"/>
            </p:cNvPicPr>
            <p:nvPr/>
          </p:nvPicPr>
          <p:blipFill>
            <a:blip r:embed="rId13"/>
            <a:stretch>
              <a:fillRect/>
            </a:stretch>
          </p:blipFill>
          <p:spPr>
            <a:xfrm>
              <a:off x="985837" y="5019675"/>
              <a:ext cx="2419350" cy="714375"/>
            </a:xfrm>
            <a:prstGeom prst="rect">
              <a:avLst/>
            </a:prstGeom>
          </p:spPr>
        </p:pic>
        <p:pic>
          <p:nvPicPr>
            <p:cNvPr id="51" name="Picture 50" descr="image.png">
              <a:extLst>
                <a:ext uri="{FF2B5EF4-FFF2-40B4-BE49-F238E27FC236}">
                  <a16:creationId xmlns:a16="http://schemas.microsoft.com/office/drawing/2014/main" id="{6FD18D6E-CC93-EB58-3533-00111C47F3BA}"/>
                </a:ext>
              </a:extLst>
            </p:cNvPr>
            <p:cNvPicPr>
              <a:picLocks noChangeAspect="1"/>
            </p:cNvPicPr>
            <p:nvPr/>
          </p:nvPicPr>
          <p:blipFill>
            <a:blip r:embed="rId14"/>
            <a:stretch>
              <a:fillRect/>
            </a:stretch>
          </p:blipFill>
          <p:spPr>
            <a:xfrm>
              <a:off x="3633787" y="5019676"/>
              <a:ext cx="3086101" cy="714375"/>
            </a:xfrm>
            <a:prstGeom prst="rect">
              <a:avLst/>
            </a:prstGeom>
          </p:spPr>
        </p:pic>
        <p:pic>
          <p:nvPicPr>
            <p:cNvPr id="52" name="Picture 51" descr="image.png">
              <a:extLst>
                <a:ext uri="{FF2B5EF4-FFF2-40B4-BE49-F238E27FC236}">
                  <a16:creationId xmlns:a16="http://schemas.microsoft.com/office/drawing/2014/main" id="{6A639FCA-D8F1-1324-918A-9E3C14B41A72}"/>
                </a:ext>
              </a:extLst>
            </p:cNvPr>
            <p:cNvPicPr>
              <a:picLocks noChangeAspect="1"/>
            </p:cNvPicPr>
            <p:nvPr/>
          </p:nvPicPr>
          <p:blipFill>
            <a:blip r:embed="rId15"/>
            <a:stretch>
              <a:fillRect/>
            </a:stretch>
          </p:blipFill>
          <p:spPr>
            <a:xfrm>
              <a:off x="6948489" y="5019672"/>
              <a:ext cx="2171700" cy="714375"/>
            </a:xfrm>
            <a:prstGeom prst="rect">
              <a:avLst/>
            </a:prstGeom>
          </p:spPr>
        </p:pic>
        <p:pic>
          <p:nvPicPr>
            <p:cNvPr id="53" name="Picture 52" descr="image.png">
              <a:extLst>
                <a:ext uri="{FF2B5EF4-FFF2-40B4-BE49-F238E27FC236}">
                  <a16:creationId xmlns:a16="http://schemas.microsoft.com/office/drawing/2014/main" id="{E88FA50B-AA88-F2A7-CCFE-17670E6A9E50}"/>
                </a:ext>
              </a:extLst>
            </p:cNvPr>
            <p:cNvPicPr>
              <a:picLocks noChangeAspect="1"/>
            </p:cNvPicPr>
            <p:nvPr/>
          </p:nvPicPr>
          <p:blipFill>
            <a:blip r:embed="rId16"/>
            <a:stretch>
              <a:fillRect/>
            </a:stretch>
          </p:blipFill>
          <p:spPr>
            <a:xfrm>
              <a:off x="9348787" y="5019675"/>
              <a:ext cx="1857375" cy="714375"/>
            </a:xfrm>
            <a:prstGeom prst="rect">
              <a:avLst/>
            </a:prstGeom>
          </p:spPr>
        </p:pic>
      </p:grpSp>
      <p:sp>
        <p:nvSpPr>
          <p:cNvPr id="58" name="TextBox 57">
            <a:extLst>
              <a:ext uri="{FF2B5EF4-FFF2-40B4-BE49-F238E27FC236}">
                <a16:creationId xmlns:a16="http://schemas.microsoft.com/office/drawing/2014/main" id="{74D5290E-2AB5-1359-C659-155AFB5311F8}"/>
              </a:ext>
            </a:extLst>
          </p:cNvPr>
          <p:cNvSpPr txBox="1"/>
          <p:nvPr/>
        </p:nvSpPr>
        <p:spPr>
          <a:xfrm>
            <a:off x="7540041" y="1621908"/>
            <a:ext cx="3522999" cy="430887"/>
          </a:xfrm>
          <a:prstGeom prst="rect">
            <a:avLst/>
          </a:prstGeom>
          <a:noFill/>
        </p:spPr>
        <p:txBody>
          <a:bodyPr wrap="square">
            <a:spAutoFit/>
          </a:bodyPr>
          <a:lstStyle/>
          <a:p>
            <a:pPr marL="0" indent="0">
              <a:buNone/>
            </a:pPr>
            <a:r>
              <a:rPr lang="en-US" sz="2200" b="1" dirty="0">
                <a:solidFill>
                  <a:srgbClr val="E8A33D"/>
                </a:solidFill>
                <a:latin typeface="Cambria" pitchFamily="34" charset="0"/>
                <a:ea typeface="Cambria" pitchFamily="34" charset="-122"/>
                <a:cs typeface="Cambria" pitchFamily="34" charset="-120"/>
              </a:rPr>
              <a:t>Major Modules Overview</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SYSTEM ARCHITECTURE</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457200" y="1234440"/>
            <a:ext cx="128016" cy="658368"/>
          </a:xfrm>
          <a:prstGeom prst="roundRect">
            <a:avLst/>
          </a:prstGeom>
          <a:solidFill>
            <a:srgbClr val="13234B"/>
          </a:solidFill>
          <a:ln/>
        </p:spPr>
      </p:sp>
      <p:sp>
        <p:nvSpPr>
          <p:cNvPr id="5" name="Shape 3"/>
          <p:cNvSpPr/>
          <p:nvPr/>
        </p:nvSpPr>
        <p:spPr>
          <a:xfrm>
            <a:off x="585216" y="1234440"/>
            <a:ext cx="10661904" cy="658368"/>
          </a:xfrm>
          <a:prstGeom prst="roundRect">
            <a:avLst>
              <a:gd name="adj" fmla="val 8333"/>
            </a:avLst>
          </a:prstGeom>
          <a:solidFill>
            <a:srgbClr val="F6F7F9"/>
          </a:solidFill>
          <a:ln w="12700">
            <a:solidFill>
              <a:srgbClr val="E4E7EC"/>
            </a:solidFill>
            <a:prstDash val="solid"/>
          </a:ln>
        </p:spPr>
      </p:sp>
      <p:sp>
        <p:nvSpPr>
          <p:cNvPr id="6" name="Text 4"/>
          <p:cNvSpPr/>
          <p:nvPr/>
        </p:nvSpPr>
        <p:spPr>
          <a:xfrm>
            <a:off x="868680" y="1234440"/>
            <a:ext cx="3291840" cy="658368"/>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Data &amp; Orchestration</a:t>
            </a:r>
            <a:endParaRPr lang="en-US" sz="1400" dirty="0"/>
          </a:p>
        </p:txBody>
      </p:sp>
      <p:sp>
        <p:nvSpPr>
          <p:cNvPr id="7" name="Text 5"/>
          <p:cNvSpPr/>
          <p:nvPr/>
        </p:nvSpPr>
        <p:spPr>
          <a:xfrm>
            <a:off x="4206240" y="1234440"/>
            <a:ext cx="6858000" cy="658368"/>
          </a:xfrm>
          <a:prstGeom prst="rect">
            <a:avLst/>
          </a:prstGeom>
          <a:noFill/>
          <a:ln/>
        </p:spPr>
        <p:txBody>
          <a:bodyPr wrap="square" lIns="0" tIns="0" rIns="0" bIns="0" rtlCol="0" anchor="ctr"/>
          <a:lstStyle/>
          <a:p>
            <a:pPr marL="0" indent="0">
              <a:lnSpc>
                <a:spcPct val="110000"/>
              </a:lnSpc>
              <a:buNone/>
            </a:pPr>
            <a:r>
              <a:rPr lang="en-US" sz="1200" dirty="0">
                <a:solidFill>
                  <a:srgbClr val="1A2233"/>
                </a:solidFill>
                <a:latin typeface="Calibri" pitchFamily="34" charset="0"/>
                <a:ea typeface="Calibri" pitchFamily="34" charset="-122"/>
                <a:cs typeface="Calibri" pitchFamily="34" charset="-120"/>
              </a:rPr>
              <a:t>Python · JSONL · Parquet · shell scripts</a:t>
            </a:r>
            <a:endParaRPr lang="en-US" sz="1200" dirty="0"/>
          </a:p>
        </p:txBody>
      </p:sp>
      <p:sp>
        <p:nvSpPr>
          <p:cNvPr id="8" name="Shape 6"/>
          <p:cNvSpPr/>
          <p:nvPr/>
        </p:nvSpPr>
        <p:spPr>
          <a:xfrm>
            <a:off x="457200" y="2002536"/>
            <a:ext cx="128016" cy="658368"/>
          </a:xfrm>
          <a:prstGeom prst="roundRect">
            <a:avLst/>
          </a:prstGeom>
          <a:solidFill>
            <a:srgbClr val="0E7C86"/>
          </a:solidFill>
          <a:ln/>
        </p:spPr>
      </p:sp>
      <p:sp>
        <p:nvSpPr>
          <p:cNvPr id="9" name="Shape 7"/>
          <p:cNvSpPr/>
          <p:nvPr/>
        </p:nvSpPr>
        <p:spPr>
          <a:xfrm>
            <a:off x="585216" y="2002536"/>
            <a:ext cx="10661904" cy="658368"/>
          </a:xfrm>
          <a:prstGeom prst="roundRect">
            <a:avLst>
              <a:gd name="adj" fmla="val 8333"/>
            </a:avLst>
          </a:prstGeom>
          <a:solidFill>
            <a:srgbClr val="F6F7F9"/>
          </a:solidFill>
          <a:ln w="12700">
            <a:solidFill>
              <a:srgbClr val="E4E7EC"/>
            </a:solidFill>
            <a:prstDash val="solid"/>
          </a:ln>
        </p:spPr>
      </p:sp>
      <p:sp>
        <p:nvSpPr>
          <p:cNvPr id="10" name="Text 8"/>
          <p:cNvSpPr/>
          <p:nvPr/>
        </p:nvSpPr>
        <p:spPr>
          <a:xfrm>
            <a:off x="868680" y="2002536"/>
            <a:ext cx="3291840" cy="658368"/>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Model &amp; Fine-tuning</a:t>
            </a:r>
            <a:endParaRPr lang="en-US" sz="1400" dirty="0"/>
          </a:p>
        </p:txBody>
      </p:sp>
      <p:sp>
        <p:nvSpPr>
          <p:cNvPr id="11" name="Text 9"/>
          <p:cNvSpPr/>
          <p:nvPr/>
        </p:nvSpPr>
        <p:spPr>
          <a:xfrm>
            <a:off x="4206240" y="2002536"/>
            <a:ext cx="6858000" cy="658368"/>
          </a:xfrm>
          <a:prstGeom prst="rect">
            <a:avLst/>
          </a:prstGeom>
          <a:noFill/>
          <a:ln/>
        </p:spPr>
        <p:txBody>
          <a:bodyPr wrap="square" lIns="0" tIns="0" rIns="0" bIns="0" rtlCol="0" anchor="ctr"/>
          <a:lstStyle/>
          <a:p>
            <a:pPr marL="0" indent="0">
              <a:lnSpc>
                <a:spcPct val="110000"/>
              </a:lnSpc>
              <a:buNone/>
            </a:pPr>
            <a:r>
              <a:rPr lang="en-US" sz="1200" dirty="0">
                <a:solidFill>
                  <a:srgbClr val="1A2233"/>
                </a:solidFill>
                <a:latin typeface="Calibri" pitchFamily="34" charset="0"/>
                <a:ea typeface="Calibri" pitchFamily="34" charset="-122"/>
                <a:cs typeface="Calibri" pitchFamily="34" charset="-120"/>
              </a:rPr>
              <a:t>PyTorch · Transformers · PEFT · bitsandbytes · QLoRA</a:t>
            </a:r>
            <a:endParaRPr lang="en-US" sz="1200" dirty="0"/>
          </a:p>
        </p:txBody>
      </p:sp>
      <p:sp>
        <p:nvSpPr>
          <p:cNvPr id="12" name="Shape 10"/>
          <p:cNvSpPr/>
          <p:nvPr/>
        </p:nvSpPr>
        <p:spPr>
          <a:xfrm>
            <a:off x="457200" y="2770632"/>
            <a:ext cx="128016" cy="658368"/>
          </a:xfrm>
          <a:prstGeom prst="roundRect">
            <a:avLst/>
          </a:prstGeom>
          <a:solidFill>
            <a:srgbClr val="B97A1F"/>
          </a:solidFill>
          <a:ln/>
        </p:spPr>
      </p:sp>
      <p:sp>
        <p:nvSpPr>
          <p:cNvPr id="13" name="Shape 11"/>
          <p:cNvSpPr/>
          <p:nvPr/>
        </p:nvSpPr>
        <p:spPr>
          <a:xfrm>
            <a:off x="585216" y="2770632"/>
            <a:ext cx="10661904" cy="658368"/>
          </a:xfrm>
          <a:prstGeom prst="roundRect">
            <a:avLst>
              <a:gd name="adj" fmla="val 8333"/>
            </a:avLst>
          </a:prstGeom>
          <a:solidFill>
            <a:srgbClr val="F6F7F9"/>
          </a:solidFill>
          <a:ln w="12700">
            <a:solidFill>
              <a:srgbClr val="E4E7EC"/>
            </a:solidFill>
            <a:prstDash val="solid"/>
          </a:ln>
        </p:spPr>
      </p:sp>
      <p:sp>
        <p:nvSpPr>
          <p:cNvPr id="14" name="Text 12"/>
          <p:cNvSpPr/>
          <p:nvPr/>
        </p:nvSpPr>
        <p:spPr>
          <a:xfrm>
            <a:off x="868680" y="2770632"/>
            <a:ext cx="3291840" cy="658368"/>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Parsing &amp; Database</a:t>
            </a:r>
            <a:endParaRPr lang="en-US" sz="1400" dirty="0"/>
          </a:p>
        </p:txBody>
      </p:sp>
      <p:sp>
        <p:nvSpPr>
          <p:cNvPr id="15" name="Text 13"/>
          <p:cNvSpPr/>
          <p:nvPr/>
        </p:nvSpPr>
        <p:spPr>
          <a:xfrm>
            <a:off x="4206240" y="2770632"/>
            <a:ext cx="6858000" cy="658368"/>
          </a:xfrm>
          <a:prstGeom prst="rect">
            <a:avLst/>
          </a:prstGeom>
          <a:noFill/>
          <a:ln/>
        </p:spPr>
        <p:txBody>
          <a:bodyPr wrap="square" lIns="0" tIns="0" rIns="0" bIns="0" rtlCol="0" anchor="ctr"/>
          <a:lstStyle/>
          <a:p>
            <a:pPr marL="0" indent="0">
              <a:lnSpc>
                <a:spcPct val="110000"/>
              </a:lnSpc>
              <a:buNone/>
            </a:pPr>
            <a:r>
              <a:rPr lang="en-US" sz="1200" dirty="0">
                <a:solidFill>
                  <a:srgbClr val="1A2233"/>
                </a:solidFill>
                <a:latin typeface="Calibri" pitchFamily="34" charset="0"/>
                <a:ea typeface="Calibri" pitchFamily="34" charset="-122"/>
                <a:cs typeface="Calibri" pitchFamily="34" charset="-120"/>
              </a:rPr>
              <a:t>sqlglot · SQLite, read-only immutable connections</a:t>
            </a:r>
            <a:endParaRPr lang="en-US" sz="1200" dirty="0"/>
          </a:p>
        </p:txBody>
      </p:sp>
      <p:sp>
        <p:nvSpPr>
          <p:cNvPr id="16" name="Shape 14"/>
          <p:cNvSpPr/>
          <p:nvPr/>
        </p:nvSpPr>
        <p:spPr>
          <a:xfrm>
            <a:off x="457200" y="3538728"/>
            <a:ext cx="128016" cy="658368"/>
          </a:xfrm>
          <a:prstGeom prst="roundRect">
            <a:avLst/>
          </a:prstGeom>
          <a:solidFill>
            <a:srgbClr val="C0453A"/>
          </a:solidFill>
          <a:ln/>
        </p:spPr>
      </p:sp>
      <p:sp>
        <p:nvSpPr>
          <p:cNvPr id="17" name="Shape 15"/>
          <p:cNvSpPr/>
          <p:nvPr/>
        </p:nvSpPr>
        <p:spPr>
          <a:xfrm>
            <a:off x="585216" y="3538728"/>
            <a:ext cx="10661904" cy="658368"/>
          </a:xfrm>
          <a:prstGeom prst="roundRect">
            <a:avLst>
              <a:gd name="adj" fmla="val 8333"/>
            </a:avLst>
          </a:prstGeom>
          <a:solidFill>
            <a:srgbClr val="F6F7F9"/>
          </a:solidFill>
          <a:ln w="12700">
            <a:solidFill>
              <a:srgbClr val="E4E7EC"/>
            </a:solidFill>
            <a:prstDash val="solid"/>
          </a:ln>
        </p:spPr>
      </p:sp>
      <p:sp>
        <p:nvSpPr>
          <p:cNvPr id="18" name="Text 16"/>
          <p:cNvSpPr/>
          <p:nvPr/>
        </p:nvSpPr>
        <p:spPr>
          <a:xfrm>
            <a:off x="868680" y="3538728"/>
            <a:ext cx="3291840" cy="658368"/>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GPU, Sampling &amp; Logging</a:t>
            </a:r>
            <a:endParaRPr lang="en-US" sz="1400" dirty="0"/>
          </a:p>
        </p:txBody>
      </p:sp>
      <p:sp>
        <p:nvSpPr>
          <p:cNvPr id="19" name="Text 17"/>
          <p:cNvSpPr/>
          <p:nvPr/>
        </p:nvSpPr>
        <p:spPr>
          <a:xfrm>
            <a:off x="4206240" y="3538728"/>
            <a:ext cx="6858000" cy="658368"/>
          </a:xfrm>
          <a:prstGeom prst="rect">
            <a:avLst/>
          </a:prstGeom>
          <a:noFill/>
          <a:ln/>
        </p:spPr>
        <p:txBody>
          <a:bodyPr wrap="square" lIns="0" tIns="0" rIns="0" bIns="0" rtlCol="0" anchor="ctr"/>
          <a:lstStyle/>
          <a:p>
            <a:pPr marL="0" indent="0">
              <a:lnSpc>
                <a:spcPct val="110000"/>
              </a:lnSpc>
              <a:buNone/>
            </a:pPr>
            <a:r>
              <a:rPr lang="en-US" sz="1200" dirty="0">
                <a:solidFill>
                  <a:srgbClr val="1A2233"/>
                </a:solidFill>
                <a:latin typeface="Calibri" pitchFamily="34" charset="0"/>
                <a:ea typeface="Calibri" pitchFamily="34" charset="-122"/>
                <a:cs typeface="Calibri" pitchFamily="34" charset="-120"/>
              </a:rPr>
              <a:t>Colab CLI on NVIDIA L4 · vLLM · TensorBoard · JSON/JSONL logs</a:t>
            </a:r>
            <a:endParaRPr lang="en-US" sz="1200" dirty="0"/>
          </a:p>
        </p:txBody>
      </p:sp>
      <p:sp>
        <p:nvSpPr>
          <p:cNvPr id="20" name="Shape 18"/>
          <p:cNvSpPr/>
          <p:nvPr/>
        </p:nvSpPr>
        <p:spPr>
          <a:xfrm>
            <a:off x="457200" y="4306824"/>
            <a:ext cx="128016" cy="658368"/>
          </a:xfrm>
          <a:prstGeom prst="roundRect">
            <a:avLst/>
          </a:prstGeom>
          <a:solidFill>
            <a:srgbClr val="3E8E5A"/>
          </a:solidFill>
          <a:ln/>
        </p:spPr>
      </p:sp>
      <p:sp>
        <p:nvSpPr>
          <p:cNvPr id="21" name="Shape 19"/>
          <p:cNvSpPr/>
          <p:nvPr/>
        </p:nvSpPr>
        <p:spPr>
          <a:xfrm>
            <a:off x="585216" y="4306824"/>
            <a:ext cx="10661904" cy="658368"/>
          </a:xfrm>
          <a:prstGeom prst="roundRect">
            <a:avLst>
              <a:gd name="adj" fmla="val 8333"/>
            </a:avLst>
          </a:prstGeom>
          <a:solidFill>
            <a:srgbClr val="F6F7F9"/>
          </a:solidFill>
          <a:ln w="12700">
            <a:solidFill>
              <a:srgbClr val="E4E7EC"/>
            </a:solidFill>
            <a:prstDash val="solid"/>
          </a:ln>
        </p:spPr>
      </p:sp>
      <p:sp>
        <p:nvSpPr>
          <p:cNvPr id="22" name="Text 20"/>
          <p:cNvSpPr/>
          <p:nvPr/>
        </p:nvSpPr>
        <p:spPr>
          <a:xfrm>
            <a:off x="868680" y="4306824"/>
            <a:ext cx="3291840" cy="658368"/>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Planned Backend, Retrieval &amp; Frontend</a:t>
            </a:r>
            <a:endParaRPr lang="en-US" sz="1400" dirty="0"/>
          </a:p>
        </p:txBody>
      </p:sp>
      <p:sp>
        <p:nvSpPr>
          <p:cNvPr id="23" name="Text 21"/>
          <p:cNvSpPr/>
          <p:nvPr/>
        </p:nvSpPr>
        <p:spPr>
          <a:xfrm>
            <a:off x="4206240" y="4306824"/>
            <a:ext cx="6858000" cy="658368"/>
          </a:xfrm>
          <a:prstGeom prst="rect">
            <a:avLst/>
          </a:prstGeom>
          <a:noFill/>
          <a:ln/>
        </p:spPr>
        <p:txBody>
          <a:bodyPr wrap="square" lIns="0" tIns="0" rIns="0" bIns="0" rtlCol="0" anchor="ctr"/>
          <a:lstStyle/>
          <a:p>
            <a:pPr marL="0" indent="0">
              <a:lnSpc>
                <a:spcPct val="110000"/>
              </a:lnSpc>
              <a:buNone/>
            </a:pPr>
            <a:r>
              <a:rPr lang="en-US" sz="1200" dirty="0">
                <a:solidFill>
                  <a:srgbClr val="1A2233"/>
                </a:solidFill>
                <a:latin typeface="Calibri" pitchFamily="34" charset="0"/>
                <a:ea typeface="Calibri" pitchFamily="34" charset="-122"/>
                <a:cs typeface="Calibri" pitchFamily="34" charset="-120"/>
              </a:rPr>
              <a:t>FastAPI backend · FAISS + sentence-transformer retrieval · Gradio/Streamlit, then React</a:t>
            </a:r>
            <a:endParaRPr lang="en-US" sz="1200" dirty="0"/>
          </a:p>
        </p:txBody>
      </p:sp>
      <p:sp>
        <p:nvSpPr>
          <p:cNvPr id="24" name="Shape 22"/>
          <p:cNvSpPr/>
          <p:nvPr/>
        </p:nvSpPr>
        <p:spPr>
          <a:xfrm>
            <a:off x="457200" y="5212080"/>
            <a:ext cx="11247120" cy="1005840"/>
          </a:xfrm>
          <a:prstGeom prst="roundRect">
            <a:avLst>
              <a:gd name="adj" fmla="val 7273"/>
            </a:avLst>
          </a:prstGeom>
          <a:solidFill>
            <a:srgbClr val="13234B"/>
          </a:solidFill>
          <a:ln/>
        </p:spPr>
      </p:sp>
      <p:sp>
        <p:nvSpPr>
          <p:cNvPr id="25" name="Text 23"/>
          <p:cNvSpPr/>
          <p:nvPr/>
        </p:nvSpPr>
        <p:spPr>
          <a:xfrm>
            <a:off x="777240" y="5212080"/>
            <a:ext cx="2103120" cy="1005840"/>
          </a:xfrm>
          <a:prstGeom prst="rect">
            <a:avLst/>
          </a:prstGeom>
          <a:noFill/>
          <a:ln/>
        </p:spPr>
        <p:txBody>
          <a:bodyPr wrap="square" lIns="0" tIns="0" rIns="0" bIns="0" rtlCol="0" anchor="ctr"/>
          <a:lstStyle/>
          <a:p>
            <a:pPr marL="0" indent="0">
              <a:buNone/>
            </a:pPr>
            <a:r>
              <a:rPr lang="en-US" sz="1350" b="1" dirty="0">
                <a:solidFill>
                  <a:srgbClr val="E8A33D"/>
                </a:solidFill>
                <a:latin typeface="Cambria" pitchFamily="34" charset="0"/>
                <a:ea typeface="Cambria" pitchFamily="34" charset="-122"/>
                <a:cs typeface="Cambria" pitchFamily="34" charset="-120"/>
              </a:rPr>
              <a:t>External services</a:t>
            </a:r>
            <a:endParaRPr lang="en-US" sz="1350" dirty="0"/>
          </a:p>
        </p:txBody>
      </p:sp>
      <p:sp>
        <p:nvSpPr>
          <p:cNvPr id="26" name="Text 24"/>
          <p:cNvSpPr/>
          <p:nvPr/>
        </p:nvSpPr>
        <p:spPr>
          <a:xfrm>
            <a:off x="3017520" y="5212080"/>
            <a:ext cx="8503920" cy="1005840"/>
          </a:xfrm>
          <a:prstGeom prst="rect">
            <a:avLst/>
          </a:prstGeom>
          <a:noFill/>
          <a:ln/>
        </p:spPr>
        <p:txBody>
          <a:bodyPr wrap="square" lIns="0" tIns="0" rIns="0" bIns="0" rtlCol="0" anchor="ctr"/>
          <a:lstStyle/>
          <a:p>
            <a:pPr marL="0" indent="0">
              <a:lnSpc>
                <a:spcPct val="120000"/>
              </a:lnSpc>
              <a:buNone/>
            </a:pPr>
            <a:r>
              <a:rPr lang="en-US" sz="1150" dirty="0">
                <a:solidFill>
                  <a:srgbClr val="E3E8F2"/>
                </a:solidFill>
                <a:latin typeface="Calibri" pitchFamily="34" charset="0"/>
                <a:ea typeface="Calibri" pitchFamily="34" charset="-122"/>
                <a:cs typeface="Calibri" pitchFamily="34" charset="-120"/>
              </a:rPr>
              <a:t>Hugging Face for pinned model &amp; dataset revisions  ·  Google Colab for the remote L4 GPU (create runtime, run scripts, stream logs, download artifacts, and stop the session)  ·  Google Drive for verified cold storage of inactive checkpoints only</a:t>
            </a:r>
            <a:endParaRPr lang="en-US" sz="1150" dirty="0"/>
          </a:p>
        </p:txBody>
      </p:sp>
      <p:sp>
        <p:nvSpPr>
          <p:cNvPr id="27" name="Text 2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189D36E3-A388-6CEF-4501-92CFEB8C7414}"/>
              </a:ext>
            </a:extLst>
          </p:cNvPr>
          <p:cNvSpPr/>
          <p:nvPr/>
        </p:nvSpPr>
        <p:spPr>
          <a:xfrm>
            <a:off x="6651055" y="1031209"/>
            <a:ext cx="5005137" cy="2615015"/>
          </a:xfrm>
          <a:prstGeom prst="roundRect">
            <a:avLst>
              <a:gd name="adj" fmla="val 3386"/>
            </a:avLst>
          </a:prstGeom>
          <a:solidFill>
            <a:schemeClr val="accent5">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2">
                  <a:lumMod val="20000"/>
                  <a:lumOff val="80000"/>
                </a:schemeClr>
              </a:solidFill>
            </a:endParaRPr>
          </a:p>
        </p:txBody>
      </p:sp>
      <p:graphicFrame>
        <p:nvGraphicFramePr>
          <p:cNvPr id="13" name="Table 12">
            <a:extLst>
              <a:ext uri="{FF2B5EF4-FFF2-40B4-BE49-F238E27FC236}">
                <a16:creationId xmlns:a16="http://schemas.microsoft.com/office/drawing/2014/main" id="{24402A4F-8BF8-84AD-C7A4-1C8439ED80EF}"/>
              </a:ext>
            </a:extLst>
          </p:cNvPr>
          <p:cNvGraphicFramePr>
            <a:graphicFrameLocks noGrp="1"/>
          </p:cNvGraphicFramePr>
          <p:nvPr>
            <p:extLst>
              <p:ext uri="{D42A27DB-BD31-4B8C-83A1-F6EECF244321}">
                <p14:modId xmlns:p14="http://schemas.microsoft.com/office/powerpoint/2010/main" val="2960434310"/>
              </p:ext>
            </p:extLst>
          </p:nvPr>
        </p:nvGraphicFramePr>
        <p:xfrm>
          <a:off x="341320" y="1309035"/>
          <a:ext cx="6041032" cy="4927956"/>
        </p:xfrm>
        <a:graphic>
          <a:graphicData uri="http://schemas.openxmlformats.org/drawingml/2006/table">
            <a:tbl>
              <a:tblPr firstRow="1" firstCol="1" bandRow="1"/>
              <a:tblGrid>
                <a:gridCol w="1761282">
                  <a:extLst>
                    <a:ext uri="{9D8B030D-6E8A-4147-A177-3AD203B41FA5}">
                      <a16:colId xmlns:a16="http://schemas.microsoft.com/office/drawing/2014/main" val="2118898280"/>
                    </a:ext>
                  </a:extLst>
                </a:gridCol>
                <a:gridCol w="2139875">
                  <a:extLst>
                    <a:ext uri="{9D8B030D-6E8A-4147-A177-3AD203B41FA5}">
                      <a16:colId xmlns:a16="http://schemas.microsoft.com/office/drawing/2014/main" val="3345937693"/>
                    </a:ext>
                  </a:extLst>
                </a:gridCol>
                <a:gridCol w="2139875">
                  <a:extLst>
                    <a:ext uri="{9D8B030D-6E8A-4147-A177-3AD203B41FA5}">
                      <a16:colId xmlns:a16="http://schemas.microsoft.com/office/drawing/2014/main" val="1185830918"/>
                    </a:ext>
                  </a:extLst>
                </a:gridCol>
              </a:tblGrid>
              <a:tr h="270978">
                <a:tc>
                  <a:txBody>
                    <a:bodyPr/>
                    <a:lstStyle/>
                    <a:p>
                      <a:pPr marL="0" marR="0" algn="l">
                        <a:lnSpc>
                          <a:spcPct val="115000"/>
                        </a:lnSpc>
                        <a:spcAft>
                          <a:spcPts val="800"/>
                        </a:spcAft>
                        <a:buNone/>
                      </a:pPr>
                      <a:r>
                        <a:rPr lang="en-IN" sz="1400" b="1"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Stage</a:t>
                      </a:r>
                      <a:endPar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a:noFill/>
                    </a:lnR>
                    <a:lnT w="19050" cap="flat" cmpd="dbl"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IN" sz="1400" b="1"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Input</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a:noFill/>
                    </a:lnL>
                    <a:lnR>
                      <a:noFill/>
                    </a:lnR>
                    <a:lnT w="19050" cap="flat" cmpd="dbl"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IN" sz="1400" b="1"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Output</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a:noFill/>
                    </a:lnL>
                    <a:lnR w="19050" cap="flat" cmpd="dbl" algn="ctr">
                      <a:solidFill>
                        <a:srgbClr val="4472C4"/>
                      </a:solidFill>
                      <a:prstDash val="solid"/>
                      <a:round/>
                      <a:headEnd type="none" w="med" len="med"/>
                      <a:tailEnd type="none" w="med" len="med"/>
                    </a:lnR>
                    <a:lnT w="19050" cap="flat" cmpd="dbl" algn="ctr">
                      <a:solidFill>
                        <a:srgbClr val="4472C4"/>
                      </a:solidFill>
                      <a:prstDash val="solid"/>
                      <a:round/>
                      <a:headEnd type="none" w="med" len="med"/>
                      <a:tailEnd type="none" w="med" len="med"/>
                    </a:lnT>
                    <a:lnB w="12700" cap="flat" cmpd="sng" algn="ctr">
                      <a:solidFill>
                        <a:srgbClr val="4472C4"/>
                      </a:solidFill>
                      <a:prstDash val="solid"/>
                      <a:round/>
                      <a:headEnd type="none" w="med" len="med"/>
                      <a:tailEnd type="none" w="med" len="med"/>
                    </a:lnB>
                    <a:solidFill>
                      <a:srgbClr val="FFFFFF"/>
                    </a:solidFill>
                  </a:tcPr>
                </a:tc>
                <a:extLst>
                  <a:ext uri="{0D108BD9-81ED-4DB2-BD59-A6C34878D82A}">
                    <a16:rowId xmlns:a16="http://schemas.microsoft.com/office/drawing/2014/main" val="2111204341"/>
                  </a:ext>
                </a:extLst>
              </a:tr>
              <a:tr h="517442">
                <a:tc>
                  <a:txBody>
                    <a:bodyPr/>
                    <a:lstStyle/>
                    <a:p>
                      <a:pPr marL="0" marR="0" algn="r">
                        <a:lnSpc>
                          <a:spcPct val="115000"/>
                        </a:lnSpc>
                        <a:spcAft>
                          <a:spcPts val="800"/>
                        </a:spcAft>
                        <a:buNone/>
                      </a:pPr>
                      <a:r>
                        <a:rPr lang="en-IN" sz="140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Request validation</a:t>
                      </a:r>
                      <a:endPar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Question, database ID, execution mode</a:t>
                      </a:r>
                    </a:p>
                  </a:txBody>
                  <a:tcPr marL="74073" marR="74073" marT="0" marB="0">
                    <a:lnL w="12700" cap="flat" cmpd="sng" algn="ctr">
                      <a:solidFill>
                        <a:srgbClr val="4472C4"/>
                      </a:solidFill>
                      <a:prstDash val="solid"/>
                      <a:round/>
                      <a:headEnd type="none" w="med" len="med"/>
                      <a:tailEnd type="none" w="med" len="med"/>
                    </a:lnL>
                    <a:lnR>
                      <a:noFill/>
                    </a:lnR>
                    <a:lnT w="12700" cap="flat" cmpd="sng" algn="ctr">
                      <a:solidFill>
                        <a:srgbClr val="4472C4"/>
                      </a:solidFill>
                      <a:prstDash val="solid"/>
                      <a:round/>
                      <a:headEnd type="none" w="med" len="med"/>
                      <a:tailEnd type="none" w="med" len="med"/>
                    </a:lnT>
                    <a:lnB>
                      <a:noFill/>
                    </a:lnB>
                    <a:solidFill>
                      <a:srgbClr val="D9E2F3"/>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Valid request or typed error</a:t>
                      </a:r>
                    </a:p>
                  </a:txBody>
                  <a:tcPr marL="74073" marR="74073" marT="0" marB="0">
                    <a:lnL>
                      <a:noFill/>
                    </a:lnL>
                    <a:lnR w="19050" cap="flat" cmpd="dbl" algn="ctr">
                      <a:solidFill>
                        <a:srgbClr val="4472C4"/>
                      </a:solidFill>
                      <a:prstDash val="solid"/>
                      <a:round/>
                      <a:headEnd type="none" w="med" len="med"/>
                      <a:tailEnd type="none" w="med" len="med"/>
                    </a:lnR>
                    <a:lnT w="12700" cap="flat" cmpd="sng" algn="ctr">
                      <a:solidFill>
                        <a:srgbClr val="4472C4"/>
                      </a:solidFill>
                      <a:prstDash val="solid"/>
                      <a:round/>
                      <a:headEnd type="none" w="med" len="med"/>
                      <a:tailEnd type="none" w="med" len="med"/>
                    </a:lnT>
                    <a:lnB>
                      <a:noFill/>
                    </a:lnB>
                    <a:solidFill>
                      <a:srgbClr val="D9E2F3"/>
                    </a:solidFill>
                  </a:tcPr>
                </a:tc>
                <a:extLst>
                  <a:ext uri="{0D108BD9-81ED-4DB2-BD59-A6C34878D82A}">
                    <a16:rowId xmlns:a16="http://schemas.microsoft.com/office/drawing/2014/main" val="1365976552"/>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Schema/retrieval</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Question and authorized database</a:t>
                      </a:r>
                    </a:p>
                  </a:txBody>
                  <a:tcPr marL="74073" marR="74073" marT="0" marB="0">
                    <a:lnL w="12700" cap="flat" cmpd="sng" algn="ctr">
                      <a:solidFill>
                        <a:srgbClr val="4472C4"/>
                      </a:solidFill>
                      <a:prstDash val="solid"/>
                      <a:round/>
                      <a:headEnd type="none" w="med" len="med"/>
                      <a:tailEnd type="none" w="med" len="med"/>
                    </a:lnL>
                    <a:lnR>
                      <a:noFill/>
                    </a:lnR>
                    <a:lnT>
                      <a:noFill/>
                    </a:lnT>
                    <a:lnB>
                      <a:noFill/>
                    </a:lnB>
                    <a:no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Selected tables, columns, keys, and values</a:t>
                      </a:r>
                    </a:p>
                  </a:txBody>
                  <a:tcPr marL="74073" marR="74073" marT="0" marB="0">
                    <a:lnL>
                      <a:noFill/>
                    </a:lnL>
                    <a:lnR w="19050" cap="flat" cmpd="dbl" algn="ctr">
                      <a:solidFill>
                        <a:srgbClr val="4472C4"/>
                      </a:solidFill>
                      <a:prstDash val="solid"/>
                      <a:round/>
                      <a:headEnd type="none" w="med" len="med"/>
                      <a:tailEnd type="none" w="med" len="med"/>
                    </a:lnR>
                    <a:lnT>
                      <a:noFill/>
                    </a:lnT>
                    <a:lnB>
                      <a:noFill/>
                    </a:lnB>
                    <a:noFill/>
                  </a:tcPr>
                </a:tc>
                <a:extLst>
                  <a:ext uri="{0D108BD9-81ED-4DB2-BD59-A6C34878D82A}">
                    <a16:rowId xmlns:a16="http://schemas.microsoft.com/office/drawing/2014/main" val="882059791"/>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Prompt assembly</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Question and schema context</a:t>
                      </a:r>
                    </a:p>
                  </a:txBody>
                  <a:tcPr marL="74073" marR="74073" marT="0" marB="0">
                    <a:lnL w="12700" cap="flat" cmpd="sng" algn="ctr">
                      <a:solidFill>
                        <a:srgbClr val="4472C4"/>
                      </a:solidFill>
                      <a:prstDash val="solid"/>
                      <a:round/>
                      <a:headEnd type="none" w="med" len="med"/>
                      <a:tailEnd type="none" w="med" len="med"/>
                    </a:lnL>
                    <a:lnR>
                      <a:noFill/>
                    </a:lnR>
                    <a:lnT>
                      <a:noFill/>
                    </a:lnT>
                    <a:lnB>
                      <a:noFill/>
                    </a:lnB>
                    <a:solidFill>
                      <a:srgbClr val="D9E2F3"/>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Chat messages</a:t>
                      </a:r>
                    </a:p>
                  </a:txBody>
                  <a:tcPr marL="74073" marR="74073" marT="0" marB="0">
                    <a:lnL>
                      <a:noFill/>
                    </a:lnL>
                    <a:lnR w="19050" cap="flat" cmpd="dbl" algn="ctr">
                      <a:solidFill>
                        <a:srgbClr val="4472C4"/>
                      </a:solidFill>
                      <a:prstDash val="solid"/>
                      <a:round/>
                      <a:headEnd type="none" w="med" len="med"/>
                      <a:tailEnd type="none" w="med" len="med"/>
                    </a:lnR>
                    <a:lnT>
                      <a:noFill/>
                    </a:lnT>
                    <a:lnB>
                      <a:noFill/>
                    </a:lnB>
                    <a:solidFill>
                      <a:srgbClr val="D9E2F3"/>
                    </a:solidFill>
                  </a:tcPr>
                </a:tc>
                <a:extLst>
                  <a:ext uri="{0D108BD9-81ED-4DB2-BD59-A6C34878D82A}">
                    <a16:rowId xmlns:a16="http://schemas.microsoft.com/office/drawing/2014/main" val="1148558258"/>
                  </a:ext>
                </a:extLst>
              </a:tr>
              <a:tr h="517442">
                <a:tc>
                  <a:txBody>
                    <a:bodyPr/>
                    <a:lstStyle/>
                    <a:p>
                      <a:pPr marL="0" marR="0" algn="r">
                        <a:lnSpc>
                          <a:spcPct val="115000"/>
                        </a:lnSpc>
                        <a:spcAft>
                          <a:spcPts val="800"/>
                        </a:spcAft>
                        <a:buNone/>
                      </a:pPr>
                      <a:r>
                        <a:rPr lang="en-IN" sz="1400" i="1" kern="100" dirty="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Model inference</a:t>
                      </a:r>
                      <a:endPar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Tokenized messages</a:t>
                      </a:r>
                    </a:p>
                  </a:txBody>
                  <a:tcPr marL="74073" marR="74073" marT="0" marB="0">
                    <a:lnL w="12700" cap="flat" cmpd="sng" algn="ctr">
                      <a:solidFill>
                        <a:srgbClr val="4472C4"/>
                      </a:solidFill>
                      <a:prstDash val="solid"/>
                      <a:round/>
                      <a:headEnd type="none" w="med" len="med"/>
                      <a:tailEnd type="none" w="med" len="med"/>
                    </a:lnL>
                    <a:lnR>
                      <a:noFill/>
                    </a:lnR>
                    <a:lnT>
                      <a:noFill/>
                    </a:lnT>
                    <a:lnB>
                      <a:noFill/>
                    </a:lnB>
                    <a:noFill/>
                  </a:tcPr>
                </a:tc>
                <a:tc>
                  <a:txBody>
                    <a:bodyPr/>
                    <a:lstStyle/>
                    <a:p>
                      <a:pPr marL="0" marR="0">
                        <a:lnSpc>
                          <a:spcPct val="115000"/>
                        </a:lnSpc>
                        <a:spcAft>
                          <a:spcPts val="800"/>
                        </a:spcAft>
                        <a:buNone/>
                      </a:pPr>
                      <a:r>
                        <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Raw generated text and token counts</a:t>
                      </a:r>
                    </a:p>
                  </a:txBody>
                  <a:tcPr marL="74073" marR="74073" marT="0" marB="0">
                    <a:lnL>
                      <a:noFill/>
                    </a:lnL>
                    <a:lnR w="19050" cap="flat" cmpd="dbl" algn="ctr">
                      <a:solidFill>
                        <a:srgbClr val="4472C4"/>
                      </a:solidFill>
                      <a:prstDash val="solid"/>
                      <a:round/>
                      <a:headEnd type="none" w="med" len="med"/>
                      <a:tailEnd type="none" w="med" len="med"/>
                    </a:lnR>
                    <a:lnT>
                      <a:noFill/>
                    </a:lnT>
                    <a:lnB>
                      <a:noFill/>
                    </a:lnB>
                    <a:noFill/>
                  </a:tcPr>
                </a:tc>
                <a:extLst>
                  <a:ext uri="{0D108BD9-81ED-4DB2-BD59-A6C34878D82A}">
                    <a16:rowId xmlns:a16="http://schemas.microsoft.com/office/drawing/2014/main" val="583072292"/>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SQL post-processing</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Raw text</a:t>
                      </a:r>
                    </a:p>
                  </a:txBody>
                  <a:tcPr marL="74073" marR="74073" marT="0" marB="0">
                    <a:lnL w="12700" cap="flat" cmpd="sng" algn="ctr">
                      <a:solidFill>
                        <a:srgbClr val="4472C4"/>
                      </a:solidFill>
                      <a:prstDash val="solid"/>
                      <a:round/>
                      <a:headEnd type="none" w="med" len="med"/>
                      <a:tailEnd type="none" w="med" len="med"/>
                    </a:lnL>
                    <a:lnR>
                      <a:noFill/>
                    </a:lnR>
                    <a:lnT>
                      <a:noFill/>
                    </a:lnT>
                    <a:lnB>
                      <a:noFill/>
                    </a:lnB>
                    <a:solidFill>
                      <a:srgbClr val="D9E2F3"/>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Extracted SQL, canonical SQL, syntax status</a:t>
                      </a:r>
                    </a:p>
                  </a:txBody>
                  <a:tcPr marL="74073" marR="74073" marT="0" marB="0">
                    <a:lnL>
                      <a:noFill/>
                    </a:lnL>
                    <a:lnR w="19050" cap="flat" cmpd="dbl" algn="ctr">
                      <a:solidFill>
                        <a:srgbClr val="4472C4"/>
                      </a:solidFill>
                      <a:prstDash val="solid"/>
                      <a:round/>
                      <a:headEnd type="none" w="med" len="med"/>
                      <a:tailEnd type="none" w="med" len="med"/>
                    </a:lnR>
                    <a:lnT>
                      <a:noFill/>
                    </a:lnT>
                    <a:lnB>
                      <a:noFill/>
                    </a:lnB>
                    <a:solidFill>
                      <a:srgbClr val="D9E2F3"/>
                    </a:solidFill>
                  </a:tcPr>
                </a:tc>
                <a:extLst>
                  <a:ext uri="{0D108BD9-81ED-4DB2-BD59-A6C34878D82A}">
                    <a16:rowId xmlns:a16="http://schemas.microsoft.com/office/drawing/2014/main" val="1526647712"/>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Safety validation</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Parsed SQL</a:t>
                      </a:r>
                    </a:p>
                  </a:txBody>
                  <a:tcPr marL="74073" marR="74073" marT="0" marB="0">
                    <a:lnL w="12700" cap="flat" cmpd="sng" algn="ctr">
                      <a:solidFill>
                        <a:srgbClr val="4472C4"/>
                      </a:solidFill>
                      <a:prstDash val="solid"/>
                      <a:round/>
                      <a:headEnd type="none" w="med" len="med"/>
                      <a:tailEnd type="none" w="med" len="med"/>
                    </a:lnL>
                    <a:lnR>
                      <a:noFill/>
                    </a:lnR>
                    <a:lnT>
                      <a:noFill/>
                    </a:lnT>
                    <a:lnB>
                      <a:noFill/>
                    </a:lnB>
                    <a:no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Allowed/rejected decision and violation type</a:t>
                      </a:r>
                    </a:p>
                  </a:txBody>
                  <a:tcPr marL="74073" marR="74073" marT="0" marB="0">
                    <a:lnL>
                      <a:noFill/>
                    </a:lnL>
                    <a:lnR w="19050" cap="flat" cmpd="dbl" algn="ctr">
                      <a:solidFill>
                        <a:srgbClr val="4472C4"/>
                      </a:solidFill>
                      <a:prstDash val="solid"/>
                      <a:round/>
                      <a:headEnd type="none" w="med" len="med"/>
                      <a:tailEnd type="none" w="med" len="med"/>
                    </a:lnR>
                    <a:lnT>
                      <a:noFill/>
                    </a:lnT>
                    <a:lnB>
                      <a:noFill/>
                    </a:lnB>
                    <a:noFill/>
                  </a:tcPr>
                </a:tc>
                <a:extLst>
                  <a:ext uri="{0D108BD9-81ED-4DB2-BD59-A6C34878D82A}">
                    <a16:rowId xmlns:a16="http://schemas.microsoft.com/office/drawing/2014/main" val="2818940102"/>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Execution</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Approved SQL and database</a:t>
                      </a:r>
                    </a:p>
                  </a:txBody>
                  <a:tcPr marL="74073" marR="74073" marT="0" marB="0">
                    <a:lnL w="12700" cap="flat" cmpd="sng" algn="ctr">
                      <a:solidFill>
                        <a:srgbClr val="4472C4"/>
                      </a:solidFill>
                      <a:prstDash val="solid"/>
                      <a:round/>
                      <a:headEnd type="none" w="med" len="med"/>
                      <a:tailEnd type="none" w="med" len="med"/>
                    </a:lnL>
                    <a:lnR>
                      <a:noFill/>
                    </a:lnR>
                    <a:lnT>
                      <a:noFill/>
                    </a:lnT>
                    <a:lnB>
                      <a:noFill/>
                    </a:lnB>
                    <a:solidFill>
                      <a:srgbClr val="D9E2F3"/>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Column names, bounded rows, status, and latency</a:t>
                      </a:r>
                    </a:p>
                  </a:txBody>
                  <a:tcPr marL="74073" marR="74073" marT="0" marB="0">
                    <a:lnL>
                      <a:noFill/>
                    </a:lnL>
                    <a:lnR w="19050" cap="flat" cmpd="dbl" algn="ctr">
                      <a:solidFill>
                        <a:srgbClr val="4472C4"/>
                      </a:solidFill>
                      <a:prstDash val="solid"/>
                      <a:round/>
                      <a:headEnd type="none" w="med" len="med"/>
                      <a:tailEnd type="none" w="med" len="med"/>
                    </a:lnR>
                    <a:lnT>
                      <a:noFill/>
                    </a:lnT>
                    <a:lnB>
                      <a:noFill/>
                    </a:lnB>
                    <a:solidFill>
                      <a:srgbClr val="D9E2F3"/>
                    </a:solidFill>
                  </a:tcPr>
                </a:tc>
                <a:extLst>
                  <a:ext uri="{0D108BD9-81ED-4DB2-BD59-A6C34878D82A}">
                    <a16:rowId xmlns:a16="http://schemas.microsoft.com/office/drawing/2014/main" val="3539260662"/>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Selection</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a:noFill/>
                    </a:lnB>
                    <a:solidFill>
                      <a:srgbClr val="FFFFFF"/>
                    </a:solidFill>
                  </a:tcPr>
                </a:tc>
                <a:tc>
                  <a:txBody>
                    <a:bodyPr/>
                    <a:lstStyle/>
                    <a:p>
                      <a:pPr marL="0" marR="0">
                        <a:lnSpc>
                          <a:spcPct val="115000"/>
                        </a:lnSpc>
                        <a:spcAft>
                          <a:spcPts val="800"/>
                        </a:spcAft>
                        <a:buNone/>
                      </a:pPr>
                      <a:r>
                        <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One or more candidate execution results</a:t>
                      </a:r>
                    </a:p>
                  </a:txBody>
                  <a:tcPr marL="74073" marR="74073" marT="0" marB="0">
                    <a:lnL w="12700" cap="flat" cmpd="sng" algn="ctr">
                      <a:solidFill>
                        <a:srgbClr val="4472C4"/>
                      </a:solidFill>
                      <a:prstDash val="solid"/>
                      <a:round/>
                      <a:headEnd type="none" w="med" len="med"/>
                      <a:tailEnd type="none" w="med" len="med"/>
                    </a:lnL>
                    <a:lnR>
                      <a:noFill/>
                    </a:lnR>
                    <a:lnT>
                      <a:noFill/>
                    </a:lnT>
                    <a:lnB>
                      <a:noFill/>
                    </a:lnB>
                    <a:no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Chosen SQL and selection reason</a:t>
                      </a:r>
                    </a:p>
                  </a:txBody>
                  <a:tcPr marL="74073" marR="74073" marT="0" marB="0">
                    <a:lnL>
                      <a:noFill/>
                    </a:lnL>
                    <a:lnR w="19050" cap="flat" cmpd="dbl" algn="ctr">
                      <a:solidFill>
                        <a:srgbClr val="4472C4"/>
                      </a:solidFill>
                      <a:prstDash val="solid"/>
                      <a:round/>
                      <a:headEnd type="none" w="med" len="med"/>
                      <a:tailEnd type="none" w="med" len="med"/>
                    </a:lnR>
                    <a:lnT>
                      <a:noFill/>
                    </a:lnT>
                    <a:lnB>
                      <a:noFill/>
                    </a:lnB>
                    <a:noFill/>
                  </a:tcPr>
                </a:tc>
                <a:extLst>
                  <a:ext uri="{0D108BD9-81ED-4DB2-BD59-A6C34878D82A}">
                    <a16:rowId xmlns:a16="http://schemas.microsoft.com/office/drawing/2014/main" val="2294300286"/>
                  </a:ext>
                </a:extLst>
              </a:tr>
              <a:tr h="517442">
                <a:tc>
                  <a:txBody>
                    <a:bodyPr/>
                    <a:lstStyle/>
                    <a:p>
                      <a:pPr marL="0" marR="0" algn="r">
                        <a:lnSpc>
                          <a:spcPct val="115000"/>
                        </a:lnSpc>
                        <a:spcAft>
                          <a:spcPts val="800"/>
                        </a:spcAft>
                        <a:buNone/>
                      </a:pPr>
                      <a:r>
                        <a:rPr lang="en-IN" sz="1400" i="1" kern="100">
                          <a:solidFill>
                            <a:srgbClr val="2F5496"/>
                          </a:solidFill>
                          <a:effectLst/>
                          <a:latin typeface="Calibri Light" panose="020F0302020204030204" pitchFamily="34" charset="0"/>
                          <a:ea typeface="Times New Roman" panose="02020603050405020304" pitchFamily="18" charset="0"/>
                          <a:cs typeface="Times New Roman" panose="02020603050405020304" pitchFamily="18" charset="0"/>
                        </a:rPr>
                        <a:t>Presentation</a:t>
                      </a:r>
                      <a:endPar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endParaRPr>
                    </a:p>
                  </a:txBody>
                  <a:tcPr marL="74073" marR="74073" marT="0" marB="0">
                    <a:lnL w="19050" cap="flat" cmpd="dbl" algn="ctr">
                      <a:solidFill>
                        <a:srgbClr val="4472C4"/>
                      </a:solidFill>
                      <a:prstDash val="solid"/>
                      <a:round/>
                      <a:headEnd type="none" w="med" len="med"/>
                      <a:tailEnd type="none" w="med" len="med"/>
                    </a:lnL>
                    <a:lnR w="12700" cap="flat" cmpd="sng" algn="ctr">
                      <a:solidFill>
                        <a:srgbClr val="4472C4"/>
                      </a:solidFill>
                      <a:prstDash val="solid"/>
                      <a:round/>
                      <a:headEnd type="none" w="med" len="med"/>
                      <a:tailEnd type="none" w="med" len="med"/>
                    </a:lnR>
                    <a:lnT>
                      <a:noFill/>
                    </a:lnT>
                    <a:lnB w="19050" cap="flat" cmpd="dbl" algn="ctr">
                      <a:solidFill>
                        <a:srgbClr val="4472C4"/>
                      </a:solidFill>
                      <a:prstDash val="solid"/>
                      <a:round/>
                      <a:headEnd type="none" w="med" len="med"/>
                      <a:tailEnd type="none" w="med" len="med"/>
                    </a:lnB>
                    <a:solidFill>
                      <a:srgbClr val="FFFFFF"/>
                    </a:solidFill>
                  </a:tcPr>
                </a:tc>
                <a:tc>
                  <a:txBody>
                    <a:bodyPr/>
                    <a:lstStyle/>
                    <a:p>
                      <a:pPr marL="0" marR="0">
                        <a:lnSpc>
                          <a:spcPct val="115000"/>
                        </a:lnSpc>
                        <a:spcAft>
                          <a:spcPts val="800"/>
                        </a:spcAft>
                        <a:buNone/>
                      </a:pPr>
                      <a:r>
                        <a:rPr lang="en-IN" sz="1300" kern="10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Question, SQL, and result rows</a:t>
                      </a:r>
                    </a:p>
                  </a:txBody>
                  <a:tcPr marL="74073" marR="74073" marT="0" marB="0">
                    <a:lnL w="12700" cap="flat" cmpd="sng" algn="ctr">
                      <a:solidFill>
                        <a:srgbClr val="4472C4"/>
                      </a:solidFill>
                      <a:prstDash val="solid"/>
                      <a:round/>
                      <a:headEnd type="none" w="med" len="med"/>
                      <a:tailEnd type="none" w="med" len="med"/>
                    </a:lnL>
                    <a:lnR>
                      <a:noFill/>
                    </a:lnR>
                    <a:lnT>
                      <a:noFill/>
                    </a:lnT>
                    <a:lnB w="19050" cap="flat" cmpd="dbl" algn="ctr">
                      <a:solidFill>
                        <a:srgbClr val="4472C4"/>
                      </a:solidFill>
                      <a:prstDash val="solid"/>
                      <a:round/>
                      <a:headEnd type="none" w="med" len="med"/>
                      <a:tailEnd type="none" w="med" len="med"/>
                    </a:lnB>
                    <a:solidFill>
                      <a:srgbClr val="D9E2F3"/>
                    </a:solidFill>
                  </a:tcPr>
                </a:tc>
                <a:tc>
                  <a:txBody>
                    <a:bodyPr/>
                    <a:lstStyle/>
                    <a:p>
                      <a:pPr marL="0" marR="0">
                        <a:lnSpc>
                          <a:spcPct val="115000"/>
                        </a:lnSpc>
                        <a:spcAft>
                          <a:spcPts val="800"/>
                        </a:spcAft>
                        <a:buNone/>
                      </a:pPr>
                      <a:r>
                        <a:rPr lang="en-IN" sz="1300" kern="100" dirty="0">
                          <a:solidFill>
                            <a:srgbClr val="2F5496"/>
                          </a:solidFill>
                          <a:effectLst/>
                          <a:latin typeface="Calibri" panose="020F0502020204030204" pitchFamily="34" charset="0"/>
                          <a:ea typeface="Calibri" panose="020F0502020204030204" pitchFamily="34" charset="0"/>
                          <a:cs typeface="Times New Roman" panose="02020603050405020304" pitchFamily="18" charset="0"/>
                        </a:rPr>
                        <a:t>Natural-language answer and chart specification</a:t>
                      </a:r>
                    </a:p>
                  </a:txBody>
                  <a:tcPr marL="74073" marR="74073" marT="0" marB="0">
                    <a:lnL>
                      <a:noFill/>
                    </a:lnL>
                    <a:lnR w="19050" cap="flat" cmpd="dbl" algn="ctr">
                      <a:solidFill>
                        <a:srgbClr val="4472C4"/>
                      </a:solidFill>
                      <a:prstDash val="solid"/>
                      <a:round/>
                      <a:headEnd type="none" w="med" len="med"/>
                      <a:tailEnd type="none" w="med" len="med"/>
                    </a:lnR>
                    <a:lnT>
                      <a:noFill/>
                    </a:lnT>
                    <a:lnB w="19050" cap="flat" cmpd="dbl" algn="ctr">
                      <a:solidFill>
                        <a:srgbClr val="4472C4"/>
                      </a:solidFill>
                      <a:prstDash val="solid"/>
                      <a:round/>
                      <a:headEnd type="none" w="med" len="med"/>
                      <a:tailEnd type="none" w="med" len="med"/>
                    </a:lnB>
                    <a:solidFill>
                      <a:srgbClr val="D9E2F3"/>
                    </a:solidFill>
                  </a:tcPr>
                </a:tc>
                <a:extLst>
                  <a:ext uri="{0D108BD9-81ED-4DB2-BD59-A6C34878D82A}">
                    <a16:rowId xmlns:a16="http://schemas.microsoft.com/office/drawing/2014/main" val="4157858413"/>
                  </a:ext>
                </a:extLst>
              </a:tr>
            </a:tbl>
          </a:graphicData>
        </a:graphic>
      </p:graphicFrame>
      <p:sp>
        <p:nvSpPr>
          <p:cNvPr id="17" name="TextBox 16">
            <a:extLst>
              <a:ext uri="{FF2B5EF4-FFF2-40B4-BE49-F238E27FC236}">
                <a16:creationId xmlns:a16="http://schemas.microsoft.com/office/drawing/2014/main" id="{6C330A5A-C858-3F82-829C-B9530BFBC1A6}"/>
              </a:ext>
            </a:extLst>
          </p:cNvPr>
          <p:cNvSpPr txBox="1"/>
          <p:nvPr/>
        </p:nvSpPr>
        <p:spPr>
          <a:xfrm>
            <a:off x="284748" y="746135"/>
            <a:ext cx="6097604" cy="430887"/>
          </a:xfrm>
          <a:prstGeom prst="rect">
            <a:avLst/>
          </a:prstGeom>
          <a:noFill/>
        </p:spPr>
        <p:txBody>
          <a:bodyPr wrap="square">
            <a:spAutoFit/>
          </a:bodyPr>
          <a:lstStyle/>
          <a:p>
            <a:pPr marL="0" indent="0" algn="l">
              <a:buNone/>
            </a:pPr>
            <a:r>
              <a:rPr lang="en-US" sz="2200" b="1" dirty="0">
                <a:solidFill>
                  <a:srgbClr val="13234B"/>
                </a:solidFill>
                <a:latin typeface="Cambria" pitchFamily="34" charset="0"/>
                <a:ea typeface="Cambria" pitchFamily="34" charset="-122"/>
              </a:rPr>
              <a:t>Module Inputs &amp; Outputs</a:t>
            </a:r>
            <a:endParaRPr lang="en-US" sz="2200" dirty="0"/>
          </a:p>
        </p:txBody>
      </p:sp>
      <p:grpSp>
        <p:nvGrpSpPr>
          <p:cNvPr id="18" name="Group 17">
            <a:extLst>
              <a:ext uri="{FF2B5EF4-FFF2-40B4-BE49-F238E27FC236}">
                <a16:creationId xmlns:a16="http://schemas.microsoft.com/office/drawing/2014/main" id="{1EE5CBAD-ABB1-1C9F-7AC3-3B70362DAD1D}"/>
              </a:ext>
            </a:extLst>
          </p:cNvPr>
          <p:cNvGrpSpPr/>
          <p:nvPr/>
        </p:nvGrpSpPr>
        <p:grpSpPr>
          <a:xfrm>
            <a:off x="6812012" y="1309035"/>
            <a:ext cx="4683810" cy="2145392"/>
            <a:chOff x="863600" y="1733550"/>
            <a:chExt cx="4770437" cy="2145392"/>
          </a:xfrm>
        </p:grpSpPr>
        <p:pic>
          <p:nvPicPr>
            <p:cNvPr id="19" name="Picture 18" descr="image.png">
              <a:extLst>
                <a:ext uri="{FF2B5EF4-FFF2-40B4-BE49-F238E27FC236}">
                  <a16:creationId xmlns:a16="http://schemas.microsoft.com/office/drawing/2014/main" id="{D1022D89-F0F7-C2A3-4987-5FFE6EDE6DB1}"/>
                </a:ext>
              </a:extLst>
            </p:cNvPr>
            <p:cNvPicPr>
              <a:picLocks noChangeAspect="1"/>
            </p:cNvPicPr>
            <p:nvPr/>
          </p:nvPicPr>
          <p:blipFill>
            <a:blip r:embed="rId2">
              <a:duotone>
                <a:prstClr val="black"/>
                <a:schemeClr val="accent5">
                  <a:tint val="45000"/>
                  <a:satMod val="400000"/>
                </a:schemeClr>
              </a:duotone>
            </a:blip>
            <a:stretch>
              <a:fillRect/>
            </a:stretch>
          </p:blipFill>
          <p:spPr>
            <a:xfrm>
              <a:off x="866775" y="1757362"/>
              <a:ext cx="190500" cy="190500"/>
            </a:xfrm>
            <a:prstGeom prst="rect">
              <a:avLst/>
            </a:prstGeom>
            <a:noFill/>
          </p:spPr>
        </p:pic>
        <p:sp>
          <p:nvSpPr>
            <p:cNvPr id="20" name="TextBox 19">
              <a:extLst>
                <a:ext uri="{FF2B5EF4-FFF2-40B4-BE49-F238E27FC236}">
                  <a16:creationId xmlns:a16="http://schemas.microsoft.com/office/drawing/2014/main" id="{2091A98D-FE5B-EB32-5CCA-D08AA10F61A5}"/>
                </a:ext>
              </a:extLst>
            </p:cNvPr>
            <p:cNvSpPr txBox="1"/>
            <p:nvPr/>
          </p:nvSpPr>
          <p:spPr>
            <a:xfrm>
              <a:off x="1171575" y="1733550"/>
              <a:ext cx="2520315" cy="238125"/>
            </a:xfrm>
            <a:prstGeom prst="rect">
              <a:avLst/>
            </a:prstGeom>
            <a:noFill/>
          </p:spPr>
          <p:txBody>
            <a:bodyPr wrap="square" lIns="0" tIns="0" rIns="0" bIns="0" anchor="t">
              <a:spAutoFit/>
            </a:bodyPr>
            <a:lstStyle/>
            <a:p>
              <a:pPr algn="l"/>
              <a:r>
                <a:rPr sz="1500" b="0" i="0" u="none" dirty="0">
                  <a:solidFill>
                    <a:schemeClr val="tx2"/>
                  </a:solidFill>
                  <a:latin typeface="Plus Jakarta Sans SemiBold"/>
                </a:rPr>
                <a:t>Error Handling &amp; Fallbacks</a:t>
              </a:r>
            </a:p>
          </p:txBody>
        </p:sp>
        <p:sp>
          <p:nvSpPr>
            <p:cNvPr id="21" name="TextBox 20">
              <a:extLst>
                <a:ext uri="{FF2B5EF4-FFF2-40B4-BE49-F238E27FC236}">
                  <a16:creationId xmlns:a16="http://schemas.microsoft.com/office/drawing/2014/main" id="{2FD25DC6-0C59-9D45-5281-0FA1453363C8}"/>
                </a:ext>
              </a:extLst>
            </p:cNvPr>
            <p:cNvSpPr txBox="1"/>
            <p:nvPr/>
          </p:nvSpPr>
          <p:spPr>
            <a:xfrm>
              <a:off x="1057275" y="2286000"/>
              <a:ext cx="4576762" cy="395878"/>
            </a:xfrm>
            <a:prstGeom prst="rect">
              <a:avLst/>
            </a:prstGeom>
            <a:noFill/>
          </p:spPr>
          <p:txBody>
            <a:bodyPr wrap="square" lIns="0" tIns="0" rIns="0" bIns="0" anchor="t">
              <a:spAutoFit/>
            </a:bodyPr>
            <a:lstStyle/>
            <a:p>
              <a:pPr algn="l">
                <a:lnSpc>
                  <a:spcPts val="1631"/>
                </a:lnSpc>
              </a:pPr>
              <a:r>
                <a:rPr sz="1087" b="0" i="0" u="none" dirty="0">
                  <a:solidFill>
                    <a:schemeClr val="tx2"/>
                  </a:solidFill>
                  <a:latin typeface="Plus Jakarta Sans SemiBold"/>
                </a:rPr>
                <a:t>Token &amp; Resource Control:</a:t>
              </a:r>
              <a:r>
                <a:rPr sz="1087" b="0" i="0" u="none" dirty="0">
                  <a:solidFill>
                    <a:schemeClr val="tx2"/>
                  </a:solidFill>
                  <a:latin typeface="Plus Jakarta Sans"/>
                </a:rPr>
                <a:t> Rejects token-overflow prompts and auto-reduces batch sizes on GPU </a:t>
              </a:r>
              <a:r>
                <a:rPr lang="en-IN" sz="1087" dirty="0">
                  <a:solidFill>
                    <a:schemeClr val="tx2"/>
                  </a:solidFill>
                  <a:latin typeface="Plus Jakarta Sans"/>
                </a:rPr>
                <a:t>out-of-memory</a:t>
              </a:r>
              <a:r>
                <a:rPr lang="en-IN" sz="1087" b="0" i="0" u="none" dirty="0">
                  <a:solidFill>
                    <a:schemeClr val="tx2"/>
                  </a:solidFill>
                  <a:latin typeface="Plus Jakarta Sans"/>
                </a:rPr>
                <a:t> errors</a:t>
              </a:r>
              <a:r>
                <a:rPr sz="1087" b="0" i="0" u="none" dirty="0">
                  <a:solidFill>
                    <a:schemeClr val="tx2"/>
                  </a:solidFill>
                  <a:latin typeface="Plus Jakarta Sans"/>
                </a:rPr>
                <a:t>.</a:t>
              </a:r>
            </a:p>
          </p:txBody>
        </p:sp>
        <p:sp>
          <p:nvSpPr>
            <p:cNvPr id="22" name="TextBox 21">
              <a:extLst>
                <a:ext uri="{FF2B5EF4-FFF2-40B4-BE49-F238E27FC236}">
                  <a16:creationId xmlns:a16="http://schemas.microsoft.com/office/drawing/2014/main" id="{F0B6B35C-FE88-33B0-4578-88D62F20D695}"/>
                </a:ext>
              </a:extLst>
            </p:cNvPr>
            <p:cNvSpPr txBox="1"/>
            <p:nvPr/>
          </p:nvSpPr>
          <p:spPr>
            <a:xfrm>
              <a:off x="1057275" y="2814637"/>
              <a:ext cx="4576762" cy="601062"/>
            </a:xfrm>
            <a:prstGeom prst="rect">
              <a:avLst/>
            </a:prstGeom>
            <a:noFill/>
          </p:spPr>
          <p:txBody>
            <a:bodyPr wrap="square" lIns="0" tIns="0" rIns="0" bIns="0" anchor="t">
              <a:spAutoFit/>
            </a:bodyPr>
            <a:lstStyle/>
            <a:p>
              <a:pPr algn="l">
                <a:lnSpc>
                  <a:spcPts val="1631"/>
                </a:lnSpc>
              </a:pPr>
              <a:r>
                <a:rPr sz="1087" b="0" i="0" u="none" dirty="0">
                  <a:solidFill>
                    <a:schemeClr val="tx2"/>
                  </a:solidFill>
                  <a:latin typeface="Plus Jakarta Sans SemiBold"/>
                </a:rPr>
                <a:t>Strict SQL Safety:</a:t>
              </a:r>
              <a:r>
                <a:rPr sz="1087" b="0" i="0" u="none" dirty="0">
                  <a:solidFill>
                    <a:schemeClr val="tx2"/>
                  </a:solidFill>
                  <a:latin typeface="Plus Jakarta Sans"/>
                </a:rPr>
                <a:t> Enforces read-only permissions, </a:t>
              </a:r>
              <a:r>
                <a:rPr lang="en-IN" sz="1087" b="0" i="0" u="none" dirty="0">
                  <a:solidFill>
                    <a:schemeClr val="tx2"/>
                  </a:solidFill>
                  <a:latin typeface="Plus Jakarta Sans"/>
                </a:rPr>
                <a:t>denies </a:t>
              </a:r>
              <a:r>
                <a:rPr sz="1087" b="0" i="0" u="none" dirty="0">
                  <a:solidFill>
                    <a:schemeClr val="tx2"/>
                  </a:solidFill>
                  <a:latin typeface="Plus Jakarta Sans"/>
                </a:rPr>
                <a:t>mutation/DDL</a:t>
              </a:r>
              <a:r>
                <a:rPr lang="en-IN" sz="1087" dirty="0">
                  <a:solidFill>
                    <a:schemeClr val="tx2"/>
                  </a:solidFill>
                  <a:latin typeface="Plus Jakarta Sans"/>
                </a:rPr>
                <a:t>/</a:t>
              </a:r>
              <a:r>
                <a:rPr lang="en-IN" sz="1087" b="0" i="0" u="none" dirty="0">
                  <a:solidFill>
                    <a:schemeClr val="tx2"/>
                  </a:solidFill>
                  <a:latin typeface="Plus Jakarta Sans"/>
                </a:rPr>
                <a:t>ATTACH/PRAGMA and transaction actions</a:t>
              </a:r>
              <a:r>
                <a:rPr lang="en-IN" sz="1087" dirty="0">
                  <a:solidFill>
                    <a:schemeClr val="tx2"/>
                  </a:solidFill>
                  <a:latin typeface="Plus Jakarta Sans"/>
                </a:rPr>
                <a:t>;</a:t>
              </a:r>
              <a:r>
                <a:rPr sz="1087" b="0" i="0" u="none" dirty="0">
                  <a:solidFill>
                    <a:schemeClr val="tx2"/>
                  </a:solidFill>
                  <a:latin typeface="Plus Jakarta Sans"/>
                </a:rPr>
                <a:t> requires SELECT/WITH</a:t>
              </a:r>
              <a:r>
                <a:rPr lang="en-IN" sz="1087" b="0" i="0" u="none" dirty="0">
                  <a:solidFill>
                    <a:schemeClr val="tx2"/>
                  </a:solidFill>
                  <a:latin typeface="Plus Jakarta Sans"/>
                </a:rPr>
                <a:t>;</a:t>
              </a:r>
              <a:r>
                <a:rPr sz="1087" b="0" i="0" u="none" dirty="0">
                  <a:solidFill>
                    <a:schemeClr val="tx2"/>
                  </a:solidFill>
                  <a:latin typeface="Plus Jakarta Sans"/>
                </a:rPr>
                <a:t> and times out queries after 3 seconds.</a:t>
              </a:r>
            </a:p>
          </p:txBody>
        </p:sp>
        <p:sp>
          <p:nvSpPr>
            <p:cNvPr id="23" name="TextBox 22">
              <a:extLst>
                <a:ext uri="{FF2B5EF4-FFF2-40B4-BE49-F238E27FC236}">
                  <a16:creationId xmlns:a16="http://schemas.microsoft.com/office/drawing/2014/main" id="{7EECCE42-F61C-DFF2-8692-FBAFDFA65F45}"/>
                </a:ext>
              </a:extLst>
            </p:cNvPr>
            <p:cNvSpPr txBox="1"/>
            <p:nvPr/>
          </p:nvSpPr>
          <p:spPr>
            <a:xfrm>
              <a:off x="1057275" y="3483064"/>
              <a:ext cx="4576762" cy="395878"/>
            </a:xfrm>
            <a:prstGeom prst="rect">
              <a:avLst/>
            </a:prstGeom>
            <a:noFill/>
          </p:spPr>
          <p:txBody>
            <a:bodyPr wrap="square" lIns="0" tIns="0" rIns="0" bIns="0" anchor="t">
              <a:spAutoFit/>
            </a:bodyPr>
            <a:lstStyle/>
            <a:p>
              <a:pPr algn="l">
                <a:lnSpc>
                  <a:spcPts val="1631"/>
                </a:lnSpc>
              </a:pPr>
              <a:r>
                <a:rPr sz="1087" b="0" i="0" u="none" dirty="0">
                  <a:solidFill>
                    <a:schemeClr val="tx2"/>
                  </a:solidFill>
                  <a:latin typeface="Plus Jakarta Sans SemiBold"/>
                </a:rPr>
                <a:t>Graceful Degradation</a:t>
              </a:r>
              <a:r>
                <a:rPr lang="en-IN" sz="1087" dirty="0">
                  <a:solidFill>
                    <a:schemeClr val="tx2"/>
                  </a:solidFill>
                  <a:latin typeface="Plus Jakarta Sans SemiBold"/>
                </a:rPr>
                <a:t>: </a:t>
              </a:r>
              <a:r>
                <a:rPr lang="en-US" sz="1087" dirty="0">
                  <a:solidFill>
                    <a:schemeClr val="tx2"/>
                  </a:solidFill>
                  <a:latin typeface="Plus Jakarta Sans SemiBold"/>
                </a:rPr>
                <a:t>M</a:t>
              </a:r>
              <a:r>
                <a:rPr lang="en-US" sz="1087" b="0" i="0" u="none" dirty="0">
                  <a:solidFill>
                    <a:schemeClr val="tx2"/>
                  </a:solidFill>
                  <a:latin typeface="Plus Jakarta Sans SemiBold"/>
                </a:rPr>
                <a:t>issing, </a:t>
              </a:r>
              <a:r>
                <a:rPr lang="en-US" sz="1087" b="0" i="0" u="none" dirty="0" err="1">
                  <a:solidFill>
                    <a:schemeClr val="tx2"/>
                  </a:solidFill>
                  <a:latin typeface="Plus Jakarta Sans SemiBold"/>
                </a:rPr>
                <a:t>unparsable</a:t>
              </a:r>
              <a:r>
                <a:rPr lang="en-US" sz="1087" b="0" i="0" u="none" dirty="0">
                  <a:solidFill>
                    <a:schemeClr val="tx2"/>
                  </a:solidFill>
                  <a:latin typeface="Plus Jakarta Sans SemiBold"/>
                </a:rPr>
                <a:t>, or multi-statement SQL is not executed </a:t>
              </a:r>
              <a:r>
                <a:rPr sz="1087" b="0" i="0" u="none" dirty="0">
                  <a:solidFill>
                    <a:schemeClr val="tx2"/>
                  </a:solidFill>
                  <a:latin typeface="Plus Jakarta Sans"/>
                </a:rPr>
                <a:t>and provides safe fallbacks rather than fabricated outputs.</a:t>
              </a:r>
            </a:p>
          </p:txBody>
        </p:sp>
        <p:sp>
          <p:nvSpPr>
            <p:cNvPr id="24" name="TextBox 23">
              <a:extLst>
                <a:ext uri="{FF2B5EF4-FFF2-40B4-BE49-F238E27FC236}">
                  <a16:creationId xmlns:a16="http://schemas.microsoft.com/office/drawing/2014/main" id="{55F264A1-8C52-E858-1188-917067BAE80F}"/>
                </a:ext>
              </a:extLst>
            </p:cNvPr>
            <p:cNvSpPr txBox="1"/>
            <p:nvPr/>
          </p:nvSpPr>
          <p:spPr>
            <a:xfrm>
              <a:off x="863600" y="2314575"/>
              <a:ext cx="114300" cy="180370"/>
            </a:xfrm>
            <a:prstGeom prst="rect">
              <a:avLst/>
            </a:prstGeom>
            <a:noFill/>
          </p:spPr>
          <p:txBody>
            <a:bodyPr wrap="square" lIns="0" tIns="0" rIns="0" bIns="0" anchor="t">
              <a:spAutoFit/>
            </a:bodyPr>
            <a:lstStyle/>
            <a:p>
              <a:pPr algn="l">
                <a:lnSpc>
                  <a:spcPts val="1350"/>
                </a:lnSpc>
              </a:pPr>
              <a:r>
                <a:rPr sz="1350" b="1" i="0" u="none" dirty="0">
                  <a:solidFill>
                    <a:schemeClr val="tx2"/>
                  </a:solidFill>
                  <a:latin typeface="Plus Jakarta Sans"/>
                </a:rPr>
                <a:t>•</a:t>
              </a:r>
            </a:p>
          </p:txBody>
        </p:sp>
        <p:sp>
          <p:nvSpPr>
            <p:cNvPr id="25" name="TextBox 24">
              <a:extLst>
                <a:ext uri="{FF2B5EF4-FFF2-40B4-BE49-F238E27FC236}">
                  <a16:creationId xmlns:a16="http://schemas.microsoft.com/office/drawing/2014/main" id="{EB0DFC7C-C2F3-191F-0956-CB5754EE9C30}"/>
                </a:ext>
              </a:extLst>
            </p:cNvPr>
            <p:cNvSpPr txBox="1"/>
            <p:nvPr/>
          </p:nvSpPr>
          <p:spPr>
            <a:xfrm>
              <a:off x="863600" y="2843212"/>
              <a:ext cx="114300" cy="180370"/>
            </a:xfrm>
            <a:prstGeom prst="rect">
              <a:avLst/>
            </a:prstGeom>
            <a:noFill/>
          </p:spPr>
          <p:txBody>
            <a:bodyPr wrap="square" lIns="0" tIns="0" rIns="0" bIns="0" anchor="t">
              <a:spAutoFit/>
            </a:bodyPr>
            <a:lstStyle/>
            <a:p>
              <a:pPr algn="l">
                <a:lnSpc>
                  <a:spcPts val="1350"/>
                </a:lnSpc>
              </a:pPr>
              <a:r>
                <a:rPr sz="1350" b="1" i="0" u="none">
                  <a:solidFill>
                    <a:schemeClr val="tx2"/>
                  </a:solidFill>
                  <a:latin typeface="Plus Jakarta Sans"/>
                </a:rPr>
                <a:t>•</a:t>
              </a:r>
            </a:p>
          </p:txBody>
        </p:sp>
        <p:sp>
          <p:nvSpPr>
            <p:cNvPr id="26" name="TextBox 25">
              <a:extLst>
                <a:ext uri="{FF2B5EF4-FFF2-40B4-BE49-F238E27FC236}">
                  <a16:creationId xmlns:a16="http://schemas.microsoft.com/office/drawing/2014/main" id="{F07EDFDC-6F1D-8C98-E510-0F86752D9EA8}"/>
                </a:ext>
              </a:extLst>
            </p:cNvPr>
            <p:cNvSpPr txBox="1"/>
            <p:nvPr/>
          </p:nvSpPr>
          <p:spPr>
            <a:xfrm>
              <a:off x="863600" y="3512086"/>
              <a:ext cx="114300" cy="180370"/>
            </a:xfrm>
            <a:prstGeom prst="rect">
              <a:avLst/>
            </a:prstGeom>
            <a:noFill/>
          </p:spPr>
          <p:txBody>
            <a:bodyPr wrap="square" lIns="0" tIns="0" rIns="0" bIns="0" anchor="t">
              <a:spAutoFit/>
            </a:bodyPr>
            <a:lstStyle/>
            <a:p>
              <a:pPr algn="l">
                <a:lnSpc>
                  <a:spcPts val="1350"/>
                </a:lnSpc>
              </a:pPr>
              <a:r>
                <a:rPr sz="1350" b="1" i="0" u="none" dirty="0">
                  <a:solidFill>
                    <a:schemeClr val="tx2"/>
                  </a:solidFill>
                  <a:latin typeface="Plus Jakarta Sans"/>
                </a:rPr>
                <a:t>•</a:t>
              </a:r>
            </a:p>
          </p:txBody>
        </p:sp>
      </p:grpSp>
      <p:sp>
        <p:nvSpPr>
          <p:cNvPr id="28" name="Rectangle: Rounded Corners 27">
            <a:extLst>
              <a:ext uri="{FF2B5EF4-FFF2-40B4-BE49-F238E27FC236}">
                <a16:creationId xmlns:a16="http://schemas.microsoft.com/office/drawing/2014/main" id="{ACBBF161-FCFC-E490-FA72-441984C30C61}"/>
              </a:ext>
            </a:extLst>
          </p:cNvPr>
          <p:cNvSpPr/>
          <p:nvPr/>
        </p:nvSpPr>
        <p:spPr>
          <a:xfrm>
            <a:off x="6651056" y="3761736"/>
            <a:ext cx="5005137" cy="2615015"/>
          </a:xfrm>
          <a:prstGeom prst="roundRect">
            <a:avLst>
              <a:gd name="adj" fmla="val 3386"/>
            </a:avLst>
          </a:prstGeom>
          <a:solidFill>
            <a:schemeClr val="accent1">
              <a:lumMod val="20000"/>
              <a:lumOff val="80000"/>
            </a:schemeClr>
          </a:solidFill>
          <a:ln>
            <a:solidFill>
              <a:schemeClr val="accent1">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2">
                  <a:lumMod val="20000"/>
                  <a:lumOff val="80000"/>
                </a:schemeClr>
              </a:solidFill>
            </a:endParaRPr>
          </a:p>
        </p:txBody>
      </p:sp>
      <p:grpSp>
        <p:nvGrpSpPr>
          <p:cNvPr id="29" name="Group 28">
            <a:extLst>
              <a:ext uri="{FF2B5EF4-FFF2-40B4-BE49-F238E27FC236}">
                <a16:creationId xmlns:a16="http://schemas.microsoft.com/office/drawing/2014/main" id="{784E7E21-D682-E25C-C486-339FB52C4629}"/>
              </a:ext>
            </a:extLst>
          </p:cNvPr>
          <p:cNvGrpSpPr/>
          <p:nvPr/>
        </p:nvGrpSpPr>
        <p:grpSpPr>
          <a:xfrm>
            <a:off x="6824209" y="4066441"/>
            <a:ext cx="4671612" cy="1967103"/>
            <a:chOff x="6557962" y="1733550"/>
            <a:chExt cx="4767262" cy="1967103"/>
          </a:xfrm>
        </p:grpSpPr>
        <p:pic>
          <p:nvPicPr>
            <p:cNvPr id="30" name="Picture 29" descr="image.png">
              <a:extLst>
                <a:ext uri="{FF2B5EF4-FFF2-40B4-BE49-F238E27FC236}">
                  <a16:creationId xmlns:a16="http://schemas.microsoft.com/office/drawing/2014/main" id="{8B64A472-366C-44C0-589C-1BB4FA737C5E}"/>
                </a:ext>
              </a:extLst>
            </p:cNvPr>
            <p:cNvPicPr>
              <a:picLocks noChangeAspect="1"/>
            </p:cNvPicPr>
            <p:nvPr/>
          </p:nvPicPr>
          <p:blipFill>
            <a:blip r:embed="rId3">
              <a:duotone>
                <a:prstClr val="black"/>
                <a:schemeClr val="accent5">
                  <a:tint val="45000"/>
                  <a:satMod val="400000"/>
                </a:schemeClr>
              </a:duotone>
            </a:blip>
            <a:stretch>
              <a:fillRect/>
            </a:stretch>
          </p:blipFill>
          <p:spPr>
            <a:xfrm>
              <a:off x="6557962" y="1757362"/>
              <a:ext cx="171450" cy="190500"/>
            </a:xfrm>
            <a:prstGeom prst="rect">
              <a:avLst/>
            </a:prstGeom>
          </p:spPr>
        </p:pic>
        <p:sp>
          <p:nvSpPr>
            <p:cNvPr id="31" name="TextBox 30">
              <a:extLst>
                <a:ext uri="{FF2B5EF4-FFF2-40B4-BE49-F238E27FC236}">
                  <a16:creationId xmlns:a16="http://schemas.microsoft.com/office/drawing/2014/main" id="{3071F769-361A-1A53-82C8-21D812EA2856}"/>
                </a:ext>
              </a:extLst>
            </p:cNvPr>
            <p:cNvSpPr txBox="1"/>
            <p:nvPr/>
          </p:nvSpPr>
          <p:spPr>
            <a:xfrm>
              <a:off x="6843712" y="1733550"/>
              <a:ext cx="3070383" cy="238125"/>
            </a:xfrm>
            <a:prstGeom prst="rect">
              <a:avLst/>
            </a:prstGeom>
            <a:noFill/>
          </p:spPr>
          <p:txBody>
            <a:bodyPr wrap="square" lIns="0" tIns="0" rIns="0" bIns="0" anchor="t">
              <a:spAutoFit/>
            </a:bodyPr>
            <a:lstStyle/>
            <a:p>
              <a:pPr algn="l"/>
              <a:r>
                <a:rPr sz="1500" b="0" i="0" u="none">
                  <a:solidFill>
                    <a:schemeClr val="tx2"/>
                  </a:solidFill>
                  <a:latin typeface="Plus Jakarta Sans SemiBold"/>
                </a:rPr>
                <a:t>Storage &amp; Artifact Management</a:t>
              </a:r>
            </a:p>
          </p:txBody>
        </p:sp>
        <p:sp>
          <p:nvSpPr>
            <p:cNvPr id="32" name="TextBox 31">
              <a:extLst>
                <a:ext uri="{FF2B5EF4-FFF2-40B4-BE49-F238E27FC236}">
                  <a16:creationId xmlns:a16="http://schemas.microsoft.com/office/drawing/2014/main" id="{C92803E7-CA2C-8CB4-F878-70B2BCF412E2}"/>
                </a:ext>
              </a:extLst>
            </p:cNvPr>
            <p:cNvSpPr txBox="1"/>
            <p:nvPr/>
          </p:nvSpPr>
          <p:spPr>
            <a:xfrm>
              <a:off x="6748462" y="2286000"/>
              <a:ext cx="4576762" cy="395878"/>
            </a:xfrm>
            <a:prstGeom prst="rect">
              <a:avLst/>
            </a:prstGeom>
            <a:noFill/>
          </p:spPr>
          <p:txBody>
            <a:bodyPr wrap="square" lIns="0" tIns="0" rIns="0" bIns="0" anchor="t">
              <a:spAutoFit/>
            </a:bodyPr>
            <a:lstStyle/>
            <a:p>
              <a:pPr algn="l">
                <a:lnSpc>
                  <a:spcPts val="1631"/>
                </a:lnSpc>
              </a:pPr>
              <a:r>
                <a:rPr lang="en-IN" sz="1087" b="0" i="0" u="none" dirty="0">
                  <a:solidFill>
                    <a:schemeClr val="tx2"/>
                  </a:solidFill>
                  <a:latin typeface="Plus Jakarta Sans SemiBold"/>
                </a:rPr>
                <a:t>Data Formats:</a:t>
              </a:r>
              <a:r>
                <a:rPr lang="en-IN" sz="1087" b="0" i="0" u="none" dirty="0">
                  <a:solidFill>
                    <a:schemeClr val="tx2"/>
                  </a:solidFill>
                  <a:latin typeface="Plus Jakarta Sans"/>
                </a:rPr>
                <a:t> </a:t>
              </a:r>
              <a:r>
                <a:rPr sz="1087" b="0" i="0" u="none" dirty="0">
                  <a:solidFill>
                    <a:schemeClr val="tx2"/>
                  </a:solidFill>
                  <a:latin typeface="Plus Jakarta Sans"/>
                </a:rPr>
                <a:t>Raw data in Parquet, processed records in JSONL, and databases in SQLite.</a:t>
              </a:r>
            </a:p>
          </p:txBody>
        </p:sp>
        <p:sp>
          <p:nvSpPr>
            <p:cNvPr id="33" name="TextBox 32">
              <a:extLst>
                <a:ext uri="{FF2B5EF4-FFF2-40B4-BE49-F238E27FC236}">
                  <a16:creationId xmlns:a16="http://schemas.microsoft.com/office/drawing/2014/main" id="{525F13F0-366B-AADF-705B-515C54052704}"/>
                </a:ext>
              </a:extLst>
            </p:cNvPr>
            <p:cNvSpPr txBox="1"/>
            <p:nvPr/>
          </p:nvSpPr>
          <p:spPr>
            <a:xfrm>
              <a:off x="6748462" y="2891639"/>
              <a:ext cx="4576762" cy="190693"/>
            </a:xfrm>
            <a:prstGeom prst="rect">
              <a:avLst/>
            </a:prstGeom>
            <a:noFill/>
          </p:spPr>
          <p:txBody>
            <a:bodyPr wrap="square" lIns="0" tIns="0" rIns="0" bIns="0" anchor="t">
              <a:spAutoFit/>
            </a:bodyPr>
            <a:lstStyle/>
            <a:p>
              <a:pPr algn="l">
                <a:lnSpc>
                  <a:spcPts val="1631"/>
                </a:lnSpc>
              </a:pPr>
              <a:r>
                <a:rPr sz="1087" b="0" i="0" u="none" dirty="0">
                  <a:solidFill>
                    <a:schemeClr val="tx2"/>
                  </a:solidFill>
                  <a:latin typeface="Plus Jakarta Sans"/>
                </a:rPr>
                <a:t>Model snapshots pinned with </a:t>
              </a:r>
              <a:r>
                <a:rPr sz="1087" b="0" i="0" u="none" dirty="0" err="1">
                  <a:solidFill>
                    <a:schemeClr val="tx2"/>
                  </a:solidFill>
                  <a:latin typeface="Plus Jakarta Sans"/>
                </a:rPr>
                <a:t>Safetensors</a:t>
              </a:r>
              <a:r>
                <a:rPr sz="1087" b="0" i="0" u="none" dirty="0">
                  <a:solidFill>
                    <a:schemeClr val="tx2"/>
                  </a:solidFill>
                  <a:latin typeface="Plus Jakarta Sans"/>
                </a:rPr>
                <a:t> hashes and</a:t>
              </a:r>
              <a:r>
                <a:rPr lang="en-IN" sz="1087" b="0" i="0" u="none" dirty="0">
                  <a:solidFill>
                    <a:schemeClr val="tx2"/>
                  </a:solidFill>
                  <a:latin typeface="Plus Jakarta Sans"/>
                </a:rPr>
                <a:t> revisions.</a:t>
              </a:r>
              <a:endParaRPr sz="1087" b="0" i="0" u="none" dirty="0">
                <a:solidFill>
                  <a:schemeClr val="tx2"/>
                </a:solidFill>
                <a:latin typeface="Plus Jakarta Sans"/>
              </a:endParaRPr>
            </a:p>
          </p:txBody>
        </p:sp>
        <p:sp>
          <p:nvSpPr>
            <p:cNvPr id="34" name="TextBox 33">
              <a:extLst>
                <a:ext uri="{FF2B5EF4-FFF2-40B4-BE49-F238E27FC236}">
                  <a16:creationId xmlns:a16="http://schemas.microsoft.com/office/drawing/2014/main" id="{6CD84985-6FE4-678C-303F-6A08C04EB127}"/>
                </a:ext>
              </a:extLst>
            </p:cNvPr>
            <p:cNvSpPr txBox="1"/>
            <p:nvPr/>
          </p:nvSpPr>
          <p:spPr>
            <a:xfrm>
              <a:off x="6748462" y="3304775"/>
              <a:ext cx="4576762" cy="395878"/>
            </a:xfrm>
            <a:prstGeom prst="rect">
              <a:avLst/>
            </a:prstGeom>
            <a:noFill/>
          </p:spPr>
          <p:txBody>
            <a:bodyPr wrap="square" lIns="0" tIns="0" rIns="0" bIns="0" anchor="t">
              <a:spAutoFit/>
            </a:bodyPr>
            <a:lstStyle/>
            <a:p>
              <a:pPr algn="l">
                <a:lnSpc>
                  <a:spcPts val="1631"/>
                </a:lnSpc>
              </a:pPr>
              <a:r>
                <a:rPr lang="en-IN" sz="1087" b="0" i="0" u="none" dirty="0">
                  <a:solidFill>
                    <a:schemeClr val="tx2"/>
                  </a:solidFill>
                  <a:latin typeface="Plus Jakarta Sans SemiBold"/>
                </a:rPr>
                <a:t>Independent Inference:</a:t>
              </a:r>
              <a:r>
                <a:rPr lang="en-IN" sz="1087" b="0" i="0" u="none" dirty="0">
                  <a:solidFill>
                    <a:schemeClr val="tx2"/>
                  </a:solidFill>
                  <a:latin typeface="Plus Jakarta Sans"/>
                </a:rPr>
                <a:t> </a:t>
              </a:r>
              <a:r>
                <a:rPr sz="1087" b="0" i="0" u="none" dirty="0">
                  <a:solidFill>
                    <a:schemeClr val="tx2"/>
                  </a:solidFill>
                  <a:latin typeface="Plus Jakarta Sans"/>
                </a:rPr>
                <a:t>Predictions are decoupled from metrics to enable independent evaluation and rescoring.</a:t>
              </a:r>
            </a:p>
          </p:txBody>
        </p:sp>
        <p:sp>
          <p:nvSpPr>
            <p:cNvPr id="35" name="TextBox 34">
              <a:extLst>
                <a:ext uri="{FF2B5EF4-FFF2-40B4-BE49-F238E27FC236}">
                  <a16:creationId xmlns:a16="http://schemas.microsoft.com/office/drawing/2014/main" id="{EFE4BBF2-F9AA-B053-405D-320E6292AFDD}"/>
                </a:ext>
              </a:extLst>
            </p:cNvPr>
            <p:cNvSpPr txBox="1"/>
            <p:nvPr/>
          </p:nvSpPr>
          <p:spPr>
            <a:xfrm>
              <a:off x="6557962" y="2317750"/>
              <a:ext cx="114300" cy="180370"/>
            </a:xfrm>
            <a:prstGeom prst="rect">
              <a:avLst/>
            </a:prstGeom>
            <a:noFill/>
          </p:spPr>
          <p:txBody>
            <a:bodyPr wrap="square" lIns="0" tIns="0" rIns="0" bIns="0" anchor="t">
              <a:spAutoFit/>
            </a:bodyPr>
            <a:lstStyle/>
            <a:p>
              <a:pPr algn="l">
                <a:lnSpc>
                  <a:spcPts val="1350"/>
                </a:lnSpc>
              </a:pPr>
              <a:r>
                <a:rPr sz="1350" b="1" i="0" u="none" dirty="0">
                  <a:solidFill>
                    <a:schemeClr val="tx2"/>
                  </a:solidFill>
                  <a:latin typeface="Plus Jakarta Sans"/>
                </a:rPr>
                <a:t>•</a:t>
              </a:r>
            </a:p>
          </p:txBody>
        </p:sp>
        <p:sp>
          <p:nvSpPr>
            <p:cNvPr id="36" name="TextBox 35">
              <a:extLst>
                <a:ext uri="{FF2B5EF4-FFF2-40B4-BE49-F238E27FC236}">
                  <a16:creationId xmlns:a16="http://schemas.microsoft.com/office/drawing/2014/main" id="{D60CC7B7-1ED4-B58A-E181-AE00332A33D7}"/>
                </a:ext>
              </a:extLst>
            </p:cNvPr>
            <p:cNvSpPr txBox="1"/>
            <p:nvPr/>
          </p:nvSpPr>
          <p:spPr>
            <a:xfrm>
              <a:off x="6557962" y="2923389"/>
              <a:ext cx="114300" cy="180370"/>
            </a:xfrm>
            <a:prstGeom prst="rect">
              <a:avLst/>
            </a:prstGeom>
            <a:noFill/>
          </p:spPr>
          <p:txBody>
            <a:bodyPr wrap="square" lIns="0" tIns="0" rIns="0" bIns="0" anchor="t">
              <a:spAutoFit/>
            </a:bodyPr>
            <a:lstStyle/>
            <a:p>
              <a:pPr algn="l">
                <a:lnSpc>
                  <a:spcPts val="1350"/>
                </a:lnSpc>
              </a:pPr>
              <a:r>
                <a:rPr sz="1350" b="1" i="0" u="none" dirty="0">
                  <a:solidFill>
                    <a:schemeClr val="tx2"/>
                  </a:solidFill>
                  <a:latin typeface="Plus Jakarta Sans"/>
                </a:rPr>
                <a:t>•</a:t>
              </a:r>
            </a:p>
          </p:txBody>
        </p:sp>
        <p:sp>
          <p:nvSpPr>
            <p:cNvPr id="37" name="TextBox 36">
              <a:extLst>
                <a:ext uri="{FF2B5EF4-FFF2-40B4-BE49-F238E27FC236}">
                  <a16:creationId xmlns:a16="http://schemas.microsoft.com/office/drawing/2014/main" id="{122C3F69-A38E-B902-C5D1-C9E4A9553260}"/>
                </a:ext>
              </a:extLst>
            </p:cNvPr>
            <p:cNvSpPr txBox="1"/>
            <p:nvPr/>
          </p:nvSpPr>
          <p:spPr>
            <a:xfrm>
              <a:off x="6557962" y="3336525"/>
              <a:ext cx="114300" cy="180370"/>
            </a:xfrm>
            <a:prstGeom prst="rect">
              <a:avLst/>
            </a:prstGeom>
            <a:noFill/>
          </p:spPr>
          <p:txBody>
            <a:bodyPr wrap="square" lIns="0" tIns="0" rIns="0" bIns="0" anchor="t">
              <a:spAutoFit/>
            </a:bodyPr>
            <a:lstStyle/>
            <a:p>
              <a:pPr algn="l">
                <a:lnSpc>
                  <a:spcPts val="1350"/>
                </a:lnSpc>
              </a:pPr>
              <a:r>
                <a:rPr sz="1350" b="1" i="0" u="none">
                  <a:solidFill>
                    <a:schemeClr val="tx2"/>
                  </a:solidFill>
                  <a:latin typeface="Plus Jakarta Sans"/>
                </a:rPr>
                <a:t>•</a:t>
              </a:r>
            </a:p>
          </p:txBody>
        </p:sp>
      </p:grpSp>
    </p:spTree>
    <p:extLst>
      <p:ext uri="{BB962C8B-B14F-4D97-AF65-F5344CB8AC3E}">
        <p14:creationId xmlns:p14="http://schemas.microsoft.com/office/powerpoint/2010/main" val="41916376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0B1730"/>
        </a:solidFill>
        <a:effectLst/>
      </p:bgPr>
    </p:bg>
    <p:spTree>
      <p:nvGrpSpPr>
        <p:cNvPr id="1" name=""/>
        <p:cNvGrpSpPr/>
        <p:nvPr/>
      </p:nvGrpSpPr>
      <p:grpSpPr>
        <a:xfrm>
          <a:off x="0" y="0"/>
          <a:ext cx="0" cy="0"/>
          <a:chOff x="0" y="0"/>
          <a:chExt cx="0" cy="0"/>
        </a:xfrm>
      </p:grpSpPr>
      <p:sp>
        <p:nvSpPr>
          <p:cNvPr id="2" name="Shape 0"/>
          <p:cNvSpPr/>
          <p:nvPr/>
        </p:nvSpPr>
        <p:spPr>
          <a:xfrm>
            <a:off x="9966960" y="4023360"/>
            <a:ext cx="3840480" cy="3840480"/>
          </a:xfrm>
          <a:prstGeom prst="ellipse">
            <a:avLst/>
          </a:prstGeom>
          <a:solidFill>
            <a:srgbClr val="0E7C86">
              <a:alpha val="12000"/>
            </a:srgbClr>
          </a:solidFill>
          <a:ln/>
        </p:spPr>
      </p:sp>
      <p:sp>
        <p:nvSpPr>
          <p:cNvPr id="3" name="Text 1"/>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E8A33D"/>
                </a:solidFill>
                <a:latin typeface="Calibri" pitchFamily="34" charset="0"/>
                <a:ea typeface="Calibri" pitchFamily="34" charset="-122"/>
                <a:cs typeface="Calibri" pitchFamily="34" charset="-120"/>
              </a:rPr>
              <a:t>MODEL ARCHITECTURE SELECTION</a:t>
            </a:r>
            <a:endParaRPr lang="en-US" sz="1150" dirty="0"/>
          </a:p>
        </p:txBody>
      </p:sp>
      <p:sp>
        <p:nvSpPr>
          <p:cNvPr id="4" name="Text 2"/>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Qwen/Qwen3-4B-Instruct-2507 + Spider </a:t>
            </a:r>
            <a:r>
              <a:rPr lang="en-US" sz="3000" b="1" dirty="0" err="1">
                <a:solidFill>
                  <a:srgbClr val="FFFFFF"/>
                </a:solidFill>
                <a:latin typeface="Cambria" pitchFamily="34" charset="0"/>
                <a:ea typeface="Cambria" pitchFamily="34" charset="-122"/>
                <a:cs typeface="Cambria" pitchFamily="34" charset="-120"/>
              </a:rPr>
              <a:t>QLoRA</a:t>
            </a:r>
            <a:r>
              <a:rPr lang="en-US" sz="3000" b="1" dirty="0">
                <a:solidFill>
                  <a:srgbClr val="FFFFFF"/>
                </a:solidFill>
                <a:latin typeface="Cambria" pitchFamily="34" charset="0"/>
                <a:ea typeface="Cambria" pitchFamily="34" charset="-122"/>
                <a:cs typeface="Cambria" pitchFamily="34" charset="-120"/>
              </a:rPr>
              <a:t> adapter</a:t>
            </a:r>
            <a:endParaRPr lang="en-US" sz="3000" dirty="0"/>
          </a:p>
        </p:txBody>
      </p:sp>
      <p:sp>
        <p:nvSpPr>
          <p:cNvPr id="5" name="Text 3"/>
          <p:cNvSpPr/>
          <p:nvPr/>
        </p:nvSpPr>
        <p:spPr>
          <a:xfrm>
            <a:off x="457200" y="1143000"/>
            <a:ext cx="7498080" cy="548640"/>
          </a:xfrm>
          <a:prstGeom prst="rect">
            <a:avLst/>
          </a:prstGeom>
          <a:noFill/>
          <a:ln/>
        </p:spPr>
        <p:txBody>
          <a:bodyPr wrap="square" lIns="0" tIns="0" rIns="0" bIns="0" rtlCol="0" anchor="ctr"/>
          <a:lstStyle/>
          <a:p>
            <a:pPr marL="0" indent="0">
              <a:buNone/>
            </a:pPr>
            <a:r>
              <a:rPr lang="en-US" sz="1250" i="1" dirty="0">
                <a:solidFill>
                  <a:srgbClr val="CFE8E9"/>
                </a:solidFill>
                <a:latin typeface="Calibri" pitchFamily="34" charset="0"/>
                <a:ea typeface="Calibri" pitchFamily="34" charset="-122"/>
                <a:cs typeface="Calibri" pitchFamily="34" charset="-120"/>
              </a:rPr>
              <a:t>Decoder-only causal Transformer, generating SQL autoregressively over instruction, schema, optional values and question tokens.</a:t>
            </a:r>
            <a:endParaRPr lang="en-US" sz="1250" dirty="0"/>
          </a:p>
        </p:txBody>
      </p:sp>
      <p:sp>
        <p:nvSpPr>
          <p:cNvPr id="6" name="Text 4"/>
          <p:cNvSpPr/>
          <p:nvPr/>
        </p:nvSpPr>
        <p:spPr>
          <a:xfrm>
            <a:off x="457200" y="1874520"/>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Parameters</a:t>
            </a:r>
            <a:endParaRPr lang="en-US" sz="1150" dirty="0"/>
          </a:p>
        </p:txBody>
      </p:sp>
      <p:sp>
        <p:nvSpPr>
          <p:cNvPr id="7" name="Text 5"/>
          <p:cNvSpPr/>
          <p:nvPr/>
        </p:nvSpPr>
        <p:spPr>
          <a:xfrm>
            <a:off x="3108960" y="1874520"/>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4,022,468,096</a:t>
            </a:r>
            <a:endParaRPr lang="en-US" sz="1200" dirty="0"/>
          </a:p>
        </p:txBody>
      </p:sp>
      <p:sp>
        <p:nvSpPr>
          <p:cNvPr id="8" name="Shape 6"/>
          <p:cNvSpPr/>
          <p:nvPr/>
        </p:nvSpPr>
        <p:spPr>
          <a:xfrm>
            <a:off x="457200" y="2185416"/>
            <a:ext cx="5394960" cy="0"/>
          </a:xfrm>
          <a:prstGeom prst="line">
            <a:avLst/>
          </a:prstGeom>
          <a:noFill/>
          <a:ln w="9525">
            <a:solidFill>
              <a:srgbClr val="2A3B63"/>
            </a:solidFill>
            <a:prstDash val="solid"/>
          </a:ln>
        </p:spPr>
      </p:sp>
      <p:sp>
        <p:nvSpPr>
          <p:cNvPr id="9" name="Text 7"/>
          <p:cNvSpPr/>
          <p:nvPr/>
        </p:nvSpPr>
        <p:spPr>
          <a:xfrm>
            <a:off x="6309360" y="1874520"/>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Non-embedding params</a:t>
            </a:r>
            <a:endParaRPr lang="en-US" sz="1150" dirty="0"/>
          </a:p>
        </p:txBody>
      </p:sp>
      <p:sp>
        <p:nvSpPr>
          <p:cNvPr id="10" name="Text 8"/>
          <p:cNvSpPr/>
          <p:nvPr/>
        </p:nvSpPr>
        <p:spPr>
          <a:xfrm>
            <a:off x="8961120" y="1874520"/>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~3.6B</a:t>
            </a:r>
            <a:endParaRPr lang="en-US" sz="1200" dirty="0"/>
          </a:p>
        </p:txBody>
      </p:sp>
      <p:sp>
        <p:nvSpPr>
          <p:cNvPr id="11" name="Shape 9"/>
          <p:cNvSpPr/>
          <p:nvPr/>
        </p:nvSpPr>
        <p:spPr>
          <a:xfrm>
            <a:off x="6309360" y="2185416"/>
            <a:ext cx="5394960" cy="0"/>
          </a:xfrm>
          <a:prstGeom prst="line">
            <a:avLst/>
          </a:prstGeom>
          <a:noFill/>
          <a:ln w="9525">
            <a:solidFill>
              <a:srgbClr val="2A3B63"/>
            </a:solidFill>
            <a:prstDash val="solid"/>
          </a:ln>
        </p:spPr>
      </p:sp>
      <p:sp>
        <p:nvSpPr>
          <p:cNvPr id="12" name="Text 10"/>
          <p:cNvSpPr/>
          <p:nvPr/>
        </p:nvSpPr>
        <p:spPr>
          <a:xfrm>
            <a:off x="457200" y="2404872"/>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Transformer layers</a:t>
            </a:r>
            <a:endParaRPr lang="en-US" sz="1150" dirty="0"/>
          </a:p>
        </p:txBody>
      </p:sp>
      <p:sp>
        <p:nvSpPr>
          <p:cNvPr id="13" name="Text 11"/>
          <p:cNvSpPr/>
          <p:nvPr/>
        </p:nvSpPr>
        <p:spPr>
          <a:xfrm>
            <a:off x="3108960" y="2404872"/>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36</a:t>
            </a:r>
            <a:endParaRPr lang="en-US" sz="1200" dirty="0"/>
          </a:p>
        </p:txBody>
      </p:sp>
      <p:sp>
        <p:nvSpPr>
          <p:cNvPr id="14" name="Shape 12"/>
          <p:cNvSpPr/>
          <p:nvPr/>
        </p:nvSpPr>
        <p:spPr>
          <a:xfrm>
            <a:off x="457200" y="2715768"/>
            <a:ext cx="5394960" cy="0"/>
          </a:xfrm>
          <a:prstGeom prst="line">
            <a:avLst/>
          </a:prstGeom>
          <a:noFill/>
          <a:ln w="9525">
            <a:solidFill>
              <a:srgbClr val="2A3B63"/>
            </a:solidFill>
            <a:prstDash val="solid"/>
          </a:ln>
        </p:spPr>
      </p:sp>
      <p:sp>
        <p:nvSpPr>
          <p:cNvPr id="15" name="Text 13"/>
          <p:cNvSpPr/>
          <p:nvPr/>
        </p:nvSpPr>
        <p:spPr>
          <a:xfrm>
            <a:off x="6309360" y="2404872"/>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Hidden size</a:t>
            </a:r>
            <a:endParaRPr lang="en-US" sz="1150" dirty="0"/>
          </a:p>
        </p:txBody>
      </p:sp>
      <p:sp>
        <p:nvSpPr>
          <p:cNvPr id="16" name="Text 14"/>
          <p:cNvSpPr/>
          <p:nvPr/>
        </p:nvSpPr>
        <p:spPr>
          <a:xfrm>
            <a:off x="8961120" y="2404872"/>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2,560</a:t>
            </a:r>
            <a:endParaRPr lang="en-US" sz="1200" dirty="0"/>
          </a:p>
        </p:txBody>
      </p:sp>
      <p:sp>
        <p:nvSpPr>
          <p:cNvPr id="17" name="Shape 15"/>
          <p:cNvSpPr/>
          <p:nvPr/>
        </p:nvSpPr>
        <p:spPr>
          <a:xfrm>
            <a:off x="6309360" y="2715768"/>
            <a:ext cx="5394960" cy="0"/>
          </a:xfrm>
          <a:prstGeom prst="line">
            <a:avLst/>
          </a:prstGeom>
          <a:noFill/>
          <a:ln w="9525">
            <a:solidFill>
              <a:srgbClr val="2A3B63"/>
            </a:solidFill>
            <a:prstDash val="solid"/>
          </a:ln>
        </p:spPr>
      </p:sp>
      <p:sp>
        <p:nvSpPr>
          <p:cNvPr id="18" name="Text 16"/>
          <p:cNvSpPr/>
          <p:nvPr/>
        </p:nvSpPr>
        <p:spPr>
          <a:xfrm>
            <a:off x="457200" y="2935224"/>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Attention</a:t>
            </a:r>
            <a:endParaRPr lang="en-US" sz="1150" dirty="0"/>
          </a:p>
        </p:txBody>
      </p:sp>
      <p:sp>
        <p:nvSpPr>
          <p:cNvPr id="19" name="Text 17"/>
          <p:cNvSpPr/>
          <p:nvPr/>
        </p:nvSpPr>
        <p:spPr>
          <a:xfrm>
            <a:off x="3108960" y="2935224"/>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Grouped-query (32 query / 8 KV heads)</a:t>
            </a:r>
            <a:endParaRPr lang="en-US" sz="1200" dirty="0"/>
          </a:p>
        </p:txBody>
      </p:sp>
      <p:sp>
        <p:nvSpPr>
          <p:cNvPr id="20" name="Shape 18"/>
          <p:cNvSpPr/>
          <p:nvPr/>
        </p:nvSpPr>
        <p:spPr>
          <a:xfrm>
            <a:off x="457200" y="3246120"/>
            <a:ext cx="5394960" cy="0"/>
          </a:xfrm>
          <a:prstGeom prst="line">
            <a:avLst/>
          </a:prstGeom>
          <a:noFill/>
          <a:ln w="9525">
            <a:solidFill>
              <a:srgbClr val="2A3B63"/>
            </a:solidFill>
            <a:prstDash val="solid"/>
          </a:ln>
        </p:spPr>
      </p:sp>
      <p:sp>
        <p:nvSpPr>
          <p:cNvPr id="21" name="Text 19"/>
          <p:cNvSpPr/>
          <p:nvPr/>
        </p:nvSpPr>
        <p:spPr>
          <a:xfrm>
            <a:off x="6309360" y="2935224"/>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Vocabulary size</a:t>
            </a:r>
            <a:endParaRPr lang="en-US" sz="1150" dirty="0"/>
          </a:p>
        </p:txBody>
      </p:sp>
      <p:sp>
        <p:nvSpPr>
          <p:cNvPr id="22" name="Text 20"/>
          <p:cNvSpPr/>
          <p:nvPr/>
        </p:nvSpPr>
        <p:spPr>
          <a:xfrm>
            <a:off x="8961120" y="2935224"/>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151,936</a:t>
            </a:r>
            <a:endParaRPr lang="en-US" sz="1200" dirty="0"/>
          </a:p>
        </p:txBody>
      </p:sp>
      <p:sp>
        <p:nvSpPr>
          <p:cNvPr id="23" name="Shape 21"/>
          <p:cNvSpPr/>
          <p:nvPr/>
        </p:nvSpPr>
        <p:spPr>
          <a:xfrm>
            <a:off x="6309360" y="3246120"/>
            <a:ext cx="5394960" cy="0"/>
          </a:xfrm>
          <a:prstGeom prst="line">
            <a:avLst/>
          </a:prstGeom>
          <a:noFill/>
          <a:ln w="9525">
            <a:solidFill>
              <a:srgbClr val="2A3B63"/>
            </a:solidFill>
            <a:prstDash val="solid"/>
          </a:ln>
        </p:spPr>
      </p:sp>
      <p:sp>
        <p:nvSpPr>
          <p:cNvPr id="24" name="Text 22"/>
          <p:cNvSpPr/>
          <p:nvPr/>
        </p:nvSpPr>
        <p:spPr>
          <a:xfrm>
            <a:off x="457200" y="3465576"/>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Native context length</a:t>
            </a:r>
            <a:endParaRPr lang="en-US" sz="1150" dirty="0"/>
          </a:p>
        </p:txBody>
      </p:sp>
      <p:sp>
        <p:nvSpPr>
          <p:cNvPr id="25" name="Text 23"/>
          <p:cNvSpPr/>
          <p:nvPr/>
        </p:nvSpPr>
        <p:spPr>
          <a:xfrm>
            <a:off x="3108960" y="3465576"/>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262,144 tokens</a:t>
            </a:r>
            <a:endParaRPr lang="en-US" sz="1200" dirty="0"/>
          </a:p>
        </p:txBody>
      </p:sp>
      <p:sp>
        <p:nvSpPr>
          <p:cNvPr id="26" name="Shape 24"/>
          <p:cNvSpPr/>
          <p:nvPr/>
        </p:nvSpPr>
        <p:spPr>
          <a:xfrm>
            <a:off x="457200" y="3776472"/>
            <a:ext cx="5394960" cy="0"/>
          </a:xfrm>
          <a:prstGeom prst="line">
            <a:avLst/>
          </a:prstGeom>
          <a:noFill/>
          <a:ln w="9525">
            <a:solidFill>
              <a:srgbClr val="2A3B63"/>
            </a:solidFill>
            <a:prstDash val="solid"/>
          </a:ln>
        </p:spPr>
      </p:sp>
      <p:sp>
        <p:nvSpPr>
          <p:cNvPr id="27" name="Text 25"/>
          <p:cNvSpPr/>
          <p:nvPr/>
        </p:nvSpPr>
        <p:spPr>
          <a:xfrm>
            <a:off x="6309360" y="3465576"/>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Project training limit</a:t>
            </a:r>
            <a:endParaRPr lang="en-US" sz="1150" dirty="0"/>
          </a:p>
        </p:txBody>
      </p:sp>
      <p:sp>
        <p:nvSpPr>
          <p:cNvPr id="28" name="Text 26"/>
          <p:cNvSpPr/>
          <p:nvPr/>
        </p:nvSpPr>
        <p:spPr>
          <a:xfrm>
            <a:off x="8961120" y="3465576"/>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4,096 tokens</a:t>
            </a:r>
            <a:endParaRPr lang="en-US" sz="1200" dirty="0"/>
          </a:p>
        </p:txBody>
      </p:sp>
      <p:sp>
        <p:nvSpPr>
          <p:cNvPr id="29" name="Shape 27"/>
          <p:cNvSpPr/>
          <p:nvPr/>
        </p:nvSpPr>
        <p:spPr>
          <a:xfrm>
            <a:off x="6309360" y="3776472"/>
            <a:ext cx="5394960" cy="0"/>
          </a:xfrm>
          <a:prstGeom prst="line">
            <a:avLst/>
          </a:prstGeom>
          <a:noFill/>
          <a:ln w="9525">
            <a:solidFill>
              <a:srgbClr val="2A3B63"/>
            </a:solidFill>
            <a:prstDash val="solid"/>
          </a:ln>
        </p:spPr>
      </p:sp>
      <p:grpSp>
        <p:nvGrpSpPr>
          <p:cNvPr id="50" name="Group 49">
            <a:extLst>
              <a:ext uri="{FF2B5EF4-FFF2-40B4-BE49-F238E27FC236}">
                <a16:creationId xmlns:a16="http://schemas.microsoft.com/office/drawing/2014/main" id="{B1F81DB0-2EF2-65CE-679A-A09639F0BBCF}"/>
              </a:ext>
            </a:extLst>
          </p:cNvPr>
          <p:cNvGrpSpPr/>
          <p:nvPr/>
        </p:nvGrpSpPr>
        <p:grpSpPr>
          <a:xfrm>
            <a:off x="6309360" y="4159076"/>
            <a:ext cx="3703320" cy="1964514"/>
            <a:chOff x="7332044" y="4041650"/>
            <a:chExt cx="3703320" cy="1964514"/>
          </a:xfrm>
        </p:grpSpPr>
        <p:sp>
          <p:nvSpPr>
            <p:cNvPr id="30" name="Shape 28"/>
            <p:cNvSpPr/>
            <p:nvPr/>
          </p:nvSpPr>
          <p:spPr>
            <a:xfrm>
              <a:off x="7332044" y="4041650"/>
              <a:ext cx="3703320" cy="1964514"/>
            </a:xfrm>
            <a:prstGeom prst="roundRect">
              <a:avLst>
                <a:gd name="adj" fmla="val 2759"/>
              </a:avLst>
            </a:prstGeom>
            <a:solidFill>
              <a:srgbClr val="1B2C55"/>
            </a:solidFill>
            <a:ln w="12700">
              <a:solidFill>
                <a:srgbClr val="0E7C86"/>
              </a:solidFill>
              <a:prstDash val="solid"/>
            </a:ln>
          </p:spPr>
        </p:sp>
        <p:sp>
          <p:nvSpPr>
            <p:cNvPr id="31" name="Text 29"/>
            <p:cNvSpPr/>
            <p:nvPr/>
          </p:nvSpPr>
          <p:spPr>
            <a:xfrm>
              <a:off x="7560644" y="4187984"/>
              <a:ext cx="3291840" cy="301279"/>
            </a:xfrm>
            <a:prstGeom prst="rect">
              <a:avLst/>
            </a:prstGeom>
            <a:noFill/>
            <a:ln/>
          </p:spPr>
          <p:txBody>
            <a:bodyPr wrap="square" lIns="0" tIns="0" rIns="0" bIns="0" rtlCol="0" anchor="ctr"/>
            <a:lstStyle/>
            <a:p>
              <a:pPr marL="0" indent="0">
                <a:buNone/>
              </a:pPr>
              <a:r>
                <a:rPr lang="en-US" sz="1500" b="1" dirty="0">
                  <a:solidFill>
                    <a:srgbClr val="E8A33D"/>
                  </a:solidFill>
                  <a:latin typeface="Cambria" pitchFamily="34" charset="0"/>
                  <a:ea typeface="Cambria" pitchFamily="34" charset="-122"/>
                  <a:cs typeface="Cambria" pitchFamily="34" charset="-120"/>
                </a:rPr>
                <a:t>QLoRA Fine-tuning</a:t>
              </a:r>
              <a:endParaRPr lang="en-US" sz="1500" dirty="0"/>
            </a:p>
          </p:txBody>
        </p:sp>
        <p:sp>
          <p:nvSpPr>
            <p:cNvPr id="32" name="Text 30"/>
            <p:cNvSpPr/>
            <p:nvPr/>
          </p:nvSpPr>
          <p:spPr>
            <a:xfrm>
              <a:off x="7560644" y="4583950"/>
              <a:ext cx="3291840" cy="1334233"/>
            </a:xfrm>
            <a:prstGeom prst="rect">
              <a:avLst/>
            </a:prstGeom>
            <a:noFill/>
            <a:ln/>
          </p:spPr>
          <p:txBody>
            <a:bodyPr wrap="square" lIns="0" tIns="0" rIns="0" bIns="0" rtlCol="0" anchor="ctr"/>
            <a:lstStyle/>
            <a:p>
              <a:pPr marL="152400" indent="-1524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4-bit NF4 frozen backbone</a:t>
              </a:r>
              <a:endParaRPr lang="en-US" sz="1150" dirty="0"/>
            </a:p>
            <a:p>
              <a:pPr marL="152400" indent="-1524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Rank-16 LoRA on all linear layers</a:t>
              </a:r>
              <a:endParaRPr lang="en-US" sz="1150" dirty="0"/>
            </a:p>
            <a:p>
              <a:pPr marL="152400" indent="-1524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33,030,144 trainable params</a:t>
              </a:r>
              <a:endParaRPr lang="en-US" sz="1150" dirty="0"/>
            </a:p>
            <a:p>
              <a:pPr marL="152400" indent="-152400">
                <a:spcAft>
                  <a:spcPts val="600"/>
                </a:spcAft>
                <a:buSzPct val="100000"/>
                <a:buChar char="•"/>
              </a:pPr>
              <a:r>
                <a:rPr lang="en-US" sz="1150" dirty="0">
                  <a:solidFill>
                    <a:srgbClr val="FFFFFF"/>
                  </a:solidFill>
                  <a:latin typeface="Calibri" pitchFamily="34" charset="0"/>
                  <a:ea typeface="Calibri" pitchFamily="34" charset="-122"/>
                  <a:cs typeface="Calibri" pitchFamily="34" charset="-120"/>
                </a:rPr>
                <a:t>≈ 0.821% of base model</a:t>
              </a:r>
              <a:endParaRPr lang="en-US" sz="1150" dirty="0"/>
            </a:p>
          </p:txBody>
        </p:sp>
      </p:grpSp>
      <p:sp>
        <p:nvSpPr>
          <p:cNvPr id="34" name="Text 3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
        <p:nvSpPr>
          <p:cNvPr id="38" name="Text 4">
            <a:extLst>
              <a:ext uri="{FF2B5EF4-FFF2-40B4-BE49-F238E27FC236}">
                <a16:creationId xmlns:a16="http://schemas.microsoft.com/office/drawing/2014/main" id="{2064F328-D267-80A1-F9D7-B897FDB0F99B}"/>
              </a:ext>
            </a:extLst>
          </p:cNvPr>
          <p:cNvSpPr/>
          <p:nvPr/>
        </p:nvSpPr>
        <p:spPr>
          <a:xfrm>
            <a:off x="457200" y="4012772"/>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Intermediate size</a:t>
            </a:r>
            <a:endParaRPr lang="en-US" sz="1150" dirty="0"/>
          </a:p>
        </p:txBody>
      </p:sp>
      <p:sp>
        <p:nvSpPr>
          <p:cNvPr id="39" name="Text 5">
            <a:extLst>
              <a:ext uri="{FF2B5EF4-FFF2-40B4-BE49-F238E27FC236}">
                <a16:creationId xmlns:a16="http://schemas.microsoft.com/office/drawing/2014/main" id="{89D33048-033B-1FC1-6656-E0DF91807FD5}"/>
              </a:ext>
            </a:extLst>
          </p:cNvPr>
          <p:cNvSpPr/>
          <p:nvPr/>
        </p:nvSpPr>
        <p:spPr>
          <a:xfrm>
            <a:off x="3108960" y="4012772"/>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9.728</a:t>
            </a:r>
            <a:endParaRPr lang="en-US" sz="1200" dirty="0"/>
          </a:p>
        </p:txBody>
      </p:sp>
      <p:sp>
        <p:nvSpPr>
          <p:cNvPr id="40" name="Shape 6">
            <a:extLst>
              <a:ext uri="{FF2B5EF4-FFF2-40B4-BE49-F238E27FC236}">
                <a16:creationId xmlns:a16="http://schemas.microsoft.com/office/drawing/2014/main" id="{CC8730D6-B0F7-DECF-AB63-86D0D300E017}"/>
              </a:ext>
            </a:extLst>
          </p:cNvPr>
          <p:cNvSpPr/>
          <p:nvPr/>
        </p:nvSpPr>
        <p:spPr>
          <a:xfrm>
            <a:off x="457200" y="4323668"/>
            <a:ext cx="5394960" cy="0"/>
          </a:xfrm>
          <a:prstGeom prst="line">
            <a:avLst/>
          </a:prstGeom>
          <a:noFill/>
          <a:ln w="9525">
            <a:solidFill>
              <a:srgbClr val="2A3B63"/>
            </a:solidFill>
            <a:prstDash val="solid"/>
          </a:ln>
        </p:spPr>
      </p:sp>
      <p:sp>
        <p:nvSpPr>
          <p:cNvPr id="41" name="Text 10">
            <a:extLst>
              <a:ext uri="{FF2B5EF4-FFF2-40B4-BE49-F238E27FC236}">
                <a16:creationId xmlns:a16="http://schemas.microsoft.com/office/drawing/2014/main" id="{E18FE764-F8A4-3CF6-68D8-BF8C363F7E1F}"/>
              </a:ext>
            </a:extLst>
          </p:cNvPr>
          <p:cNvSpPr/>
          <p:nvPr/>
        </p:nvSpPr>
        <p:spPr>
          <a:xfrm>
            <a:off x="457200" y="4543124"/>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Query heads</a:t>
            </a:r>
            <a:endParaRPr lang="en-US" sz="1150" dirty="0"/>
          </a:p>
        </p:txBody>
      </p:sp>
      <p:sp>
        <p:nvSpPr>
          <p:cNvPr id="42" name="Text 11">
            <a:extLst>
              <a:ext uri="{FF2B5EF4-FFF2-40B4-BE49-F238E27FC236}">
                <a16:creationId xmlns:a16="http://schemas.microsoft.com/office/drawing/2014/main" id="{41F5C85E-6817-7BE8-9F70-5EB3583279EB}"/>
              </a:ext>
            </a:extLst>
          </p:cNvPr>
          <p:cNvSpPr/>
          <p:nvPr/>
        </p:nvSpPr>
        <p:spPr>
          <a:xfrm>
            <a:off x="3108960" y="4543124"/>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32</a:t>
            </a:r>
            <a:endParaRPr lang="en-US" sz="1200" dirty="0"/>
          </a:p>
        </p:txBody>
      </p:sp>
      <p:sp>
        <p:nvSpPr>
          <p:cNvPr id="43" name="Shape 12">
            <a:extLst>
              <a:ext uri="{FF2B5EF4-FFF2-40B4-BE49-F238E27FC236}">
                <a16:creationId xmlns:a16="http://schemas.microsoft.com/office/drawing/2014/main" id="{52DC7C77-5245-D87C-17B8-F14D2D788D8D}"/>
              </a:ext>
            </a:extLst>
          </p:cNvPr>
          <p:cNvSpPr/>
          <p:nvPr/>
        </p:nvSpPr>
        <p:spPr>
          <a:xfrm>
            <a:off x="457200" y="4854020"/>
            <a:ext cx="5394960" cy="0"/>
          </a:xfrm>
          <a:prstGeom prst="line">
            <a:avLst/>
          </a:prstGeom>
          <a:noFill/>
          <a:ln w="9525">
            <a:solidFill>
              <a:srgbClr val="2A3B63"/>
            </a:solidFill>
            <a:prstDash val="solid"/>
          </a:ln>
        </p:spPr>
      </p:sp>
      <p:sp>
        <p:nvSpPr>
          <p:cNvPr id="44" name="Text 16">
            <a:extLst>
              <a:ext uri="{FF2B5EF4-FFF2-40B4-BE49-F238E27FC236}">
                <a16:creationId xmlns:a16="http://schemas.microsoft.com/office/drawing/2014/main" id="{29FE062C-0076-BD62-9DB9-22A5C1AE2D82}"/>
              </a:ext>
            </a:extLst>
          </p:cNvPr>
          <p:cNvSpPr/>
          <p:nvPr/>
        </p:nvSpPr>
        <p:spPr>
          <a:xfrm>
            <a:off x="457200" y="5073476"/>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Key/value heads</a:t>
            </a:r>
            <a:endParaRPr lang="en-US" sz="1150" dirty="0"/>
          </a:p>
        </p:txBody>
      </p:sp>
      <p:sp>
        <p:nvSpPr>
          <p:cNvPr id="45" name="Text 17">
            <a:extLst>
              <a:ext uri="{FF2B5EF4-FFF2-40B4-BE49-F238E27FC236}">
                <a16:creationId xmlns:a16="http://schemas.microsoft.com/office/drawing/2014/main" id="{78274283-6A1F-B3FC-05A7-515DCB53258B}"/>
              </a:ext>
            </a:extLst>
          </p:cNvPr>
          <p:cNvSpPr/>
          <p:nvPr/>
        </p:nvSpPr>
        <p:spPr>
          <a:xfrm>
            <a:off x="3108960" y="5073476"/>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46" name="Shape 18">
            <a:extLst>
              <a:ext uri="{FF2B5EF4-FFF2-40B4-BE49-F238E27FC236}">
                <a16:creationId xmlns:a16="http://schemas.microsoft.com/office/drawing/2014/main" id="{0F6B1410-4895-E2F4-B531-6CC24D8CB0D6}"/>
              </a:ext>
            </a:extLst>
          </p:cNvPr>
          <p:cNvSpPr/>
          <p:nvPr/>
        </p:nvSpPr>
        <p:spPr>
          <a:xfrm>
            <a:off x="457200" y="5384372"/>
            <a:ext cx="5394960" cy="0"/>
          </a:xfrm>
          <a:prstGeom prst="line">
            <a:avLst/>
          </a:prstGeom>
          <a:noFill/>
          <a:ln w="9525">
            <a:solidFill>
              <a:srgbClr val="2A3B63"/>
            </a:solidFill>
            <a:prstDash val="solid"/>
          </a:ln>
        </p:spPr>
      </p:sp>
      <p:sp>
        <p:nvSpPr>
          <p:cNvPr id="47" name="Text 22">
            <a:extLst>
              <a:ext uri="{FF2B5EF4-FFF2-40B4-BE49-F238E27FC236}">
                <a16:creationId xmlns:a16="http://schemas.microsoft.com/office/drawing/2014/main" id="{3D0F187E-ED3A-FD39-23F3-5CD6FCE48557}"/>
              </a:ext>
            </a:extLst>
          </p:cNvPr>
          <p:cNvSpPr/>
          <p:nvPr/>
        </p:nvSpPr>
        <p:spPr>
          <a:xfrm>
            <a:off x="457200" y="5603828"/>
            <a:ext cx="2743200" cy="292608"/>
          </a:xfrm>
          <a:prstGeom prst="rect">
            <a:avLst/>
          </a:prstGeom>
          <a:noFill/>
          <a:ln/>
        </p:spPr>
        <p:txBody>
          <a:bodyPr wrap="square" lIns="0" tIns="0" rIns="0" bIns="0" rtlCol="0" anchor="ctr"/>
          <a:lstStyle/>
          <a:p>
            <a:pPr marL="0" indent="0">
              <a:buNone/>
            </a:pPr>
            <a:r>
              <a:rPr lang="en-US" sz="1150" dirty="0">
                <a:solidFill>
                  <a:srgbClr val="AEB9CC"/>
                </a:solidFill>
                <a:latin typeface="Calibri" pitchFamily="34" charset="0"/>
                <a:ea typeface="Calibri" pitchFamily="34" charset="-122"/>
                <a:cs typeface="Calibri" pitchFamily="34" charset="-120"/>
              </a:rPr>
              <a:t>Base inference/training </a:t>
            </a:r>
            <a:r>
              <a:rPr lang="en-US" sz="1150" dirty="0" err="1">
                <a:solidFill>
                  <a:srgbClr val="AEB9CC"/>
                </a:solidFill>
                <a:latin typeface="Calibri" pitchFamily="34" charset="0"/>
                <a:ea typeface="Calibri" pitchFamily="34" charset="-122"/>
                <a:cs typeface="Calibri" pitchFamily="34" charset="-120"/>
              </a:rPr>
              <a:t>dtype</a:t>
            </a:r>
            <a:endParaRPr lang="en-US" sz="1150" dirty="0"/>
          </a:p>
        </p:txBody>
      </p:sp>
      <p:sp>
        <p:nvSpPr>
          <p:cNvPr id="48" name="Text 23">
            <a:extLst>
              <a:ext uri="{FF2B5EF4-FFF2-40B4-BE49-F238E27FC236}">
                <a16:creationId xmlns:a16="http://schemas.microsoft.com/office/drawing/2014/main" id="{4FC48AC7-35E8-EE38-7BF2-3A7F69BB0074}"/>
              </a:ext>
            </a:extLst>
          </p:cNvPr>
          <p:cNvSpPr/>
          <p:nvPr/>
        </p:nvSpPr>
        <p:spPr>
          <a:xfrm>
            <a:off x="3108960" y="5603828"/>
            <a:ext cx="2743200" cy="292608"/>
          </a:xfrm>
          <a:prstGeom prst="rect">
            <a:avLst/>
          </a:prstGeom>
          <a:noFill/>
          <a:ln/>
        </p:spPr>
        <p:txBody>
          <a:bodyPr wrap="square" lIns="0" tIns="0" rIns="0" bIns="0" rtlCol="0" anchor="ctr"/>
          <a:lstStyle/>
          <a:p>
            <a:pPr marL="0" indent="0" algn="r">
              <a:buNone/>
            </a:pPr>
            <a:r>
              <a:rPr lang="en-US" sz="1200" b="1" dirty="0">
                <a:solidFill>
                  <a:srgbClr val="FFFFFF"/>
                </a:solidFill>
                <a:latin typeface="Calibri" pitchFamily="34" charset="0"/>
                <a:ea typeface="Calibri" pitchFamily="34" charset="-122"/>
                <a:cs typeface="Calibri" pitchFamily="34" charset="-120"/>
              </a:rPr>
              <a:t>BF16 computation</a:t>
            </a:r>
            <a:endParaRPr lang="en-US" sz="1200" dirty="0"/>
          </a:p>
        </p:txBody>
      </p:sp>
      <p:sp>
        <p:nvSpPr>
          <p:cNvPr id="49" name="Shape 24">
            <a:extLst>
              <a:ext uri="{FF2B5EF4-FFF2-40B4-BE49-F238E27FC236}">
                <a16:creationId xmlns:a16="http://schemas.microsoft.com/office/drawing/2014/main" id="{39BDB235-E14A-9903-EF99-08A4FABD63B8}"/>
              </a:ext>
            </a:extLst>
          </p:cNvPr>
          <p:cNvSpPr/>
          <p:nvPr/>
        </p:nvSpPr>
        <p:spPr>
          <a:xfrm>
            <a:off x="457200" y="5914724"/>
            <a:ext cx="5394960" cy="0"/>
          </a:xfrm>
          <a:prstGeom prst="line">
            <a:avLst/>
          </a:prstGeom>
          <a:noFill/>
          <a:ln w="9525">
            <a:solidFill>
              <a:srgbClr val="2A3B63"/>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MODEL ARCHITECTURE SELECTION</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Comparison Models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11247120" cy="3291840"/>
        </p:xfrm>
        <a:graphic>
          <a:graphicData uri="http://schemas.openxmlformats.org/drawingml/2006/table">
            <a:tbl>
              <a:tblPr/>
              <a:tblGrid>
                <a:gridCol w="356616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54864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Tier</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Params</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Purpose</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1A2233"/>
                          </a:solidFill>
                          <a:latin typeface="Calibri" pitchFamily="34" charset="0"/>
                          <a:ea typeface="Calibri" pitchFamily="34" charset="-122"/>
                          <a:cs typeface="Calibri" pitchFamily="34" charset="-120"/>
                        </a:rPr>
                        <a:t>Qwen3-4B-Instruct-2507</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Strong / Final</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4.022B</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Primary project-trained model</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extLst>
                  <a:ext uri="{0D108BD9-81ED-4DB2-BD59-A6C34878D82A}">
                    <a16:rowId xmlns:a16="http://schemas.microsoft.com/office/drawing/2014/main" val="10001"/>
                  </a:ext>
                </a:extLst>
              </a:tr>
              <a:tr h="548640">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Qwen2.5-Coder-1.5B-Instruct</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Compact middle</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1.544B</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Modern code-specialized efficiency baseline</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extLst>
                  <a:ext uri="{0D108BD9-81ED-4DB2-BD59-A6C34878D82A}">
                    <a16:rowId xmlns:a16="http://schemas.microsoft.com/office/drawing/2014/main" val="10002"/>
                  </a:ext>
                </a:extLst>
              </a:tr>
              <a:tr h="548640">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DeepSeek-Coder-1.3B-Instruct</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Weak / older</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1.346B</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Older small-model floor &amp; adaptation control</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XiYanSQL-QwenCoder-3B-2504</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SQL specialist</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3.086B</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Strong off-the-shelf text-to-SQL comparison</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extLst>
                  <a:ext uri="{0D108BD9-81ED-4DB2-BD59-A6C34878D82A}">
                    <a16:rowId xmlns:a16="http://schemas.microsoft.com/office/drawing/2014/main" val="10004"/>
                  </a:ext>
                </a:extLst>
              </a:tr>
              <a:tr h="548640">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FINER-SQL-3B-Spider</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GRPO specialist</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3.086B</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200" dirty="0">
                          <a:solidFill>
                            <a:srgbClr val="1A2233"/>
                          </a:solidFill>
                          <a:latin typeface="Calibri" pitchFamily="34" charset="0"/>
                          <a:ea typeface="Calibri" pitchFamily="34" charset="-122"/>
                          <a:cs typeface="Calibri" pitchFamily="34" charset="-120"/>
                        </a:rPr>
                        <a:t>Candidate diversity &amp; test-time scaling comparison</a:t>
                      </a:r>
                      <a:endParaRPr lang="en-US" sz="120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457200" y="4709160"/>
            <a:ext cx="11247120" cy="1417320"/>
          </a:xfrm>
          <a:prstGeom prst="roundRect">
            <a:avLst>
              <a:gd name="adj" fmla="val 5161"/>
            </a:avLst>
          </a:prstGeom>
          <a:solidFill>
            <a:srgbClr val="F6F7F9"/>
          </a:solidFill>
          <a:ln w="12700">
            <a:solidFill>
              <a:srgbClr val="E4E7EC"/>
            </a:solidFill>
            <a:prstDash val="solid"/>
          </a:ln>
        </p:spPr>
      </p:sp>
      <p:sp>
        <p:nvSpPr>
          <p:cNvPr id="6" name="Text 3"/>
          <p:cNvSpPr/>
          <p:nvPr/>
        </p:nvSpPr>
        <p:spPr>
          <a:xfrm>
            <a:off x="777240" y="4892040"/>
            <a:ext cx="10607040" cy="1051560"/>
          </a:xfrm>
          <a:prstGeom prst="rect">
            <a:avLst/>
          </a:prstGeom>
          <a:noFill/>
          <a:ln/>
        </p:spPr>
        <p:txBody>
          <a:bodyPr wrap="square" lIns="0" tIns="0" rIns="0" bIns="0" rtlCol="0" anchor="ctr"/>
          <a:lstStyle/>
          <a:p>
            <a:pPr marL="0" indent="0">
              <a:lnSpc>
                <a:spcPct val="125000"/>
              </a:lnSpc>
              <a:buNone/>
            </a:pPr>
            <a:r>
              <a:rPr lang="en-US" sz="1300" dirty="0">
                <a:solidFill>
                  <a:srgbClr val="1A2233"/>
                </a:solidFill>
                <a:latin typeface="Calibri" pitchFamily="34" charset="0"/>
                <a:ea typeface="Calibri" pitchFamily="34" charset="-122"/>
                <a:cs typeface="Calibri" pitchFamily="34" charset="-120"/>
              </a:rPr>
              <a:t>All five satisfy the 4B limit. Original model revisions and files are pinned locally with SHA-256 checksums, ensuring every comparison in this report is reproducible against a fixed model snapshot.</a:t>
            </a:r>
            <a:endParaRPr lang="en-US" sz="1300" dirty="0"/>
          </a:p>
        </p:txBody>
      </p:sp>
      <p:sp>
        <p:nvSpPr>
          <p:cNvPr id="4" name="Text 4"/>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JUSTIFICATION OF MODEL CHOICE</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Zero-shot baseline sets the intended accuracy ordering</a:t>
            </a:r>
            <a:endParaRPr lang="en-US" sz="3000" dirty="0"/>
          </a:p>
        </p:txBody>
      </p:sp>
      <p:graphicFrame>
        <p:nvGraphicFramePr>
          <p:cNvPr id="4" name="Chart 0"/>
          <p:cNvGraphicFramePr/>
          <p:nvPr/>
        </p:nvGraphicFramePr>
        <p:xfrm>
          <a:off x="457200" y="1188720"/>
          <a:ext cx="649224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315200" y="1280160"/>
            <a:ext cx="4389120" cy="960120"/>
          </a:xfrm>
          <a:prstGeom prst="roundRect">
            <a:avLst>
              <a:gd name="adj" fmla="val 6667"/>
            </a:avLst>
          </a:prstGeom>
          <a:solidFill>
            <a:srgbClr val="F6F7F9"/>
          </a:solidFill>
          <a:ln w="12700">
            <a:solidFill>
              <a:srgbClr val="E4E7EC"/>
            </a:solidFill>
            <a:prstDash val="solid"/>
          </a:ln>
        </p:spPr>
      </p:sp>
      <p:sp>
        <p:nvSpPr>
          <p:cNvPr id="6" name="Text 3"/>
          <p:cNvSpPr/>
          <p:nvPr/>
        </p:nvSpPr>
        <p:spPr>
          <a:xfrm>
            <a:off x="7543800" y="1371600"/>
            <a:ext cx="2011680" cy="457200"/>
          </a:xfrm>
          <a:prstGeom prst="rect">
            <a:avLst/>
          </a:prstGeom>
          <a:noFill/>
          <a:ln/>
        </p:spPr>
        <p:txBody>
          <a:bodyPr wrap="square" lIns="0" tIns="0" rIns="0" bIns="0" rtlCol="0" anchor="ctr"/>
          <a:lstStyle/>
          <a:p>
            <a:pPr marL="0" indent="0">
              <a:buNone/>
            </a:pPr>
            <a:r>
              <a:rPr lang="en-US" sz="2200" b="1" dirty="0">
                <a:solidFill>
                  <a:srgbClr val="0E7C86"/>
                </a:solidFill>
                <a:latin typeface="Cambria" pitchFamily="34" charset="0"/>
                <a:ea typeface="Cambria" pitchFamily="34" charset="-122"/>
                <a:cs typeface="Cambria" pitchFamily="34" charset="-120"/>
              </a:rPr>
              <a:t>+15.8 pts</a:t>
            </a:r>
            <a:endParaRPr lang="en-US" sz="2200" dirty="0"/>
          </a:p>
        </p:txBody>
      </p:sp>
      <p:sp>
        <p:nvSpPr>
          <p:cNvPr id="7" name="Text 4"/>
          <p:cNvSpPr/>
          <p:nvPr/>
        </p:nvSpPr>
        <p:spPr>
          <a:xfrm>
            <a:off x="7543800" y="1810512"/>
            <a:ext cx="3931920" cy="365760"/>
          </a:xfrm>
          <a:prstGeom prst="rect">
            <a:avLst/>
          </a:prstGeom>
          <a:noFill/>
          <a:ln/>
        </p:spPr>
        <p:txBody>
          <a:bodyPr wrap="square" lIns="0" tIns="0" rIns="0" bIns="0" rtlCol="0" anchor="ctr"/>
          <a:lstStyle/>
          <a:p>
            <a:pPr marL="0" indent="0">
              <a:buNone/>
            </a:pPr>
            <a:r>
              <a:rPr lang="en-US" sz="1100" dirty="0">
                <a:solidFill>
                  <a:srgbClr val="1A2233"/>
                </a:solidFill>
                <a:latin typeface="Calibri" pitchFamily="34" charset="0"/>
                <a:ea typeface="Calibri" pitchFamily="34" charset="-122"/>
                <a:cs typeface="Calibri" pitchFamily="34" charset="-120"/>
              </a:rPr>
              <a:t>Qwen3 over Qwen2.5-Coder 1.5B</a:t>
            </a:r>
            <a:endParaRPr lang="en-US" sz="1100" dirty="0"/>
          </a:p>
        </p:txBody>
      </p:sp>
      <p:sp>
        <p:nvSpPr>
          <p:cNvPr id="8" name="Shape 5"/>
          <p:cNvSpPr/>
          <p:nvPr/>
        </p:nvSpPr>
        <p:spPr>
          <a:xfrm>
            <a:off x="7315200" y="2423160"/>
            <a:ext cx="4389120" cy="960120"/>
          </a:xfrm>
          <a:prstGeom prst="roundRect">
            <a:avLst>
              <a:gd name="adj" fmla="val 6667"/>
            </a:avLst>
          </a:prstGeom>
          <a:solidFill>
            <a:srgbClr val="F6F7F9"/>
          </a:solidFill>
          <a:ln w="12700">
            <a:solidFill>
              <a:srgbClr val="E4E7EC"/>
            </a:solidFill>
            <a:prstDash val="solid"/>
          </a:ln>
        </p:spPr>
      </p:sp>
      <p:sp>
        <p:nvSpPr>
          <p:cNvPr id="9" name="Text 6"/>
          <p:cNvSpPr/>
          <p:nvPr/>
        </p:nvSpPr>
        <p:spPr>
          <a:xfrm>
            <a:off x="7543800" y="2514600"/>
            <a:ext cx="2011680" cy="457200"/>
          </a:xfrm>
          <a:prstGeom prst="rect">
            <a:avLst/>
          </a:prstGeom>
          <a:noFill/>
          <a:ln/>
        </p:spPr>
        <p:txBody>
          <a:bodyPr wrap="square" lIns="0" tIns="0" rIns="0" bIns="0" rtlCol="0" anchor="ctr"/>
          <a:lstStyle/>
          <a:p>
            <a:pPr marL="0" indent="0">
              <a:buNone/>
            </a:pPr>
            <a:r>
              <a:rPr lang="en-US" sz="2200" b="1" dirty="0">
                <a:solidFill>
                  <a:srgbClr val="0E7C86"/>
                </a:solidFill>
                <a:latin typeface="Cambria" pitchFamily="34" charset="0"/>
                <a:ea typeface="Cambria" pitchFamily="34" charset="-122"/>
                <a:cs typeface="Cambria" pitchFamily="34" charset="-120"/>
              </a:rPr>
              <a:t>+25.0 pts</a:t>
            </a:r>
            <a:endParaRPr lang="en-US" sz="2200" dirty="0"/>
          </a:p>
        </p:txBody>
      </p:sp>
      <p:sp>
        <p:nvSpPr>
          <p:cNvPr id="10" name="Text 7"/>
          <p:cNvSpPr/>
          <p:nvPr/>
        </p:nvSpPr>
        <p:spPr>
          <a:xfrm>
            <a:off x="7543800" y="2953512"/>
            <a:ext cx="3931920" cy="365760"/>
          </a:xfrm>
          <a:prstGeom prst="rect">
            <a:avLst/>
          </a:prstGeom>
          <a:noFill/>
          <a:ln/>
        </p:spPr>
        <p:txBody>
          <a:bodyPr wrap="square" lIns="0" tIns="0" rIns="0" bIns="0" rtlCol="0" anchor="ctr"/>
          <a:lstStyle/>
          <a:p>
            <a:pPr marL="0" indent="0">
              <a:buNone/>
            </a:pPr>
            <a:r>
              <a:rPr lang="en-US" sz="1100" dirty="0">
                <a:solidFill>
                  <a:srgbClr val="1A2233"/>
                </a:solidFill>
                <a:latin typeface="Calibri" pitchFamily="34" charset="0"/>
                <a:ea typeface="Calibri" pitchFamily="34" charset="-122"/>
                <a:cs typeface="Calibri" pitchFamily="34" charset="-120"/>
              </a:rPr>
              <a:t>Qwen3 over DeepSeek-Coder 1.3B</a:t>
            </a:r>
            <a:endParaRPr lang="en-US" sz="1100" dirty="0"/>
          </a:p>
        </p:txBody>
      </p:sp>
      <p:sp>
        <p:nvSpPr>
          <p:cNvPr id="11" name="Shape 8"/>
          <p:cNvSpPr/>
          <p:nvPr/>
        </p:nvSpPr>
        <p:spPr>
          <a:xfrm>
            <a:off x="7315200" y="3566160"/>
            <a:ext cx="4389120" cy="960120"/>
          </a:xfrm>
          <a:prstGeom prst="roundRect">
            <a:avLst>
              <a:gd name="adj" fmla="val 6667"/>
            </a:avLst>
          </a:prstGeom>
          <a:solidFill>
            <a:srgbClr val="F6F7F9"/>
          </a:solidFill>
          <a:ln w="12700">
            <a:solidFill>
              <a:srgbClr val="E4E7EC"/>
            </a:solidFill>
            <a:prstDash val="solid"/>
          </a:ln>
        </p:spPr>
      </p:sp>
      <p:sp>
        <p:nvSpPr>
          <p:cNvPr id="12" name="Text 9"/>
          <p:cNvSpPr/>
          <p:nvPr/>
        </p:nvSpPr>
        <p:spPr>
          <a:xfrm>
            <a:off x="7543800" y="3657600"/>
            <a:ext cx="2011680" cy="457200"/>
          </a:xfrm>
          <a:prstGeom prst="rect">
            <a:avLst/>
          </a:prstGeom>
          <a:noFill/>
          <a:ln/>
        </p:spPr>
        <p:txBody>
          <a:bodyPr wrap="square" lIns="0" tIns="0" rIns="0" bIns="0" rtlCol="0" anchor="ctr"/>
          <a:lstStyle/>
          <a:p>
            <a:pPr marL="0" indent="0">
              <a:buNone/>
            </a:pPr>
            <a:r>
              <a:rPr lang="en-US" sz="2200" b="1" dirty="0">
                <a:solidFill>
                  <a:srgbClr val="0E7C86"/>
                </a:solidFill>
                <a:latin typeface="Cambria" pitchFamily="34" charset="0"/>
                <a:ea typeface="Cambria" pitchFamily="34" charset="-122"/>
                <a:cs typeface="Cambria" pitchFamily="34" charset="-120"/>
              </a:rPr>
              <a:t>100%</a:t>
            </a:r>
            <a:endParaRPr lang="en-US" sz="2200" dirty="0"/>
          </a:p>
        </p:txBody>
      </p:sp>
      <p:sp>
        <p:nvSpPr>
          <p:cNvPr id="13" name="Text 10"/>
          <p:cNvSpPr/>
          <p:nvPr/>
        </p:nvSpPr>
        <p:spPr>
          <a:xfrm>
            <a:off x="7543800" y="4096512"/>
            <a:ext cx="3931920" cy="365760"/>
          </a:xfrm>
          <a:prstGeom prst="rect">
            <a:avLst/>
          </a:prstGeom>
          <a:noFill/>
          <a:ln/>
        </p:spPr>
        <p:txBody>
          <a:bodyPr wrap="square" lIns="0" tIns="0" rIns="0" bIns="0" rtlCol="0" anchor="ctr"/>
          <a:lstStyle/>
          <a:p>
            <a:pPr marL="0" indent="0">
              <a:buNone/>
            </a:pPr>
            <a:r>
              <a:rPr lang="en-US" sz="1100" dirty="0">
                <a:solidFill>
                  <a:srgbClr val="1A2233"/>
                </a:solidFill>
                <a:latin typeface="Calibri" pitchFamily="34" charset="0"/>
                <a:ea typeface="Calibri" pitchFamily="34" charset="-122"/>
                <a:cs typeface="Calibri" pitchFamily="34" charset="-120"/>
              </a:rPr>
              <a:t>Syntax-valid generations for Qwen3</a:t>
            </a:r>
            <a:endParaRPr lang="en-US" sz="1100" dirty="0"/>
          </a:p>
        </p:txBody>
      </p:sp>
      <p:sp>
        <p:nvSpPr>
          <p:cNvPr id="14" name="Text 11"/>
          <p:cNvSpPr/>
          <p:nvPr/>
        </p:nvSpPr>
        <p:spPr>
          <a:xfrm>
            <a:off x="7315200" y="4846320"/>
            <a:ext cx="4389120" cy="822960"/>
          </a:xfrm>
          <a:prstGeom prst="rect">
            <a:avLst/>
          </a:prstGeom>
          <a:noFill/>
          <a:ln/>
        </p:spPr>
        <p:txBody>
          <a:bodyPr wrap="square" lIns="0" tIns="0" rIns="0" bIns="0" rtlCol="0" anchor="ctr"/>
          <a:lstStyle/>
          <a:p>
            <a:pPr marL="0" indent="0">
              <a:lnSpc>
                <a:spcPct val="115000"/>
              </a:lnSpc>
              <a:buNone/>
            </a:pPr>
            <a:r>
              <a:rPr lang="en-US" sz="1050" i="1" dirty="0">
                <a:solidFill>
                  <a:srgbClr val="5B6472"/>
                </a:solidFill>
                <a:latin typeface="Calibri" pitchFamily="34" charset="0"/>
                <a:ea typeface="Calibri" pitchFamily="34" charset="-122"/>
                <a:cs typeface="Calibri" pitchFamily="34" charset="-120"/>
              </a:rPr>
              <a:t>Evaluated on the same 1,034 Spider validation examples, 20 unseen databases, prompt format, deterministic settings, SQL executor and L4 GPU.</a:t>
            </a:r>
            <a:endParaRPr lang="en-US" sz="1050" dirty="0"/>
          </a:p>
        </p:txBody>
      </p:sp>
      <p:sp>
        <p:nvSpPr>
          <p:cNvPr id="15" name="Text 12"/>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JUSTIFICATION OF MODEL CHOICE</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QLoRA improves every model — but not equally</a:t>
            </a:r>
            <a:endParaRPr lang="en-US" sz="3000" dirty="0"/>
          </a:p>
        </p:txBody>
      </p:sp>
      <p:graphicFrame>
        <p:nvGraphicFramePr>
          <p:cNvPr id="4" name="Chart 0"/>
          <p:cNvGraphicFramePr/>
          <p:nvPr/>
        </p:nvGraphicFramePr>
        <p:xfrm>
          <a:off x="457200" y="1188720"/>
          <a:ext cx="74066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138160" y="1188720"/>
            <a:ext cx="3566160" cy="4114800"/>
          </a:xfrm>
          <a:prstGeom prst="roundRect">
            <a:avLst>
              <a:gd name="adj" fmla="val 2051"/>
            </a:avLst>
          </a:prstGeom>
          <a:solidFill>
            <a:srgbClr val="13234B"/>
          </a:solidFill>
          <a:ln/>
        </p:spPr>
      </p:sp>
      <p:sp>
        <p:nvSpPr>
          <p:cNvPr id="6" name="Text 3"/>
          <p:cNvSpPr/>
          <p:nvPr/>
        </p:nvSpPr>
        <p:spPr>
          <a:xfrm>
            <a:off x="8366760" y="1371600"/>
            <a:ext cx="3108960" cy="320040"/>
          </a:xfrm>
          <a:prstGeom prst="rect">
            <a:avLst/>
          </a:prstGeom>
          <a:noFill/>
          <a:ln/>
        </p:spPr>
        <p:txBody>
          <a:bodyPr wrap="square" lIns="0" tIns="0" rIns="0" bIns="0" rtlCol="0" anchor="ctr"/>
          <a:lstStyle/>
          <a:p>
            <a:pPr marL="0" indent="0">
              <a:buNone/>
            </a:pPr>
            <a:r>
              <a:rPr lang="en-US" sz="1400" b="1" dirty="0">
                <a:solidFill>
                  <a:srgbClr val="E8A33D"/>
                </a:solidFill>
                <a:latin typeface="Cambria" pitchFamily="34" charset="0"/>
                <a:ea typeface="Cambria" pitchFamily="34" charset="-122"/>
                <a:cs typeface="Cambria" pitchFamily="34" charset="-120"/>
              </a:rPr>
              <a:t>Improvement (pts)</a:t>
            </a:r>
            <a:endParaRPr lang="en-US" sz="1400" dirty="0"/>
          </a:p>
        </p:txBody>
      </p:sp>
      <p:sp>
        <p:nvSpPr>
          <p:cNvPr id="7" name="Text 4"/>
          <p:cNvSpPr/>
          <p:nvPr/>
        </p:nvSpPr>
        <p:spPr>
          <a:xfrm>
            <a:off x="8366760" y="1874520"/>
            <a:ext cx="23774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Qwen3 4B</a:t>
            </a:r>
            <a:endParaRPr lang="en-US" sz="1200" dirty="0"/>
          </a:p>
        </p:txBody>
      </p:sp>
      <p:sp>
        <p:nvSpPr>
          <p:cNvPr id="8" name="Text 5"/>
          <p:cNvSpPr/>
          <p:nvPr/>
        </p:nvSpPr>
        <p:spPr>
          <a:xfrm>
            <a:off x="8366760" y="2167128"/>
            <a:ext cx="3108960" cy="502920"/>
          </a:xfrm>
          <a:prstGeom prst="rect">
            <a:avLst/>
          </a:prstGeom>
          <a:noFill/>
          <a:ln/>
        </p:spPr>
        <p:txBody>
          <a:bodyPr wrap="square" lIns="0" tIns="0" rIns="0" bIns="0" rtlCol="0" anchor="ctr"/>
          <a:lstStyle/>
          <a:p>
            <a:pPr marL="0" indent="0">
              <a:buNone/>
            </a:pPr>
            <a:r>
              <a:rPr lang="en-US" sz="2600" b="1" dirty="0">
                <a:solidFill>
                  <a:srgbClr val="CFE8E9"/>
                </a:solidFill>
                <a:latin typeface="Cambria" pitchFamily="34" charset="0"/>
                <a:ea typeface="Cambria" pitchFamily="34" charset="-122"/>
                <a:cs typeface="Cambria" pitchFamily="34" charset="-120"/>
              </a:rPr>
              <a:t>+4.5</a:t>
            </a:r>
            <a:endParaRPr lang="en-US" sz="2600" dirty="0"/>
          </a:p>
        </p:txBody>
      </p:sp>
      <p:sp>
        <p:nvSpPr>
          <p:cNvPr id="9" name="Shape 6"/>
          <p:cNvSpPr/>
          <p:nvPr/>
        </p:nvSpPr>
        <p:spPr>
          <a:xfrm>
            <a:off x="8366760" y="2697480"/>
            <a:ext cx="3108960" cy="0"/>
          </a:xfrm>
          <a:prstGeom prst="line">
            <a:avLst/>
          </a:prstGeom>
          <a:noFill/>
          <a:ln w="9525">
            <a:solidFill>
              <a:srgbClr val="2A3B63"/>
            </a:solidFill>
            <a:prstDash val="solid"/>
          </a:ln>
        </p:spPr>
      </p:sp>
      <p:sp>
        <p:nvSpPr>
          <p:cNvPr id="10" name="Text 7"/>
          <p:cNvSpPr/>
          <p:nvPr/>
        </p:nvSpPr>
        <p:spPr>
          <a:xfrm>
            <a:off x="8366760" y="2834640"/>
            <a:ext cx="23774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Qwen2.5-Coder 1.5B</a:t>
            </a:r>
            <a:endParaRPr lang="en-US" sz="1200" dirty="0"/>
          </a:p>
        </p:txBody>
      </p:sp>
      <p:sp>
        <p:nvSpPr>
          <p:cNvPr id="11" name="Text 8"/>
          <p:cNvSpPr/>
          <p:nvPr/>
        </p:nvSpPr>
        <p:spPr>
          <a:xfrm>
            <a:off x="8366760" y="3127248"/>
            <a:ext cx="3108960" cy="502920"/>
          </a:xfrm>
          <a:prstGeom prst="rect">
            <a:avLst/>
          </a:prstGeom>
          <a:noFill/>
          <a:ln/>
        </p:spPr>
        <p:txBody>
          <a:bodyPr wrap="square" lIns="0" tIns="0" rIns="0" bIns="0" rtlCol="0" anchor="ctr"/>
          <a:lstStyle/>
          <a:p>
            <a:pPr marL="0" indent="0">
              <a:buNone/>
            </a:pPr>
            <a:r>
              <a:rPr lang="en-US" sz="2600" b="1" dirty="0">
                <a:solidFill>
                  <a:srgbClr val="CFE8E9"/>
                </a:solidFill>
                <a:latin typeface="Cambria" pitchFamily="34" charset="0"/>
                <a:ea typeface="Cambria" pitchFamily="34" charset="-122"/>
                <a:cs typeface="Cambria" pitchFamily="34" charset="-120"/>
              </a:rPr>
              <a:t>+9.0</a:t>
            </a:r>
            <a:endParaRPr lang="en-US" sz="2600" dirty="0"/>
          </a:p>
        </p:txBody>
      </p:sp>
      <p:sp>
        <p:nvSpPr>
          <p:cNvPr id="12" name="Shape 9"/>
          <p:cNvSpPr/>
          <p:nvPr/>
        </p:nvSpPr>
        <p:spPr>
          <a:xfrm>
            <a:off x="8366760" y="3657600"/>
            <a:ext cx="3108960" cy="0"/>
          </a:xfrm>
          <a:prstGeom prst="line">
            <a:avLst/>
          </a:prstGeom>
          <a:noFill/>
          <a:ln w="9525">
            <a:solidFill>
              <a:srgbClr val="2A3B63"/>
            </a:solidFill>
            <a:prstDash val="solid"/>
          </a:ln>
        </p:spPr>
      </p:sp>
      <p:sp>
        <p:nvSpPr>
          <p:cNvPr id="13" name="Text 10"/>
          <p:cNvSpPr/>
          <p:nvPr/>
        </p:nvSpPr>
        <p:spPr>
          <a:xfrm>
            <a:off x="8366760" y="3794760"/>
            <a:ext cx="2377440"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DeepSeek-Coder 1.3B</a:t>
            </a:r>
            <a:endParaRPr lang="en-US" sz="1200" dirty="0"/>
          </a:p>
        </p:txBody>
      </p:sp>
      <p:sp>
        <p:nvSpPr>
          <p:cNvPr id="14" name="Text 11"/>
          <p:cNvSpPr/>
          <p:nvPr/>
        </p:nvSpPr>
        <p:spPr>
          <a:xfrm>
            <a:off x="8366760" y="4087368"/>
            <a:ext cx="3108960" cy="502920"/>
          </a:xfrm>
          <a:prstGeom prst="rect">
            <a:avLst/>
          </a:prstGeom>
          <a:noFill/>
          <a:ln/>
        </p:spPr>
        <p:txBody>
          <a:bodyPr wrap="square" lIns="0" tIns="0" rIns="0" bIns="0" rtlCol="0" anchor="ctr"/>
          <a:lstStyle/>
          <a:p>
            <a:pPr marL="0" indent="0">
              <a:buNone/>
            </a:pPr>
            <a:r>
              <a:rPr lang="en-US" sz="2600" b="1" dirty="0">
                <a:solidFill>
                  <a:srgbClr val="CFE8E9"/>
                </a:solidFill>
                <a:latin typeface="Cambria" pitchFamily="34" charset="0"/>
                <a:ea typeface="Cambria" pitchFamily="34" charset="-122"/>
                <a:cs typeface="Cambria" pitchFamily="34" charset="-120"/>
              </a:rPr>
              <a:t>+20.3</a:t>
            </a:r>
            <a:endParaRPr lang="en-US" sz="2600" dirty="0"/>
          </a:p>
        </p:txBody>
      </p:sp>
      <p:sp>
        <p:nvSpPr>
          <p:cNvPr id="15" name="Text 12"/>
          <p:cNvSpPr/>
          <p:nvPr/>
        </p:nvSpPr>
        <p:spPr>
          <a:xfrm>
            <a:off x="8366760" y="5116067"/>
            <a:ext cx="3108960" cy="1234440"/>
          </a:xfrm>
          <a:prstGeom prst="rect">
            <a:avLst/>
          </a:prstGeom>
          <a:noFill/>
          <a:ln/>
        </p:spPr>
        <p:txBody>
          <a:bodyPr wrap="square" lIns="0" tIns="0" rIns="0" bIns="0" rtlCol="0" anchor="ctr"/>
          <a:lstStyle/>
          <a:p>
            <a:pPr marL="0" indent="0">
              <a:lnSpc>
                <a:spcPct val="120000"/>
              </a:lnSpc>
              <a:buNone/>
            </a:pPr>
            <a:r>
              <a:rPr lang="en-US" sz="1050" i="1" dirty="0">
                <a:solidFill>
                  <a:schemeClr val="tx2">
                    <a:lumMod val="60000"/>
                    <a:lumOff val="40000"/>
                  </a:schemeClr>
                </a:solidFill>
                <a:latin typeface="Calibri" pitchFamily="34" charset="0"/>
                <a:ea typeface="Calibri" pitchFamily="34" charset="-122"/>
                <a:cs typeface="Calibri" pitchFamily="34" charset="-120"/>
              </a:rPr>
              <a:t>Model size and zero-shot rank do not fully predict adaptation efficiency — DeepSeek gains most, Qwen3 still leads highest result.</a:t>
            </a:r>
            <a:endParaRPr lang="en-US" sz="1050" dirty="0">
              <a:solidFill>
                <a:schemeClr val="tx2">
                  <a:lumMod val="60000"/>
                  <a:lumOff val="40000"/>
                </a:schemeClr>
              </a:solidFill>
            </a:endParaRPr>
          </a:p>
        </p:txBody>
      </p:sp>
      <p:sp>
        <p:nvSpPr>
          <p:cNvPr id="16" name="Text 1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JUSTIFICATION OF MODEL CHOICE</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Comparison with SQL Specialists &amp; Ensembles</a:t>
            </a:r>
            <a:endParaRPr lang="en-US" sz="3000" dirty="0"/>
          </a:p>
        </p:txBody>
      </p:sp>
      <p:sp>
        <p:nvSpPr>
          <p:cNvPr id="4" name="Text 2"/>
          <p:cNvSpPr/>
          <p:nvPr/>
        </p:nvSpPr>
        <p:spPr>
          <a:xfrm>
            <a:off x="457200" y="1143000"/>
            <a:ext cx="5394960" cy="365760"/>
          </a:xfrm>
          <a:prstGeom prst="rect">
            <a:avLst/>
          </a:prstGeom>
          <a:noFill/>
          <a:ln/>
        </p:spPr>
        <p:txBody>
          <a:bodyPr wrap="square" lIns="0" tIns="0" rIns="0" bIns="0" rtlCol="0" anchor="ctr"/>
          <a:lstStyle/>
          <a:p>
            <a:pPr marL="0" indent="0">
              <a:buNone/>
            </a:pPr>
            <a:r>
              <a:rPr lang="en-US" sz="1500" b="1" dirty="0">
                <a:solidFill>
                  <a:srgbClr val="13234B"/>
                </a:solidFill>
                <a:latin typeface="Cambria" pitchFamily="34" charset="0"/>
                <a:ea typeface="Cambria" pitchFamily="34" charset="-122"/>
                <a:cs typeface="Cambria" pitchFamily="34" charset="-120"/>
              </a:rPr>
              <a:t>M-Schema prompt lifts the selected Qwen3 adapter</a:t>
            </a:r>
            <a:endParaRPr lang="en-US" sz="1500" dirty="0"/>
          </a:p>
        </p:txBody>
      </p:sp>
      <p:graphicFrame>
        <p:nvGraphicFramePr>
          <p:cNvPr id="5" name="Chart 0"/>
          <p:cNvGraphicFramePr/>
          <p:nvPr/>
        </p:nvGraphicFramePr>
        <p:xfrm>
          <a:off x="457200" y="1554480"/>
          <a:ext cx="5394960" cy="23317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4023360"/>
            <a:ext cx="5394960" cy="1371600"/>
          </a:xfrm>
          <a:prstGeom prst="rect">
            <a:avLst/>
          </a:prstGeom>
          <a:noFill/>
          <a:ln/>
        </p:spPr>
        <p:txBody>
          <a:bodyPr wrap="square" lIns="0" tIns="0" rIns="0" bIns="0" rtlCol="0" anchor="ctr"/>
          <a:lstStyle/>
          <a:p>
            <a:pPr marL="0" indent="0">
              <a:lnSpc>
                <a:spcPct val="120000"/>
              </a:lnSpc>
              <a:buNone/>
            </a:pPr>
            <a:r>
              <a:rPr lang="en-US" sz="1150" dirty="0">
                <a:solidFill>
                  <a:srgbClr val="1A2233"/>
                </a:solidFill>
                <a:latin typeface="Calibri" pitchFamily="34" charset="0"/>
                <a:ea typeface="Calibri" pitchFamily="34" charset="-122"/>
                <a:cs typeface="Calibri" pitchFamily="34" charset="-120"/>
              </a:rPr>
              <a:t>Under MAC-SQL/FINER-compatible scoring, M-Schema reaches 83.172%. The gain is largest on complex slice, where M-Schema provides explicit key relations and sample values. M-Schema hurt Qwen2.5 performance, so prompt format stays model-specific rather than universal.</a:t>
            </a:r>
            <a:endParaRPr lang="en-US" sz="1150" dirty="0"/>
          </a:p>
        </p:txBody>
      </p:sp>
      <p:sp>
        <p:nvSpPr>
          <p:cNvPr id="7" name="Shape 4"/>
          <p:cNvSpPr/>
          <p:nvPr/>
        </p:nvSpPr>
        <p:spPr>
          <a:xfrm>
            <a:off x="6172200" y="1188720"/>
            <a:ext cx="0" cy="5029200"/>
          </a:xfrm>
          <a:prstGeom prst="line">
            <a:avLst/>
          </a:prstGeom>
          <a:noFill/>
          <a:ln w="12700">
            <a:solidFill>
              <a:srgbClr val="E4E7EC"/>
            </a:solidFill>
            <a:prstDash val="solid"/>
          </a:ln>
        </p:spPr>
      </p:sp>
      <p:sp>
        <p:nvSpPr>
          <p:cNvPr id="8" name="Text 5"/>
          <p:cNvSpPr/>
          <p:nvPr/>
        </p:nvSpPr>
        <p:spPr>
          <a:xfrm>
            <a:off x="6400800" y="1143000"/>
            <a:ext cx="5303520" cy="365760"/>
          </a:xfrm>
          <a:prstGeom prst="rect">
            <a:avLst/>
          </a:prstGeom>
          <a:noFill/>
          <a:ln/>
        </p:spPr>
        <p:txBody>
          <a:bodyPr wrap="square" lIns="0" tIns="0" rIns="0" bIns="0" rtlCol="0" anchor="ctr"/>
          <a:lstStyle/>
          <a:p>
            <a:pPr marL="0" indent="0">
              <a:buNone/>
            </a:pPr>
            <a:r>
              <a:rPr lang="en-US" sz="1500" b="1" dirty="0">
                <a:solidFill>
                  <a:srgbClr val="13234B"/>
                </a:solidFill>
                <a:latin typeface="Cambria" pitchFamily="34" charset="0"/>
                <a:ea typeface="Cambria" pitchFamily="34" charset="-122"/>
                <a:cs typeface="Cambria" pitchFamily="34" charset="-120"/>
              </a:rPr>
              <a:t>Where Qwen3 sits against specialists &amp; ensembles</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0" y="1600200"/>
          <a:ext cx="5303520" cy="2304288"/>
        </p:xfrm>
        <a:graphic>
          <a:graphicData uri="http://schemas.openxmlformats.org/drawingml/2006/table">
            <a:tbl>
              <a:tblPr/>
              <a:tblGrid>
                <a:gridCol w="292608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1188720">
                  <a:extLst>
                    <a:ext uri="{9D8B030D-6E8A-4147-A177-3AD203B41FA5}">
                      <a16:colId xmlns:a16="http://schemas.microsoft.com/office/drawing/2014/main" val="20002"/>
                    </a:ext>
                  </a:extLst>
                </a:gridCol>
              </a:tblGrid>
              <a:tr h="38404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System</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Strict EX</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MAC/FINER EX</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extLst>
                  <a:ext uri="{0D108BD9-81ED-4DB2-BD59-A6C34878D82A}">
                    <a16:rowId xmlns:a16="http://schemas.microsoft.com/office/drawing/2014/main" val="10000"/>
                  </a:ext>
                </a:extLst>
              </a:tr>
              <a:tr h="384048">
                <a:tc>
                  <a:txBody>
                    <a:bodyPr/>
                    <a:lstStyle/>
                    <a:p>
                      <a:pPr marL="0" indent="0">
                        <a:buNone/>
                      </a:pPr>
                      <a:r>
                        <a:rPr lang="en-US" sz="1050" b="1" dirty="0">
                          <a:solidFill>
                            <a:srgbClr val="1A2233"/>
                          </a:solidFill>
                          <a:latin typeface="Calibri" pitchFamily="34" charset="0"/>
                          <a:ea typeface="Calibri" pitchFamily="34" charset="-122"/>
                          <a:cs typeface="Calibri" pitchFamily="34" charset="-120"/>
                        </a:rPr>
                        <a:t>Qwen3 4B + M-Schema (selected)</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tc>
                  <a:txBody>
                    <a:bodyPr/>
                    <a:lstStyle/>
                    <a:p>
                      <a:pPr marL="0" indent="0">
                        <a:buNone/>
                      </a:pPr>
                      <a:r>
                        <a:rPr lang="en-US" sz="1050" b="1" dirty="0">
                          <a:solidFill>
                            <a:srgbClr val="1A2233"/>
                          </a:solidFill>
                          <a:latin typeface="Calibri" pitchFamily="34" charset="0"/>
                          <a:ea typeface="Calibri" pitchFamily="34" charset="-122"/>
                          <a:cs typeface="Calibri" pitchFamily="34" charset="-120"/>
                        </a:rPr>
                        <a:t>78.627%</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tc>
                  <a:txBody>
                    <a:bodyPr/>
                    <a:lstStyle/>
                    <a:p>
                      <a:pPr marL="0" indent="0">
                        <a:buNone/>
                      </a:pPr>
                      <a:r>
                        <a:rPr lang="en-US" sz="1050" b="1" dirty="0">
                          <a:solidFill>
                            <a:srgbClr val="1A2233"/>
                          </a:solidFill>
                          <a:latin typeface="Calibri" pitchFamily="34" charset="0"/>
                          <a:ea typeface="Calibri" pitchFamily="34" charset="-122"/>
                          <a:cs typeface="Calibri" pitchFamily="34" charset="-120"/>
                        </a:rPr>
                        <a:t>83.172%</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CFE8E9"/>
                    </a:solidFill>
                  </a:tcPr>
                </a:tc>
                <a:extLst>
                  <a:ext uri="{0D108BD9-81ED-4DB2-BD59-A6C34878D82A}">
                    <a16:rowId xmlns:a16="http://schemas.microsoft.com/office/drawing/2014/main" val="10001"/>
                  </a:ext>
                </a:extLst>
              </a:tr>
              <a:tr h="38404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XiYanSQL 3B + M-Schema</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78.433%</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83.269%</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extLst>
                  <a:ext uri="{0D108BD9-81ED-4DB2-BD59-A6C34878D82A}">
                    <a16:rowId xmlns:a16="http://schemas.microsoft.com/office/drawing/2014/main" val="10002"/>
                  </a:ext>
                </a:extLst>
              </a:tr>
              <a:tr h="38404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FINER-SQL 3B enriched greedy</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76.692%</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81.431%</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Four-model execution consensus</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82.785%</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87.041%</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extLst>
                  <a:ext uri="{0D108BD9-81ED-4DB2-BD59-A6C34878D82A}">
                    <a16:rowId xmlns:a16="http://schemas.microsoft.com/office/drawing/2014/main" val="10004"/>
                  </a:ext>
                </a:extLst>
              </a:tr>
              <a:tr h="38404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Five-model consensus w/ FINER</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82.785%</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87.331%</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9" name="Shape 6"/>
          <p:cNvSpPr/>
          <p:nvPr/>
        </p:nvSpPr>
        <p:spPr>
          <a:xfrm>
            <a:off x="6400800" y="4160520"/>
            <a:ext cx="5303520" cy="1234440"/>
          </a:xfrm>
          <a:prstGeom prst="roundRect">
            <a:avLst>
              <a:gd name="adj" fmla="val 5185"/>
            </a:avLst>
          </a:prstGeom>
          <a:solidFill>
            <a:srgbClr val="F6F7F9"/>
          </a:solidFill>
          <a:ln w="12700">
            <a:solidFill>
              <a:srgbClr val="E4E7EC"/>
            </a:solidFill>
            <a:prstDash val="solid"/>
          </a:ln>
        </p:spPr>
      </p:sp>
      <p:sp>
        <p:nvSpPr>
          <p:cNvPr id="11" name="Text 7"/>
          <p:cNvSpPr/>
          <p:nvPr/>
        </p:nvSpPr>
        <p:spPr>
          <a:xfrm>
            <a:off x="6583680" y="4279392"/>
            <a:ext cx="4937760" cy="1005840"/>
          </a:xfrm>
          <a:prstGeom prst="rect">
            <a:avLst/>
          </a:prstGeom>
          <a:noFill/>
          <a:ln/>
        </p:spPr>
        <p:txBody>
          <a:bodyPr wrap="square" lIns="0" tIns="0" rIns="0" bIns="0" rtlCol="0" anchor="ctr"/>
          <a:lstStyle/>
          <a:p>
            <a:pPr marL="0" indent="0">
              <a:lnSpc>
                <a:spcPct val="118000"/>
              </a:lnSpc>
              <a:buNone/>
            </a:pPr>
            <a:r>
              <a:rPr lang="en-US" sz="1050" dirty="0">
                <a:solidFill>
                  <a:srgbClr val="1A2233"/>
                </a:solidFill>
                <a:latin typeface="Calibri" pitchFamily="34" charset="0"/>
                <a:ea typeface="Calibri" pitchFamily="34" charset="-122"/>
                <a:cs typeface="Calibri" pitchFamily="34" charset="-120"/>
              </a:rPr>
              <a:t>Qwen3 is chosen because the team owns and understands the full adaptation pipeline; it is general model suitable for future correction/explanation, and it stays nearly tied with the specialist. Ensemble is kept as an optional high-accuracy, higher-compute mode, rather than primary architecture.</a:t>
            </a:r>
            <a:endParaRPr lang="en-US" sz="1050" dirty="0"/>
          </a:p>
        </p:txBody>
      </p:sp>
      <p:sp>
        <p:nvSpPr>
          <p:cNvPr id="12" name="Text 8"/>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7A907B-9411-CDA7-43C8-8022AD70EC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DB69A9D-E866-2F3D-8499-BFF5AC2888F0}"/>
              </a:ext>
            </a:extLst>
          </p:cNvPr>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MODEL INPUTS AND OUTPUTS</a:t>
            </a:r>
            <a:endParaRPr lang="en-US" sz="1150" dirty="0"/>
          </a:p>
        </p:txBody>
      </p:sp>
      <p:sp>
        <p:nvSpPr>
          <p:cNvPr id="3" name="Text 1">
            <a:extLst>
              <a:ext uri="{FF2B5EF4-FFF2-40B4-BE49-F238E27FC236}">
                <a16:creationId xmlns:a16="http://schemas.microsoft.com/office/drawing/2014/main" id="{3BBB3896-85CD-D396-6027-D5A1A29EC1F7}"/>
              </a:ext>
            </a:extLst>
          </p:cNvPr>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2200" b="1" dirty="0">
                <a:solidFill>
                  <a:srgbClr val="13234B"/>
                </a:solidFill>
                <a:latin typeface="Cambria" pitchFamily="34" charset="0"/>
                <a:ea typeface="Cambria" pitchFamily="34" charset="-122"/>
                <a:cs typeface="Cambria" pitchFamily="34" charset="-120"/>
              </a:rPr>
              <a:t>Training Example Format &amp; Metadata</a:t>
            </a:r>
            <a:endParaRPr lang="en-US" sz="2200" dirty="0"/>
          </a:p>
        </p:txBody>
      </p:sp>
      <p:sp>
        <p:nvSpPr>
          <p:cNvPr id="12" name="Text 8">
            <a:extLst>
              <a:ext uri="{FF2B5EF4-FFF2-40B4-BE49-F238E27FC236}">
                <a16:creationId xmlns:a16="http://schemas.microsoft.com/office/drawing/2014/main" id="{65BFA6FF-70AC-377F-855A-A7FC77736FD3}"/>
              </a:ext>
            </a:extLst>
          </p:cNvPr>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grpSp>
        <p:nvGrpSpPr>
          <p:cNvPr id="13" name="Group 12">
            <a:extLst>
              <a:ext uri="{FF2B5EF4-FFF2-40B4-BE49-F238E27FC236}">
                <a16:creationId xmlns:a16="http://schemas.microsoft.com/office/drawing/2014/main" id="{E8F301FA-78A5-4238-5CDE-637CFD3C115C}"/>
              </a:ext>
            </a:extLst>
          </p:cNvPr>
          <p:cNvGrpSpPr/>
          <p:nvPr/>
        </p:nvGrpSpPr>
        <p:grpSpPr>
          <a:xfrm>
            <a:off x="571500" y="918712"/>
            <a:ext cx="5381625" cy="2257425"/>
            <a:chOff x="571500" y="1419225"/>
            <a:chExt cx="5381625" cy="2257425"/>
          </a:xfrm>
        </p:grpSpPr>
        <p:pic>
          <p:nvPicPr>
            <p:cNvPr id="14" name="Picture 13" descr="image.png">
              <a:extLst>
                <a:ext uri="{FF2B5EF4-FFF2-40B4-BE49-F238E27FC236}">
                  <a16:creationId xmlns:a16="http://schemas.microsoft.com/office/drawing/2014/main" id="{B54019C9-8745-472E-122C-86C89E7EA48E}"/>
                </a:ext>
              </a:extLst>
            </p:cNvPr>
            <p:cNvPicPr>
              <a:picLocks noChangeAspect="1"/>
            </p:cNvPicPr>
            <p:nvPr/>
          </p:nvPicPr>
          <p:blipFill>
            <a:blip r:embed="rId3"/>
            <a:stretch>
              <a:fillRect/>
            </a:stretch>
          </p:blipFill>
          <p:spPr>
            <a:xfrm>
              <a:off x="571500" y="1419225"/>
              <a:ext cx="5381625" cy="2257425"/>
            </a:xfrm>
            <a:prstGeom prst="rect">
              <a:avLst/>
            </a:prstGeom>
          </p:spPr>
        </p:pic>
        <p:sp>
          <p:nvSpPr>
            <p:cNvPr id="15" name="TextBox 14">
              <a:extLst>
                <a:ext uri="{FF2B5EF4-FFF2-40B4-BE49-F238E27FC236}">
                  <a16:creationId xmlns:a16="http://schemas.microsoft.com/office/drawing/2014/main" id="{9C7C9440-36A2-8158-80F4-C8F05C0E7FE2}"/>
                </a:ext>
              </a:extLst>
            </p:cNvPr>
            <p:cNvSpPr txBox="1"/>
            <p:nvPr/>
          </p:nvSpPr>
          <p:spPr>
            <a:xfrm>
              <a:off x="866775" y="2286000"/>
              <a:ext cx="5030628" cy="266700"/>
            </a:xfrm>
            <a:prstGeom prst="rect">
              <a:avLst/>
            </a:prstGeom>
            <a:noFill/>
          </p:spPr>
          <p:txBody>
            <a:bodyPr wrap="square" lIns="0" tIns="0" rIns="0" bIns="0" anchor="t">
              <a:spAutoFit/>
            </a:bodyPr>
            <a:lstStyle/>
            <a:p>
              <a:pPr algn="l"/>
              <a:r>
                <a:rPr sz="1650" b="0" i="0" u="none">
                  <a:solidFill>
                    <a:srgbClr val="1E293B"/>
                  </a:solidFill>
                  <a:latin typeface="Plus Jakarta Sans SemiBold"/>
                </a:rPr>
                <a:t>Supervised Chat Turns</a:t>
              </a:r>
            </a:p>
          </p:txBody>
        </p:sp>
        <p:pic>
          <p:nvPicPr>
            <p:cNvPr id="16" name="Picture 15" descr="image.png">
              <a:extLst>
                <a:ext uri="{FF2B5EF4-FFF2-40B4-BE49-F238E27FC236}">
                  <a16:creationId xmlns:a16="http://schemas.microsoft.com/office/drawing/2014/main" id="{7DE7391C-ABDD-D041-E03E-8B29697A4675}"/>
                </a:ext>
              </a:extLst>
            </p:cNvPr>
            <p:cNvPicPr>
              <a:picLocks noChangeAspect="1"/>
            </p:cNvPicPr>
            <p:nvPr/>
          </p:nvPicPr>
          <p:blipFill>
            <a:blip r:embed="rId4"/>
            <a:stretch>
              <a:fillRect/>
            </a:stretch>
          </p:blipFill>
          <p:spPr>
            <a:xfrm>
              <a:off x="866775" y="1762125"/>
              <a:ext cx="381000" cy="304800"/>
            </a:xfrm>
            <a:prstGeom prst="rect">
              <a:avLst/>
            </a:prstGeom>
          </p:spPr>
        </p:pic>
        <p:sp>
          <p:nvSpPr>
            <p:cNvPr id="17" name="TextBox 16">
              <a:extLst>
                <a:ext uri="{FF2B5EF4-FFF2-40B4-BE49-F238E27FC236}">
                  <a16:creationId xmlns:a16="http://schemas.microsoft.com/office/drawing/2014/main" id="{E46994E4-54F7-667B-7A00-E846A5566B04}"/>
                </a:ext>
              </a:extLst>
            </p:cNvPr>
            <p:cNvSpPr txBox="1"/>
            <p:nvPr/>
          </p:nvSpPr>
          <p:spPr>
            <a:xfrm>
              <a:off x="1057275" y="2667000"/>
              <a:ext cx="4600575" cy="213776"/>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Plus Jakarta Sans"/>
                </a:rPr>
                <a:t>System:</a:t>
              </a:r>
              <a:r>
                <a:rPr sz="1200" b="0" i="0" u="none" dirty="0">
                  <a:solidFill>
                    <a:srgbClr val="475569"/>
                  </a:solidFill>
                  <a:latin typeface="Plus Jakarta Sans"/>
                </a:rPr>
                <a:t> Generate one read-only SQLite query using</a:t>
              </a:r>
              <a:r>
                <a:rPr lang="en-IN" sz="1200" b="0" i="0" u="none" dirty="0">
                  <a:solidFill>
                    <a:srgbClr val="475569"/>
                  </a:solidFill>
                  <a:latin typeface="Plus Jakarta Sans"/>
                </a:rPr>
                <a:t> supplied</a:t>
              </a:r>
              <a:r>
                <a:rPr sz="1200" b="0" i="0" u="none" dirty="0">
                  <a:solidFill>
                    <a:srgbClr val="475569"/>
                  </a:solidFill>
                  <a:latin typeface="Plus Jakarta Sans"/>
                </a:rPr>
                <a:t> schema.</a:t>
              </a:r>
            </a:p>
          </p:txBody>
        </p:sp>
        <p:sp>
          <p:nvSpPr>
            <p:cNvPr id="18" name="TextBox 17">
              <a:extLst>
                <a:ext uri="{FF2B5EF4-FFF2-40B4-BE49-F238E27FC236}">
                  <a16:creationId xmlns:a16="http://schemas.microsoft.com/office/drawing/2014/main" id="{F4EAC95C-2DED-4673-F938-E0DAF8A01B05}"/>
                </a:ext>
              </a:extLst>
            </p:cNvPr>
            <p:cNvSpPr txBox="1"/>
            <p:nvPr/>
          </p:nvSpPr>
          <p:spPr>
            <a:xfrm>
              <a:off x="1057275" y="2990850"/>
              <a:ext cx="4600575" cy="213776"/>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Plus Jakarta Sans"/>
                </a:rPr>
                <a:t>User:</a:t>
              </a:r>
              <a:r>
                <a:rPr sz="1200" b="0" i="0" u="none" dirty="0">
                  <a:solidFill>
                    <a:srgbClr val="475569"/>
                  </a:solidFill>
                  <a:latin typeface="Plus Jakarta Sans"/>
                </a:rPr>
                <a:t> D</a:t>
              </a:r>
              <a:r>
                <a:rPr lang="en-IN" sz="1200" b="0" i="0" u="none" dirty="0">
                  <a:solidFill>
                    <a:srgbClr val="475569"/>
                  </a:solidFill>
                  <a:latin typeface="Plus Jakarta Sans"/>
                </a:rPr>
                <a:t>B d</a:t>
              </a:r>
              <a:r>
                <a:rPr sz="1200" b="0" i="0" u="none" dirty="0" err="1">
                  <a:solidFill>
                    <a:srgbClr val="475569"/>
                  </a:solidFill>
                  <a:latin typeface="Plus Jakarta Sans"/>
                </a:rPr>
                <a:t>ialect</a:t>
              </a:r>
              <a:r>
                <a:rPr sz="1200" b="0" i="0" u="none" dirty="0">
                  <a:solidFill>
                    <a:srgbClr val="475569"/>
                  </a:solidFill>
                  <a:latin typeface="Plus Jakarta Sans"/>
                </a:rPr>
                <a:t> + schema + natural language question.</a:t>
              </a:r>
            </a:p>
          </p:txBody>
        </p:sp>
        <p:sp>
          <p:nvSpPr>
            <p:cNvPr id="19" name="TextBox 18">
              <a:extLst>
                <a:ext uri="{FF2B5EF4-FFF2-40B4-BE49-F238E27FC236}">
                  <a16:creationId xmlns:a16="http://schemas.microsoft.com/office/drawing/2014/main" id="{3FB3E81C-03B0-C16F-6BC1-74A7C0C12C09}"/>
                </a:ext>
              </a:extLst>
            </p:cNvPr>
            <p:cNvSpPr txBox="1"/>
            <p:nvPr/>
          </p:nvSpPr>
          <p:spPr>
            <a:xfrm>
              <a:off x="1057275" y="3314700"/>
              <a:ext cx="4600575" cy="213776"/>
            </a:xfrm>
            <a:prstGeom prst="rect">
              <a:avLst/>
            </a:prstGeom>
            <a:noFill/>
          </p:spPr>
          <p:txBody>
            <a:bodyPr wrap="square" lIns="0" tIns="0" rIns="0" bIns="0" anchor="t">
              <a:spAutoFit/>
            </a:bodyPr>
            <a:lstStyle/>
            <a:p>
              <a:pPr algn="l">
                <a:lnSpc>
                  <a:spcPts val="1800"/>
                </a:lnSpc>
              </a:pPr>
              <a:r>
                <a:rPr sz="1200" b="1" i="0" u="none" dirty="0">
                  <a:solidFill>
                    <a:srgbClr val="475569"/>
                  </a:solidFill>
                  <a:latin typeface="Plus Jakarta Sans"/>
                </a:rPr>
                <a:t>Assistant:</a:t>
              </a:r>
              <a:r>
                <a:rPr sz="1200" b="0" i="0" u="none" dirty="0">
                  <a:solidFill>
                    <a:srgbClr val="475569"/>
                  </a:solidFill>
                  <a:latin typeface="Plus Jakarta Sans"/>
                </a:rPr>
                <a:t> Gold SQL only.</a:t>
              </a:r>
            </a:p>
          </p:txBody>
        </p:sp>
        <p:sp>
          <p:nvSpPr>
            <p:cNvPr id="20" name="TextBox 19">
              <a:extLst>
                <a:ext uri="{FF2B5EF4-FFF2-40B4-BE49-F238E27FC236}">
                  <a16:creationId xmlns:a16="http://schemas.microsoft.com/office/drawing/2014/main" id="{BFF11DA4-BE4D-9B2B-C796-D723581D2348}"/>
                </a:ext>
              </a:extLst>
            </p:cNvPr>
            <p:cNvSpPr txBox="1"/>
            <p:nvPr/>
          </p:nvSpPr>
          <p:spPr>
            <a:xfrm>
              <a:off x="866775" y="2667000"/>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sp>
          <p:nvSpPr>
            <p:cNvPr id="21" name="TextBox 20">
              <a:extLst>
                <a:ext uri="{FF2B5EF4-FFF2-40B4-BE49-F238E27FC236}">
                  <a16:creationId xmlns:a16="http://schemas.microsoft.com/office/drawing/2014/main" id="{910AEC72-17F7-7ADF-C2AC-DABAC1B4C97C}"/>
                </a:ext>
              </a:extLst>
            </p:cNvPr>
            <p:cNvSpPr txBox="1"/>
            <p:nvPr/>
          </p:nvSpPr>
          <p:spPr>
            <a:xfrm>
              <a:off x="866775" y="2990850"/>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sp>
          <p:nvSpPr>
            <p:cNvPr id="22" name="TextBox 21">
              <a:extLst>
                <a:ext uri="{FF2B5EF4-FFF2-40B4-BE49-F238E27FC236}">
                  <a16:creationId xmlns:a16="http://schemas.microsoft.com/office/drawing/2014/main" id="{984B9652-80C6-F9CB-EC1E-50E4D04F3B37}"/>
                </a:ext>
              </a:extLst>
            </p:cNvPr>
            <p:cNvSpPr txBox="1"/>
            <p:nvPr/>
          </p:nvSpPr>
          <p:spPr>
            <a:xfrm>
              <a:off x="866775" y="3314700"/>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grpSp>
      <p:grpSp>
        <p:nvGrpSpPr>
          <p:cNvPr id="23" name="Group 22">
            <a:extLst>
              <a:ext uri="{FF2B5EF4-FFF2-40B4-BE49-F238E27FC236}">
                <a16:creationId xmlns:a16="http://schemas.microsoft.com/office/drawing/2014/main" id="{C78B5FD8-F7C7-3FEC-9C19-6CE1C086E0F3}"/>
              </a:ext>
            </a:extLst>
          </p:cNvPr>
          <p:cNvGrpSpPr/>
          <p:nvPr/>
        </p:nvGrpSpPr>
        <p:grpSpPr>
          <a:xfrm>
            <a:off x="6238875" y="918712"/>
            <a:ext cx="5381625" cy="2257425"/>
            <a:chOff x="6238875" y="1419225"/>
            <a:chExt cx="5381625" cy="2257425"/>
          </a:xfrm>
        </p:grpSpPr>
        <p:pic>
          <p:nvPicPr>
            <p:cNvPr id="24" name="Picture 23" descr="image.png">
              <a:extLst>
                <a:ext uri="{FF2B5EF4-FFF2-40B4-BE49-F238E27FC236}">
                  <a16:creationId xmlns:a16="http://schemas.microsoft.com/office/drawing/2014/main" id="{D7F078AB-5AFC-6E9D-E5DB-920DFC85224B}"/>
                </a:ext>
              </a:extLst>
            </p:cNvPr>
            <p:cNvPicPr>
              <a:picLocks noChangeAspect="1"/>
            </p:cNvPicPr>
            <p:nvPr/>
          </p:nvPicPr>
          <p:blipFill>
            <a:blip r:embed="rId5"/>
            <a:stretch>
              <a:fillRect/>
            </a:stretch>
          </p:blipFill>
          <p:spPr>
            <a:xfrm>
              <a:off x="6238875" y="1419225"/>
              <a:ext cx="5381625" cy="2257425"/>
            </a:xfrm>
            <a:prstGeom prst="rect">
              <a:avLst/>
            </a:prstGeom>
          </p:spPr>
        </p:pic>
        <p:sp>
          <p:nvSpPr>
            <p:cNvPr id="25" name="TextBox 24">
              <a:extLst>
                <a:ext uri="{FF2B5EF4-FFF2-40B4-BE49-F238E27FC236}">
                  <a16:creationId xmlns:a16="http://schemas.microsoft.com/office/drawing/2014/main" id="{67ADB006-1658-CC45-102E-321A414825D2}"/>
                </a:ext>
              </a:extLst>
            </p:cNvPr>
            <p:cNvSpPr txBox="1"/>
            <p:nvPr/>
          </p:nvSpPr>
          <p:spPr>
            <a:xfrm>
              <a:off x="6534150" y="2286000"/>
              <a:ext cx="5030628" cy="266700"/>
            </a:xfrm>
            <a:prstGeom prst="rect">
              <a:avLst/>
            </a:prstGeom>
            <a:noFill/>
          </p:spPr>
          <p:txBody>
            <a:bodyPr wrap="square" lIns="0" tIns="0" rIns="0" bIns="0" anchor="t">
              <a:spAutoFit/>
            </a:bodyPr>
            <a:lstStyle/>
            <a:p>
              <a:pPr algn="l"/>
              <a:r>
                <a:rPr sz="1650" b="0" i="0" u="none">
                  <a:solidFill>
                    <a:srgbClr val="1E293B"/>
                  </a:solidFill>
                  <a:latin typeface="Plus Jakarta Sans SemiBold"/>
                </a:rPr>
                <a:t>Metadata Tracking</a:t>
              </a:r>
            </a:p>
          </p:txBody>
        </p:sp>
        <p:pic>
          <p:nvPicPr>
            <p:cNvPr id="26" name="Picture 25" descr="image.png">
              <a:extLst>
                <a:ext uri="{FF2B5EF4-FFF2-40B4-BE49-F238E27FC236}">
                  <a16:creationId xmlns:a16="http://schemas.microsoft.com/office/drawing/2014/main" id="{C753C260-B2A7-D092-C5C3-0B309B3CED29}"/>
                </a:ext>
              </a:extLst>
            </p:cNvPr>
            <p:cNvPicPr>
              <a:picLocks noChangeAspect="1"/>
            </p:cNvPicPr>
            <p:nvPr/>
          </p:nvPicPr>
          <p:blipFill>
            <a:blip r:embed="rId6"/>
            <a:stretch>
              <a:fillRect/>
            </a:stretch>
          </p:blipFill>
          <p:spPr>
            <a:xfrm>
              <a:off x="6534150" y="1762125"/>
              <a:ext cx="266700" cy="304800"/>
            </a:xfrm>
            <a:prstGeom prst="rect">
              <a:avLst/>
            </a:prstGeom>
          </p:spPr>
        </p:pic>
        <p:sp>
          <p:nvSpPr>
            <p:cNvPr id="27" name="TextBox 26">
              <a:extLst>
                <a:ext uri="{FF2B5EF4-FFF2-40B4-BE49-F238E27FC236}">
                  <a16:creationId xmlns:a16="http://schemas.microsoft.com/office/drawing/2014/main" id="{2796E32E-5CC2-FA06-26E5-219BB2A31F09}"/>
                </a:ext>
              </a:extLst>
            </p:cNvPr>
            <p:cNvSpPr txBox="1"/>
            <p:nvPr/>
          </p:nvSpPr>
          <p:spPr>
            <a:xfrm>
              <a:off x="6724650" y="2667000"/>
              <a:ext cx="4600575" cy="213776"/>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Retains database ID</a:t>
              </a:r>
              <a:r>
                <a:rPr lang="en-IN" sz="1200" b="0" i="0" u="none" dirty="0">
                  <a:solidFill>
                    <a:srgbClr val="475569"/>
                  </a:solidFill>
                  <a:latin typeface="Plus Jakarta Sans"/>
                </a:rPr>
                <a:t>, DB </a:t>
              </a:r>
              <a:r>
                <a:rPr sz="1200" b="0" i="0" u="none" dirty="0">
                  <a:solidFill>
                    <a:srgbClr val="475569"/>
                  </a:solidFill>
                  <a:latin typeface="Plus Jakarta Sans"/>
                </a:rPr>
                <a:t>path</a:t>
              </a:r>
              <a:r>
                <a:rPr lang="en-IN" sz="1200" b="0" i="0" u="none" dirty="0">
                  <a:solidFill>
                    <a:srgbClr val="475569"/>
                  </a:solidFill>
                  <a:latin typeface="Plus Jakarta Sans"/>
                </a:rPr>
                <a:t>, schema hash</a:t>
              </a:r>
              <a:r>
                <a:rPr sz="1200" b="0" i="0" u="none" dirty="0">
                  <a:solidFill>
                    <a:srgbClr val="475569"/>
                  </a:solidFill>
                  <a:latin typeface="Plus Jakarta Sans"/>
                </a:rPr>
                <a:t>.</a:t>
              </a:r>
            </a:p>
          </p:txBody>
        </p:sp>
        <p:sp>
          <p:nvSpPr>
            <p:cNvPr id="28" name="TextBox 27">
              <a:extLst>
                <a:ext uri="{FF2B5EF4-FFF2-40B4-BE49-F238E27FC236}">
                  <a16:creationId xmlns:a16="http://schemas.microsoft.com/office/drawing/2014/main" id="{4D5BE1EE-112A-1D9B-1E11-16DC6E1F1C48}"/>
                </a:ext>
              </a:extLst>
            </p:cNvPr>
            <p:cNvSpPr txBox="1"/>
            <p:nvPr/>
          </p:nvSpPr>
          <p:spPr>
            <a:xfrm>
              <a:off x="6724650" y="2876552"/>
              <a:ext cx="4600575" cy="457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Plus Jakarta Sans"/>
                </a:rPr>
                <a:t>Stores structural query features (joins, subqueries, grouping, complexity).</a:t>
              </a:r>
            </a:p>
          </p:txBody>
        </p:sp>
        <p:sp>
          <p:nvSpPr>
            <p:cNvPr id="29" name="TextBox 28">
              <a:extLst>
                <a:ext uri="{FF2B5EF4-FFF2-40B4-BE49-F238E27FC236}">
                  <a16:creationId xmlns:a16="http://schemas.microsoft.com/office/drawing/2014/main" id="{E6186899-114C-7C9C-DF1E-D198A5BC7E4B}"/>
                </a:ext>
              </a:extLst>
            </p:cNvPr>
            <p:cNvSpPr txBox="1"/>
            <p:nvPr/>
          </p:nvSpPr>
          <p:spPr>
            <a:xfrm>
              <a:off x="6724650" y="3098803"/>
              <a:ext cx="4600575" cy="2286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Includes gold execution-validation outcomes.</a:t>
              </a:r>
            </a:p>
          </p:txBody>
        </p:sp>
        <p:sp>
          <p:nvSpPr>
            <p:cNvPr id="30" name="TextBox 29">
              <a:extLst>
                <a:ext uri="{FF2B5EF4-FFF2-40B4-BE49-F238E27FC236}">
                  <a16:creationId xmlns:a16="http://schemas.microsoft.com/office/drawing/2014/main" id="{DF2A4D0B-19DB-304F-127D-325E4BFA0D1C}"/>
                </a:ext>
              </a:extLst>
            </p:cNvPr>
            <p:cNvSpPr txBox="1"/>
            <p:nvPr/>
          </p:nvSpPr>
          <p:spPr>
            <a:xfrm>
              <a:off x="6724650" y="3321052"/>
              <a:ext cx="4600575" cy="213776"/>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Features used solely for analysis &amp; ablation</a:t>
              </a:r>
            </a:p>
          </p:txBody>
        </p:sp>
        <p:sp>
          <p:nvSpPr>
            <p:cNvPr id="31" name="TextBox 30">
              <a:extLst>
                <a:ext uri="{FF2B5EF4-FFF2-40B4-BE49-F238E27FC236}">
                  <a16:creationId xmlns:a16="http://schemas.microsoft.com/office/drawing/2014/main" id="{2F584607-208B-CEC9-D3D0-881761406842}"/>
                </a:ext>
              </a:extLst>
            </p:cNvPr>
            <p:cNvSpPr txBox="1"/>
            <p:nvPr/>
          </p:nvSpPr>
          <p:spPr>
            <a:xfrm>
              <a:off x="6534150" y="2667000"/>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sp>
          <p:nvSpPr>
            <p:cNvPr id="32" name="TextBox 31">
              <a:extLst>
                <a:ext uri="{FF2B5EF4-FFF2-40B4-BE49-F238E27FC236}">
                  <a16:creationId xmlns:a16="http://schemas.microsoft.com/office/drawing/2014/main" id="{FA2356D6-8B87-A5E5-9E5D-C321E9F6695C}"/>
                </a:ext>
              </a:extLst>
            </p:cNvPr>
            <p:cNvSpPr txBox="1"/>
            <p:nvPr/>
          </p:nvSpPr>
          <p:spPr>
            <a:xfrm>
              <a:off x="6534150" y="2876552"/>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sp>
          <p:nvSpPr>
            <p:cNvPr id="33" name="TextBox 32">
              <a:extLst>
                <a:ext uri="{FF2B5EF4-FFF2-40B4-BE49-F238E27FC236}">
                  <a16:creationId xmlns:a16="http://schemas.microsoft.com/office/drawing/2014/main" id="{113DE5BB-7712-F863-DDF4-3D898234A61E}"/>
                </a:ext>
              </a:extLst>
            </p:cNvPr>
            <p:cNvSpPr txBox="1"/>
            <p:nvPr/>
          </p:nvSpPr>
          <p:spPr>
            <a:xfrm>
              <a:off x="6534150" y="3098803"/>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sp>
          <p:nvSpPr>
            <p:cNvPr id="34" name="TextBox 33">
              <a:extLst>
                <a:ext uri="{FF2B5EF4-FFF2-40B4-BE49-F238E27FC236}">
                  <a16:creationId xmlns:a16="http://schemas.microsoft.com/office/drawing/2014/main" id="{DE2D8843-6840-17AE-F7CA-26E38122C2BF}"/>
                </a:ext>
              </a:extLst>
            </p:cNvPr>
            <p:cNvSpPr txBox="1"/>
            <p:nvPr/>
          </p:nvSpPr>
          <p:spPr>
            <a:xfrm>
              <a:off x="6534150" y="3321052"/>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grpSp>
      <p:pic>
        <p:nvPicPr>
          <p:cNvPr id="46" name="Picture 45" descr="image.png">
            <a:extLst>
              <a:ext uri="{FF2B5EF4-FFF2-40B4-BE49-F238E27FC236}">
                <a16:creationId xmlns:a16="http://schemas.microsoft.com/office/drawing/2014/main" id="{32BF1DFD-F94E-AAD1-E108-1F735773158B}"/>
              </a:ext>
            </a:extLst>
          </p:cNvPr>
          <p:cNvPicPr>
            <a:picLocks noChangeAspect="1"/>
          </p:cNvPicPr>
          <p:nvPr/>
        </p:nvPicPr>
        <p:blipFill>
          <a:blip r:embed="rId7"/>
          <a:stretch>
            <a:fillRect/>
          </a:stretch>
        </p:blipFill>
        <p:spPr>
          <a:xfrm>
            <a:off x="6238875" y="3682624"/>
            <a:ext cx="5381625" cy="2731705"/>
          </a:xfrm>
          <a:prstGeom prst="rect">
            <a:avLst/>
          </a:prstGeom>
        </p:spPr>
      </p:pic>
      <p:grpSp>
        <p:nvGrpSpPr>
          <p:cNvPr id="58" name="Group 57">
            <a:extLst>
              <a:ext uri="{FF2B5EF4-FFF2-40B4-BE49-F238E27FC236}">
                <a16:creationId xmlns:a16="http://schemas.microsoft.com/office/drawing/2014/main" id="{62BBF88D-C004-2533-B97E-B0BFC87FF763}"/>
              </a:ext>
            </a:extLst>
          </p:cNvPr>
          <p:cNvGrpSpPr/>
          <p:nvPr/>
        </p:nvGrpSpPr>
        <p:grpSpPr>
          <a:xfrm>
            <a:off x="515778" y="3686191"/>
            <a:ext cx="5381625" cy="2731705"/>
            <a:chOff x="515778" y="3993621"/>
            <a:chExt cx="5381625" cy="2731705"/>
          </a:xfrm>
        </p:grpSpPr>
        <p:pic>
          <p:nvPicPr>
            <p:cNvPr id="36" name="Picture 35" descr="image.png">
              <a:extLst>
                <a:ext uri="{FF2B5EF4-FFF2-40B4-BE49-F238E27FC236}">
                  <a16:creationId xmlns:a16="http://schemas.microsoft.com/office/drawing/2014/main" id="{5A8B2041-459C-52F8-7344-934599126A56}"/>
                </a:ext>
              </a:extLst>
            </p:cNvPr>
            <p:cNvPicPr>
              <a:picLocks noChangeAspect="1"/>
            </p:cNvPicPr>
            <p:nvPr/>
          </p:nvPicPr>
          <p:blipFill>
            <a:blip r:embed="rId8"/>
            <a:stretch>
              <a:fillRect/>
            </a:stretch>
          </p:blipFill>
          <p:spPr>
            <a:xfrm>
              <a:off x="515778" y="3993621"/>
              <a:ext cx="5381625" cy="2731705"/>
            </a:xfrm>
            <a:prstGeom prst="rect">
              <a:avLst/>
            </a:prstGeom>
          </p:spPr>
        </p:pic>
        <p:grpSp>
          <p:nvGrpSpPr>
            <p:cNvPr id="57" name="Group 56">
              <a:extLst>
                <a:ext uri="{FF2B5EF4-FFF2-40B4-BE49-F238E27FC236}">
                  <a16:creationId xmlns:a16="http://schemas.microsoft.com/office/drawing/2014/main" id="{C2E7B9ED-EC49-BD58-875F-D90F8F6BF144}"/>
                </a:ext>
              </a:extLst>
            </p:cNvPr>
            <p:cNvGrpSpPr/>
            <p:nvPr/>
          </p:nvGrpSpPr>
          <p:grpSpPr>
            <a:xfrm>
              <a:off x="866775" y="4215053"/>
              <a:ext cx="4791075" cy="2308208"/>
              <a:chOff x="866775" y="4215053"/>
              <a:chExt cx="4791075" cy="2308208"/>
            </a:xfrm>
          </p:grpSpPr>
          <p:sp>
            <p:nvSpPr>
              <p:cNvPr id="39" name="TextBox 38">
                <a:extLst>
                  <a:ext uri="{FF2B5EF4-FFF2-40B4-BE49-F238E27FC236}">
                    <a16:creationId xmlns:a16="http://schemas.microsoft.com/office/drawing/2014/main" id="{8456F819-6382-0C95-37D5-13C7525C1C9B}"/>
                  </a:ext>
                </a:extLst>
              </p:cNvPr>
              <p:cNvSpPr txBox="1"/>
              <p:nvPr/>
            </p:nvSpPr>
            <p:spPr>
              <a:xfrm>
                <a:off x="1057275" y="4227753"/>
                <a:ext cx="4600575" cy="2286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Utilizes native model tokenizers and chat templates.</a:t>
                </a:r>
              </a:p>
            </p:txBody>
          </p:sp>
          <p:sp>
            <p:nvSpPr>
              <p:cNvPr id="40" name="TextBox 39">
                <a:extLst>
                  <a:ext uri="{FF2B5EF4-FFF2-40B4-BE49-F238E27FC236}">
                    <a16:creationId xmlns:a16="http://schemas.microsoft.com/office/drawing/2014/main" id="{F16AD91C-5C9A-9436-F0F0-C9C154BA050B}"/>
                  </a:ext>
                </a:extLst>
              </p:cNvPr>
              <p:cNvSpPr txBox="1"/>
              <p:nvPr/>
            </p:nvSpPr>
            <p:spPr>
              <a:xfrm>
                <a:off x="1057275" y="4551603"/>
                <a:ext cx="4600575" cy="2286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Renders instruction prefix before complete conversation.</a:t>
                </a:r>
              </a:p>
            </p:txBody>
          </p:sp>
          <p:sp>
            <p:nvSpPr>
              <p:cNvPr id="41" name="TextBox 40">
                <a:extLst>
                  <a:ext uri="{FF2B5EF4-FFF2-40B4-BE49-F238E27FC236}">
                    <a16:creationId xmlns:a16="http://schemas.microsoft.com/office/drawing/2014/main" id="{D1BCCFB5-085E-E6C2-49BA-D375164D357C}"/>
                  </a:ext>
                </a:extLst>
              </p:cNvPr>
              <p:cNvSpPr txBox="1"/>
              <p:nvPr/>
            </p:nvSpPr>
            <p:spPr>
              <a:xfrm>
                <a:off x="1057275" y="4875453"/>
                <a:ext cx="4600575" cy="4572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Verifies token sequence matching to maintain structural integrity.</a:t>
                </a:r>
              </a:p>
            </p:txBody>
          </p:sp>
          <p:sp>
            <p:nvSpPr>
              <p:cNvPr id="42" name="TextBox 41">
                <a:extLst>
                  <a:ext uri="{FF2B5EF4-FFF2-40B4-BE49-F238E27FC236}">
                    <a16:creationId xmlns:a16="http://schemas.microsoft.com/office/drawing/2014/main" id="{E222DEC6-BF65-352B-F68B-30099F869F2A}"/>
                  </a:ext>
                </a:extLst>
              </p:cNvPr>
              <p:cNvSpPr txBox="1"/>
              <p:nvPr/>
            </p:nvSpPr>
            <p:spPr>
              <a:xfrm>
                <a:off x="866775" y="4871132"/>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sp>
            <p:nvSpPr>
              <p:cNvPr id="43" name="TextBox 42">
                <a:extLst>
                  <a:ext uri="{FF2B5EF4-FFF2-40B4-BE49-F238E27FC236}">
                    <a16:creationId xmlns:a16="http://schemas.microsoft.com/office/drawing/2014/main" id="{D7342D77-E294-69E4-176A-BADB752BD1B0}"/>
                  </a:ext>
                </a:extLst>
              </p:cNvPr>
              <p:cNvSpPr txBox="1"/>
              <p:nvPr/>
            </p:nvSpPr>
            <p:spPr>
              <a:xfrm>
                <a:off x="866775" y="4551603"/>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sp>
            <p:nvSpPr>
              <p:cNvPr id="44" name="TextBox 43">
                <a:extLst>
                  <a:ext uri="{FF2B5EF4-FFF2-40B4-BE49-F238E27FC236}">
                    <a16:creationId xmlns:a16="http://schemas.microsoft.com/office/drawing/2014/main" id="{97677F7D-5E08-ABED-6816-D46D62DB150B}"/>
                  </a:ext>
                </a:extLst>
              </p:cNvPr>
              <p:cNvSpPr txBox="1"/>
              <p:nvPr/>
            </p:nvSpPr>
            <p:spPr>
              <a:xfrm>
                <a:off x="866775" y="4215053"/>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grpSp>
            <p:nvGrpSpPr>
              <p:cNvPr id="47" name="Group 46">
                <a:extLst>
                  <a:ext uri="{FF2B5EF4-FFF2-40B4-BE49-F238E27FC236}">
                    <a16:creationId xmlns:a16="http://schemas.microsoft.com/office/drawing/2014/main" id="{93357ECD-B67A-61FB-05FF-F8399A020561}"/>
                  </a:ext>
                </a:extLst>
              </p:cNvPr>
              <p:cNvGrpSpPr/>
              <p:nvPr/>
            </p:nvGrpSpPr>
            <p:grpSpPr>
              <a:xfrm>
                <a:off x="866775" y="5180236"/>
                <a:ext cx="4791075" cy="1343025"/>
                <a:chOff x="866775" y="2916837"/>
                <a:chExt cx="4791075" cy="1343025"/>
              </a:xfrm>
            </p:grpSpPr>
            <p:sp>
              <p:nvSpPr>
                <p:cNvPr id="50" name="TextBox 49">
                  <a:extLst>
                    <a:ext uri="{FF2B5EF4-FFF2-40B4-BE49-F238E27FC236}">
                      <a16:creationId xmlns:a16="http://schemas.microsoft.com/office/drawing/2014/main" id="{ED8456DA-D976-E580-BBD3-D327CD0CA083}"/>
                    </a:ext>
                  </a:extLst>
                </p:cNvPr>
                <p:cNvSpPr txBox="1"/>
                <p:nvPr/>
              </p:nvSpPr>
              <p:spPr>
                <a:xfrm>
                  <a:off x="1057275" y="2916837"/>
                  <a:ext cx="4600575" cy="238125"/>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Prompt tokens assigned label -100 (ignored).</a:t>
                  </a:r>
                </a:p>
              </p:txBody>
            </p:sp>
            <p:sp>
              <p:nvSpPr>
                <p:cNvPr id="51" name="TextBox 50">
                  <a:extLst>
                    <a:ext uri="{FF2B5EF4-FFF2-40B4-BE49-F238E27FC236}">
                      <a16:creationId xmlns:a16="http://schemas.microsoft.com/office/drawing/2014/main" id="{49FE36F4-E75F-8A22-4FC7-FEE07F6F46F1}"/>
                    </a:ext>
                  </a:extLst>
                </p:cNvPr>
                <p:cNvSpPr txBox="1"/>
                <p:nvPr/>
              </p:nvSpPr>
              <p:spPr>
                <a:xfrm>
                  <a:off x="1057275" y="3250212"/>
                  <a:ext cx="4600575" cy="4572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Only assistant SQL and closing tokens contribute to causal cross-entropy loss.</a:t>
                  </a:r>
                </a:p>
              </p:txBody>
            </p:sp>
            <p:sp>
              <p:nvSpPr>
                <p:cNvPr id="52" name="TextBox 51">
                  <a:extLst>
                    <a:ext uri="{FF2B5EF4-FFF2-40B4-BE49-F238E27FC236}">
                      <a16:creationId xmlns:a16="http://schemas.microsoft.com/office/drawing/2014/main" id="{1F02440A-49B8-BD2E-1D81-F33A3F9ECA9A}"/>
                    </a:ext>
                  </a:extLst>
                </p:cNvPr>
                <p:cNvSpPr txBox="1"/>
                <p:nvPr/>
              </p:nvSpPr>
              <p:spPr>
                <a:xfrm>
                  <a:off x="1057275" y="3802662"/>
                  <a:ext cx="4600575" cy="4572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Plus Jakarta Sans"/>
                    </a:rPr>
                    <a:t>Strict non-truncation policy enforced (longest Qwen sequence: 3,173 tokens under 4,096 limit).</a:t>
                  </a:r>
                </a:p>
              </p:txBody>
            </p:sp>
            <p:sp>
              <p:nvSpPr>
                <p:cNvPr id="53" name="TextBox 52">
                  <a:extLst>
                    <a:ext uri="{FF2B5EF4-FFF2-40B4-BE49-F238E27FC236}">
                      <a16:creationId xmlns:a16="http://schemas.microsoft.com/office/drawing/2014/main" id="{B011AAA6-69E0-E7B1-920D-C2546ECB8F51}"/>
                    </a:ext>
                  </a:extLst>
                </p:cNvPr>
                <p:cNvSpPr txBox="1"/>
                <p:nvPr/>
              </p:nvSpPr>
              <p:spPr>
                <a:xfrm>
                  <a:off x="866775" y="2916837"/>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sp>
              <p:nvSpPr>
                <p:cNvPr id="54" name="TextBox 53">
                  <a:extLst>
                    <a:ext uri="{FF2B5EF4-FFF2-40B4-BE49-F238E27FC236}">
                      <a16:creationId xmlns:a16="http://schemas.microsoft.com/office/drawing/2014/main" id="{C1161408-F431-D7BE-C7CB-551C42D3EC8A}"/>
                    </a:ext>
                  </a:extLst>
                </p:cNvPr>
                <p:cNvSpPr txBox="1"/>
                <p:nvPr/>
              </p:nvSpPr>
              <p:spPr>
                <a:xfrm>
                  <a:off x="866775" y="3250212"/>
                  <a:ext cx="104775" cy="228600"/>
                </a:xfrm>
                <a:prstGeom prst="rect">
                  <a:avLst/>
                </a:prstGeom>
                <a:noFill/>
              </p:spPr>
              <p:txBody>
                <a:bodyPr wrap="square" lIns="0" tIns="0" rIns="0" bIns="0" anchor="t">
                  <a:spAutoFit/>
                </a:bodyPr>
                <a:lstStyle/>
                <a:p>
                  <a:pPr algn="l">
                    <a:lnSpc>
                      <a:spcPts val="1800"/>
                    </a:lnSpc>
                  </a:pPr>
                  <a:r>
                    <a:rPr sz="1200" b="1" i="0" u="none">
                      <a:solidFill>
                        <a:srgbClr val="4F46E5"/>
                      </a:solidFill>
                      <a:latin typeface="Plus Jakarta Sans"/>
                    </a:rPr>
                    <a:t>•</a:t>
                  </a:r>
                </a:p>
              </p:txBody>
            </p:sp>
            <p:sp>
              <p:nvSpPr>
                <p:cNvPr id="55" name="TextBox 54">
                  <a:extLst>
                    <a:ext uri="{FF2B5EF4-FFF2-40B4-BE49-F238E27FC236}">
                      <a16:creationId xmlns:a16="http://schemas.microsoft.com/office/drawing/2014/main" id="{B08A212E-3B12-AA38-AC61-6ACB160822F4}"/>
                    </a:ext>
                  </a:extLst>
                </p:cNvPr>
                <p:cNvSpPr txBox="1"/>
                <p:nvPr/>
              </p:nvSpPr>
              <p:spPr>
                <a:xfrm>
                  <a:off x="866775" y="3802662"/>
                  <a:ext cx="104775" cy="228600"/>
                </a:xfrm>
                <a:prstGeom prst="rect">
                  <a:avLst/>
                </a:prstGeom>
                <a:noFill/>
              </p:spPr>
              <p:txBody>
                <a:bodyPr wrap="square" lIns="0" tIns="0" rIns="0" bIns="0" anchor="t">
                  <a:spAutoFit/>
                </a:bodyPr>
                <a:lstStyle/>
                <a:p>
                  <a:pPr algn="l">
                    <a:lnSpc>
                      <a:spcPts val="1800"/>
                    </a:lnSpc>
                  </a:pPr>
                  <a:r>
                    <a:rPr sz="1200" b="1" i="0" u="none" dirty="0">
                      <a:solidFill>
                        <a:srgbClr val="4F46E5"/>
                      </a:solidFill>
                      <a:latin typeface="Plus Jakarta Sans"/>
                    </a:rPr>
                    <a:t>•</a:t>
                  </a:r>
                </a:p>
              </p:txBody>
            </p:sp>
          </p:grpSp>
        </p:grpSp>
      </p:grpSp>
      <p:sp>
        <p:nvSpPr>
          <p:cNvPr id="56" name="Text 1">
            <a:extLst>
              <a:ext uri="{FF2B5EF4-FFF2-40B4-BE49-F238E27FC236}">
                <a16:creationId xmlns:a16="http://schemas.microsoft.com/office/drawing/2014/main" id="{612CC023-58C4-8A2B-882C-DAD03E45F07F}"/>
              </a:ext>
            </a:extLst>
          </p:cNvPr>
          <p:cNvSpPr/>
          <p:nvPr/>
        </p:nvSpPr>
        <p:spPr>
          <a:xfrm>
            <a:off x="544353" y="3150477"/>
            <a:ext cx="5480685" cy="640080"/>
          </a:xfrm>
          <a:prstGeom prst="rect">
            <a:avLst/>
          </a:prstGeom>
          <a:noFill/>
          <a:ln/>
        </p:spPr>
        <p:txBody>
          <a:bodyPr wrap="square" lIns="0" tIns="0" rIns="0" bIns="0" rtlCol="0" anchor="ctr"/>
          <a:lstStyle/>
          <a:p>
            <a:pPr marL="0" indent="0" algn="l">
              <a:buNone/>
            </a:pPr>
            <a:r>
              <a:rPr lang="en-US" b="1" dirty="0">
                <a:solidFill>
                  <a:srgbClr val="13234B"/>
                </a:solidFill>
                <a:latin typeface="Cambria" pitchFamily="34" charset="0"/>
                <a:ea typeface="Cambria" pitchFamily="34" charset="-122"/>
                <a:cs typeface="Cambria" pitchFamily="34" charset="-120"/>
              </a:rPr>
              <a:t>Tokenization &amp; Loss Making</a:t>
            </a:r>
            <a:endParaRPr lang="en-US" dirty="0"/>
          </a:p>
        </p:txBody>
      </p:sp>
      <p:sp>
        <p:nvSpPr>
          <p:cNvPr id="59" name="Text 1">
            <a:extLst>
              <a:ext uri="{FF2B5EF4-FFF2-40B4-BE49-F238E27FC236}">
                <a16:creationId xmlns:a16="http://schemas.microsoft.com/office/drawing/2014/main" id="{F057294D-4FD7-68D0-1AA6-25E384D19CB9}"/>
              </a:ext>
            </a:extLst>
          </p:cNvPr>
          <p:cNvSpPr/>
          <p:nvPr/>
        </p:nvSpPr>
        <p:spPr>
          <a:xfrm>
            <a:off x="6238875" y="3150477"/>
            <a:ext cx="5480685" cy="640080"/>
          </a:xfrm>
          <a:prstGeom prst="rect">
            <a:avLst/>
          </a:prstGeom>
          <a:noFill/>
          <a:ln/>
        </p:spPr>
        <p:txBody>
          <a:bodyPr wrap="square" lIns="0" tIns="0" rIns="0" bIns="0" rtlCol="0" anchor="ctr"/>
          <a:lstStyle/>
          <a:p>
            <a:pPr marL="0" indent="0" algn="l">
              <a:buNone/>
            </a:pPr>
            <a:r>
              <a:rPr lang="en-US" b="1" dirty="0">
                <a:solidFill>
                  <a:srgbClr val="13234B"/>
                </a:solidFill>
                <a:latin typeface="Cambria" pitchFamily="34" charset="0"/>
                <a:ea typeface="Cambria" pitchFamily="34" charset="-122"/>
                <a:cs typeface="Cambria" pitchFamily="34" charset="-120"/>
              </a:rPr>
              <a:t>Inference Outputs</a:t>
            </a:r>
            <a:endParaRPr lang="en-US" dirty="0"/>
          </a:p>
        </p:txBody>
      </p:sp>
      <p:sp>
        <p:nvSpPr>
          <p:cNvPr id="61" name="TextBox 60">
            <a:extLst>
              <a:ext uri="{FF2B5EF4-FFF2-40B4-BE49-F238E27FC236}">
                <a16:creationId xmlns:a16="http://schemas.microsoft.com/office/drawing/2014/main" id="{D1B1D189-1081-5D59-EC02-47258A6D838E}"/>
              </a:ext>
            </a:extLst>
          </p:cNvPr>
          <p:cNvSpPr txBox="1"/>
          <p:nvPr/>
        </p:nvSpPr>
        <p:spPr>
          <a:xfrm>
            <a:off x="6638925" y="4274683"/>
            <a:ext cx="4600575" cy="1367939"/>
          </a:xfrm>
          <a:prstGeom prst="rect">
            <a:avLst/>
          </a:prstGeom>
          <a:noFill/>
        </p:spPr>
        <p:txBody>
          <a:bodyPr wrap="square" lIns="0" tIns="0" rIns="0" bIns="0" anchor="t">
            <a:spAutoFit/>
          </a:bodyPr>
          <a:lstStyle/>
          <a:p>
            <a:pPr algn="l">
              <a:lnSpc>
                <a:spcPts val="1800"/>
              </a:lnSpc>
            </a:pPr>
            <a:r>
              <a:rPr lang="en-US" sz="1200" b="0" i="0" u="none" dirty="0">
                <a:solidFill>
                  <a:srgbClr val="475569"/>
                </a:solidFill>
                <a:latin typeface="Plus Jakarta Sans"/>
              </a:rPr>
              <a:t>The evaluator records comprehensive metadata for each inference example—including raw and normalized SQL, execution results, correctness metrics, token counts, performance stats, and configuration settings. Storing this detailed data separately enables efficient rescoring following evaluator corrections without requiring a rerun of GPU inference.</a:t>
            </a:r>
            <a:endParaRPr sz="1200" b="0" i="0" u="none" dirty="0">
              <a:solidFill>
                <a:srgbClr val="475569"/>
              </a:solidFill>
              <a:latin typeface="Plus Jakarta Sans"/>
            </a:endParaRPr>
          </a:p>
        </p:txBody>
      </p:sp>
    </p:spTree>
    <p:extLst>
      <p:ext uri="{BB962C8B-B14F-4D97-AF65-F5344CB8AC3E}">
        <p14:creationId xmlns:p14="http://schemas.microsoft.com/office/powerpoint/2010/main" val="1805434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TRAINING STRATEGY</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QLoRA configuration, validated end-to-end on a single L4</a:t>
            </a:r>
            <a:endParaRPr lang="en-US" sz="3000" dirty="0"/>
          </a:p>
        </p:txBody>
      </p:sp>
      <p:sp>
        <p:nvSpPr>
          <p:cNvPr id="4" name="Text 2"/>
          <p:cNvSpPr/>
          <p:nvPr/>
        </p:nvSpPr>
        <p:spPr>
          <a:xfrm>
            <a:off x="457200" y="1234440"/>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Backbone</a:t>
            </a:r>
            <a:endParaRPr lang="en-US" sz="1050" dirty="0"/>
          </a:p>
        </p:txBody>
      </p:sp>
      <p:sp>
        <p:nvSpPr>
          <p:cNvPr id="5" name="Text 3"/>
          <p:cNvSpPr/>
          <p:nvPr/>
        </p:nvSpPr>
        <p:spPr>
          <a:xfrm>
            <a:off x="457200" y="1453896"/>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Qwen3-4B-Instruct-2507</a:t>
            </a:r>
            <a:endParaRPr lang="en-US" sz="1250" dirty="0"/>
          </a:p>
        </p:txBody>
      </p:sp>
      <p:sp>
        <p:nvSpPr>
          <p:cNvPr id="6" name="Text 4"/>
          <p:cNvSpPr/>
          <p:nvPr/>
        </p:nvSpPr>
        <p:spPr>
          <a:xfrm>
            <a:off x="457200" y="1746504"/>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Quantization</a:t>
            </a:r>
            <a:endParaRPr lang="en-US" sz="1050" dirty="0"/>
          </a:p>
        </p:txBody>
      </p:sp>
      <p:sp>
        <p:nvSpPr>
          <p:cNvPr id="7" name="Text 5"/>
          <p:cNvSpPr/>
          <p:nvPr/>
        </p:nvSpPr>
        <p:spPr>
          <a:xfrm>
            <a:off x="457200" y="1965960"/>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4-bit NF4, BF16 compute</a:t>
            </a:r>
            <a:endParaRPr lang="en-US" sz="1250" dirty="0"/>
          </a:p>
        </p:txBody>
      </p:sp>
      <p:sp>
        <p:nvSpPr>
          <p:cNvPr id="8" name="Text 6"/>
          <p:cNvSpPr/>
          <p:nvPr/>
        </p:nvSpPr>
        <p:spPr>
          <a:xfrm>
            <a:off x="457200" y="2258568"/>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LoRA rank / alpha</a:t>
            </a:r>
            <a:endParaRPr lang="en-US" sz="1050" dirty="0"/>
          </a:p>
        </p:txBody>
      </p:sp>
      <p:sp>
        <p:nvSpPr>
          <p:cNvPr id="9" name="Text 7"/>
          <p:cNvSpPr/>
          <p:nvPr/>
        </p:nvSpPr>
        <p:spPr>
          <a:xfrm>
            <a:off x="457200" y="2478024"/>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16 / 32 (dropout 0.05)</a:t>
            </a:r>
            <a:endParaRPr lang="en-US" sz="1250" dirty="0"/>
          </a:p>
        </p:txBody>
      </p:sp>
      <p:sp>
        <p:nvSpPr>
          <p:cNvPr id="10" name="Text 8"/>
          <p:cNvSpPr/>
          <p:nvPr/>
        </p:nvSpPr>
        <p:spPr>
          <a:xfrm>
            <a:off x="457200" y="2770632"/>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Target modules</a:t>
            </a:r>
            <a:endParaRPr lang="en-US" sz="1050" dirty="0"/>
          </a:p>
        </p:txBody>
      </p:sp>
      <p:sp>
        <p:nvSpPr>
          <p:cNvPr id="11" name="Text 9"/>
          <p:cNvSpPr/>
          <p:nvPr/>
        </p:nvSpPr>
        <p:spPr>
          <a:xfrm>
            <a:off x="457200" y="2990088"/>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All linear layers</a:t>
            </a:r>
            <a:endParaRPr lang="en-US" sz="1250" dirty="0"/>
          </a:p>
        </p:txBody>
      </p:sp>
      <p:sp>
        <p:nvSpPr>
          <p:cNvPr id="12" name="Text 10"/>
          <p:cNvSpPr/>
          <p:nvPr/>
        </p:nvSpPr>
        <p:spPr>
          <a:xfrm>
            <a:off x="457200" y="3282696"/>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Optimizer</a:t>
            </a:r>
            <a:endParaRPr lang="en-US" sz="1050" dirty="0"/>
          </a:p>
        </p:txBody>
      </p:sp>
      <p:sp>
        <p:nvSpPr>
          <p:cNvPr id="13" name="Text 11"/>
          <p:cNvSpPr/>
          <p:nvPr/>
        </p:nvSpPr>
        <p:spPr>
          <a:xfrm>
            <a:off x="457200" y="3502152"/>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Paged AdamW 8-bit</a:t>
            </a:r>
            <a:endParaRPr lang="en-US" sz="1250" dirty="0"/>
          </a:p>
        </p:txBody>
      </p:sp>
      <p:sp>
        <p:nvSpPr>
          <p:cNvPr id="14" name="Text 12"/>
          <p:cNvSpPr/>
          <p:nvPr/>
        </p:nvSpPr>
        <p:spPr>
          <a:xfrm>
            <a:off x="3703320" y="1234440"/>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Learning rate</a:t>
            </a:r>
            <a:endParaRPr lang="en-US" sz="1050" dirty="0"/>
          </a:p>
        </p:txBody>
      </p:sp>
      <p:sp>
        <p:nvSpPr>
          <p:cNvPr id="15" name="Text 13"/>
          <p:cNvSpPr/>
          <p:nvPr/>
        </p:nvSpPr>
        <p:spPr>
          <a:xfrm>
            <a:off x="3703320" y="1453896"/>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2e-4, cosine schedule</a:t>
            </a:r>
            <a:endParaRPr lang="en-US" sz="1250" dirty="0"/>
          </a:p>
        </p:txBody>
      </p:sp>
      <p:sp>
        <p:nvSpPr>
          <p:cNvPr id="16" name="Text 14"/>
          <p:cNvSpPr/>
          <p:nvPr/>
        </p:nvSpPr>
        <p:spPr>
          <a:xfrm>
            <a:off x="3703320" y="1746504"/>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Effective batch</a:t>
            </a:r>
            <a:endParaRPr lang="en-US" sz="1050" dirty="0"/>
          </a:p>
        </p:txBody>
      </p:sp>
      <p:sp>
        <p:nvSpPr>
          <p:cNvPr id="17" name="Text 15"/>
          <p:cNvSpPr/>
          <p:nvPr/>
        </p:nvSpPr>
        <p:spPr>
          <a:xfrm>
            <a:off x="3703320" y="1965960"/>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16 (1 × 16 grad. accumulation)</a:t>
            </a:r>
            <a:endParaRPr lang="en-US" sz="1250" dirty="0"/>
          </a:p>
        </p:txBody>
      </p:sp>
      <p:sp>
        <p:nvSpPr>
          <p:cNvPr id="18" name="Text 16"/>
          <p:cNvSpPr/>
          <p:nvPr/>
        </p:nvSpPr>
        <p:spPr>
          <a:xfrm>
            <a:off x="3703320" y="2258568"/>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Max sequence length</a:t>
            </a:r>
            <a:endParaRPr lang="en-US" sz="1050" dirty="0"/>
          </a:p>
        </p:txBody>
      </p:sp>
      <p:sp>
        <p:nvSpPr>
          <p:cNvPr id="19" name="Text 17"/>
          <p:cNvSpPr/>
          <p:nvPr/>
        </p:nvSpPr>
        <p:spPr>
          <a:xfrm>
            <a:off x="3703320" y="2478024"/>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4,096 tokens</a:t>
            </a:r>
            <a:endParaRPr lang="en-US" sz="1250" dirty="0"/>
          </a:p>
        </p:txBody>
      </p:sp>
      <p:sp>
        <p:nvSpPr>
          <p:cNvPr id="20" name="Text 18"/>
          <p:cNvSpPr/>
          <p:nvPr/>
        </p:nvSpPr>
        <p:spPr>
          <a:xfrm>
            <a:off x="3703320" y="2770632"/>
            <a:ext cx="3017520" cy="256032"/>
          </a:xfrm>
          <a:prstGeom prst="rect">
            <a:avLst/>
          </a:prstGeom>
          <a:noFill/>
          <a:ln/>
        </p:spPr>
        <p:txBody>
          <a:bodyPr wrap="square" lIns="0" tIns="0" rIns="0" bIns="0" rtlCol="0" anchor="ctr"/>
          <a:lstStyle/>
          <a:p>
            <a:pPr marL="0" indent="0">
              <a:buNone/>
            </a:pPr>
            <a:r>
              <a:rPr lang="en-US" sz="1050" dirty="0">
                <a:solidFill>
                  <a:srgbClr val="5B6472"/>
                </a:solidFill>
                <a:latin typeface="Calibri" pitchFamily="34" charset="0"/>
                <a:ea typeface="Calibri" pitchFamily="34" charset="-122"/>
                <a:cs typeface="Calibri" pitchFamily="34" charset="-120"/>
              </a:rPr>
              <a:t>Epochs / seed</a:t>
            </a:r>
            <a:endParaRPr lang="en-US" sz="1050" dirty="0"/>
          </a:p>
        </p:txBody>
      </p:sp>
      <p:sp>
        <p:nvSpPr>
          <p:cNvPr id="21" name="Text 19"/>
          <p:cNvSpPr/>
          <p:nvPr/>
        </p:nvSpPr>
        <p:spPr>
          <a:xfrm>
            <a:off x="3703320" y="2990088"/>
            <a:ext cx="3017520" cy="274320"/>
          </a:xfrm>
          <a:prstGeom prst="rect">
            <a:avLst/>
          </a:prstGeom>
          <a:noFill/>
          <a:ln/>
        </p:spPr>
        <p:txBody>
          <a:bodyPr wrap="square" lIns="0" tIns="0" rIns="0" bIns="0" rtlCol="0" anchor="ctr"/>
          <a:lstStyle/>
          <a:p>
            <a:pPr marL="0" indent="0">
              <a:buNone/>
            </a:pPr>
            <a:r>
              <a:rPr lang="en-US" sz="1250" b="1" dirty="0">
                <a:solidFill>
                  <a:srgbClr val="13234B"/>
                </a:solidFill>
                <a:latin typeface="Calibri" pitchFamily="34" charset="0"/>
                <a:ea typeface="Calibri" pitchFamily="34" charset="-122"/>
                <a:cs typeface="Calibri" pitchFamily="34" charset="-120"/>
              </a:rPr>
              <a:t>1 / seed 17</a:t>
            </a:r>
            <a:endParaRPr lang="en-US" sz="1250" dirty="0"/>
          </a:p>
        </p:txBody>
      </p:sp>
      <p:sp>
        <p:nvSpPr>
          <p:cNvPr id="22" name="Shape 20"/>
          <p:cNvSpPr/>
          <p:nvPr/>
        </p:nvSpPr>
        <p:spPr>
          <a:xfrm>
            <a:off x="6537960" y="1188720"/>
            <a:ext cx="0" cy="3063240"/>
          </a:xfrm>
          <a:prstGeom prst="line">
            <a:avLst/>
          </a:prstGeom>
          <a:noFill/>
          <a:ln w="12700">
            <a:solidFill>
              <a:srgbClr val="E4E7EC"/>
            </a:solidFill>
            <a:prstDash val="solid"/>
          </a:ln>
        </p:spPr>
      </p:sp>
      <p:sp>
        <p:nvSpPr>
          <p:cNvPr id="23" name="Text 21"/>
          <p:cNvSpPr/>
          <p:nvPr/>
        </p:nvSpPr>
        <p:spPr>
          <a:xfrm>
            <a:off x="6858000" y="1234440"/>
            <a:ext cx="4846320" cy="320040"/>
          </a:xfrm>
          <a:prstGeom prst="rect">
            <a:avLst/>
          </a:prstGeom>
          <a:noFill/>
          <a:ln/>
        </p:spPr>
        <p:txBody>
          <a:bodyPr wrap="square" lIns="0" tIns="0" rIns="0" bIns="0" rtlCol="0" anchor="ctr"/>
          <a:lstStyle/>
          <a:p>
            <a:pPr marL="0" indent="0">
              <a:buNone/>
            </a:pPr>
            <a:r>
              <a:rPr lang="en-US" sz="1400" b="1" dirty="0">
                <a:solidFill>
                  <a:srgbClr val="13234B"/>
                </a:solidFill>
                <a:latin typeface="Cambria" pitchFamily="34" charset="0"/>
                <a:ea typeface="Cambria" pitchFamily="34" charset="-122"/>
                <a:cs typeface="Cambria" pitchFamily="34" charset="-120"/>
              </a:rPr>
              <a:t>Dataset (Spider 1.0)</a:t>
            </a:r>
            <a:endParaRPr lang="en-US" sz="1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6858000" y="1627632"/>
          <a:ext cx="4846320" cy="877824"/>
        </p:xfrm>
        <a:graphic>
          <a:graphicData uri="http://schemas.openxmlformats.org/drawingml/2006/table">
            <a:tbl>
              <a:tblPr/>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tblGrid>
              <a:tr h="292608">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Split</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Usable</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DBs</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tc>
                  <a:txBody>
                    <a:bodyPr/>
                    <a:lstStyle/>
                    <a:p>
                      <a:pPr marL="0" indent="0">
                        <a:buNone/>
                      </a:pPr>
                      <a:r>
                        <a:rPr lang="en-US" sz="1050" b="1" dirty="0">
                          <a:solidFill>
                            <a:srgbClr val="FFFFFF"/>
                          </a:solidFill>
                          <a:latin typeface="Calibri" pitchFamily="34" charset="0"/>
                          <a:ea typeface="Calibri" pitchFamily="34" charset="-122"/>
                          <a:cs typeface="Calibri" pitchFamily="34" charset="-120"/>
                        </a:rPr>
                        <a:t>Simple / Mod. / Cplx</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13234B"/>
                    </a:solidFill>
                  </a:tcPr>
                </a:tc>
                <a:extLst>
                  <a:ext uri="{0D108BD9-81ED-4DB2-BD59-A6C34878D82A}">
                    <a16:rowId xmlns:a16="http://schemas.microsoft.com/office/drawing/2014/main" val="10000"/>
                  </a:ext>
                </a:extLst>
              </a:tr>
              <a:tr h="29260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Train</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6,997</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140</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3,995 / 2,242 / 760</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92608">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Validation</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1,034</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20</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tc>
                  <a:txBody>
                    <a:bodyPr/>
                    <a:lstStyle/>
                    <a:p>
                      <a:pPr marL="0" indent="0">
                        <a:buNone/>
                      </a:pPr>
                      <a:r>
                        <a:rPr lang="en-US" sz="1050" dirty="0">
                          <a:solidFill>
                            <a:srgbClr val="1A2233"/>
                          </a:solidFill>
                          <a:latin typeface="Calibri" pitchFamily="34" charset="0"/>
                          <a:ea typeface="Calibri" pitchFamily="34" charset="-122"/>
                          <a:cs typeface="Calibri" pitchFamily="34" charset="-120"/>
                        </a:rPr>
                        <a:t>593 / 336 / 105</a:t>
                      </a:r>
                      <a:endParaRPr lang="en-US" sz="1050" dirty="0">
                        <a:latin typeface="Calibri" charset="0"/>
                        <a:ea typeface="Calibri" charset="0"/>
                        <a:cs typeface="Calibri" charset="0"/>
                      </a:endParaRPr>
                    </a:p>
                  </a:txBody>
                  <a:tcPr anchor="ctr">
                    <a:lnL w="9525" cap="flat" cmpd="sng" algn="ctr">
                      <a:solidFill>
                        <a:srgbClr val="E4E7EC"/>
                      </a:solidFill>
                      <a:prstDash val="solid"/>
                      <a:round/>
                      <a:headEnd type="none" w="med" len="med"/>
                      <a:tailEnd type="none" w="med" len="med"/>
                    </a:lnL>
                    <a:lnR w="9525" cap="flat" cmpd="sng" algn="ctr">
                      <a:solidFill>
                        <a:srgbClr val="E4E7EC"/>
                      </a:solidFill>
                      <a:prstDash val="solid"/>
                      <a:round/>
                      <a:headEnd type="none" w="med" len="med"/>
                      <a:tailEnd type="none" w="med" len="med"/>
                    </a:lnR>
                    <a:lnT w="9525" cap="flat" cmpd="sng" algn="ctr">
                      <a:solidFill>
                        <a:srgbClr val="E4E7EC"/>
                      </a:solidFill>
                      <a:prstDash val="solid"/>
                      <a:round/>
                      <a:headEnd type="none" w="med" len="med"/>
                      <a:tailEnd type="none" w="med" len="med"/>
                    </a:lnT>
                    <a:lnB w="9525" cap="flat" cmpd="sng" algn="ctr">
                      <a:solidFill>
                        <a:srgbClr val="E4E7EC"/>
                      </a:solidFill>
                      <a:prstDash val="solid"/>
                      <a:round/>
                      <a:headEnd type="none" w="med" len="med"/>
                      <a:tailEnd type="none" w="med" len="med"/>
                    </a:lnB>
                    <a:solidFill>
                      <a:srgbClr val="F6F7F9"/>
                    </a:solidFill>
                  </a:tcPr>
                </a:tc>
                <a:extLst>
                  <a:ext uri="{0D108BD9-81ED-4DB2-BD59-A6C34878D82A}">
                    <a16:rowId xmlns:a16="http://schemas.microsoft.com/office/drawing/2014/main" val="10002"/>
                  </a:ext>
                </a:extLst>
              </a:tr>
            </a:tbl>
          </a:graphicData>
        </a:graphic>
      </p:graphicFrame>
      <p:sp>
        <p:nvSpPr>
          <p:cNvPr id="25" name="Text 22"/>
          <p:cNvSpPr/>
          <p:nvPr/>
        </p:nvSpPr>
        <p:spPr>
          <a:xfrm>
            <a:off x="6858000" y="2651760"/>
            <a:ext cx="4846320" cy="640080"/>
          </a:xfrm>
          <a:prstGeom prst="rect">
            <a:avLst/>
          </a:prstGeom>
          <a:noFill/>
          <a:ln/>
        </p:spPr>
        <p:txBody>
          <a:bodyPr wrap="square" lIns="0" tIns="0" rIns="0" bIns="0" rtlCol="0" anchor="ctr"/>
          <a:lstStyle/>
          <a:p>
            <a:pPr marL="0" indent="0">
              <a:lnSpc>
                <a:spcPct val="115000"/>
              </a:lnSpc>
              <a:buNone/>
            </a:pPr>
            <a:r>
              <a:rPr lang="en-US" sz="1050" i="1" dirty="0">
                <a:solidFill>
                  <a:srgbClr val="5B6472"/>
                </a:solidFill>
                <a:latin typeface="Calibri" pitchFamily="34" charset="0"/>
                <a:ea typeface="Calibri" pitchFamily="34" charset="-122"/>
                <a:cs typeface="Calibri" pitchFamily="34" charset="-120"/>
              </a:rPr>
              <a:t>Zero train/validation database overlap. Zero exact (DB, question, SQL) overlap. Validation databases remain unseen during training.</a:t>
            </a:r>
            <a:endParaRPr lang="en-US" sz="1050" dirty="0"/>
          </a:p>
        </p:txBody>
      </p:sp>
      <p:sp>
        <p:nvSpPr>
          <p:cNvPr id="26" name="Shape 23"/>
          <p:cNvSpPr/>
          <p:nvPr/>
        </p:nvSpPr>
        <p:spPr>
          <a:xfrm>
            <a:off x="457200" y="4434840"/>
            <a:ext cx="11247120" cy="1691640"/>
          </a:xfrm>
          <a:prstGeom prst="roundRect">
            <a:avLst>
              <a:gd name="adj" fmla="val 4324"/>
            </a:avLst>
          </a:prstGeom>
          <a:solidFill>
            <a:srgbClr val="13234B"/>
          </a:solidFill>
          <a:ln/>
        </p:spPr>
      </p:sp>
      <p:sp>
        <p:nvSpPr>
          <p:cNvPr id="27" name="Text 24"/>
          <p:cNvSpPr/>
          <p:nvPr/>
        </p:nvSpPr>
        <p:spPr>
          <a:xfrm>
            <a:off x="777240" y="4590288"/>
            <a:ext cx="4572000" cy="320040"/>
          </a:xfrm>
          <a:prstGeom prst="rect">
            <a:avLst/>
          </a:prstGeom>
          <a:noFill/>
          <a:ln/>
        </p:spPr>
        <p:txBody>
          <a:bodyPr wrap="square" lIns="0" tIns="0" rIns="0" bIns="0" rtlCol="0" anchor="ctr"/>
          <a:lstStyle/>
          <a:p>
            <a:pPr marL="0" indent="0">
              <a:buNone/>
            </a:pPr>
            <a:r>
              <a:rPr lang="en-US" sz="1400" b="1" dirty="0">
                <a:solidFill>
                  <a:srgbClr val="E8A33D"/>
                </a:solidFill>
                <a:latin typeface="Cambria" pitchFamily="34" charset="0"/>
                <a:ea typeface="Cambria" pitchFamily="34" charset="-122"/>
                <a:cs typeface="Cambria" pitchFamily="34" charset="-120"/>
              </a:rPr>
              <a:t>Completed training run</a:t>
            </a:r>
            <a:endParaRPr lang="en-US" sz="1400" dirty="0"/>
          </a:p>
        </p:txBody>
      </p:sp>
      <p:sp>
        <p:nvSpPr>
          <p:cNvPr id="28" name="Text 25"/>
          <p:cNvSpPr/>
          <p:nvPr/>
        </p:nvSpPr>
        <p:spPr>
          <a:xfrm>
            <a:off x="777240" y="4956048"/>
            <a:ext cx="26060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438</a:t>
            </a:r>
            <a:endParaRPr lang="en-US" sz="2000" dirty="0"/>
          </a:p>
        </p:txBody>
      </p:sp>
      <p:sp>
        <p:nvSpPr>
          <p:cNvPr id="29" name="Text 26"/>
          <p:cNvSpPr/>
          <p:nvPr/>
        </p:nvSpPr>
        <p:spPr>
          <a:xfrm>
            <a:off x="777240" y="5413248"/>
            <a:ext cx="2606040" cy="548640"/>
          </a:xfrm>
          <a:prstGeom prst="rect">
            <a:avLst/>
          </a:prstGeom>
          <a:noFill/>
          <a:ln/>
        </p:spPr>
        <p:txBody>
          <a:bodyPr wrap="square" lIns="0" tIns="0" rIns="0" bIns="0" rtlCol="0" anchor="ctr"/>
          <a:lstStyle/>
          <a:p>
            <a:pPr marL="0" indent="0">
              <a:lnSpc>
                <a:spcPct val="110000"/>
              </a:lnSpc>
              <a:buNone/>
            </a:pPr>
            <a:r>
              <a:rPr lang="en-US" sz="1000" dirty="0">
                <a:solidFill>
                  <a:srgbClr val="AEB9CC"/>
                </a:solidFill>
                <a:latin typeface="Calibri" pitchFamily="34" charset="0"/>
                <a:ea typeface="Calibri" pitchFamily="34" charset="-122"/>
                <a:cs typeface="Calibri" pitchFamily="34" charset="-120"/>
              </a:rPr>
              <a:t>Optimizer steps completed</a:t>
            </a:r>
            <a:endParaRPr lang="en-US" sz="1000" dirty="0"/>
          </a:p>
        </p:txBody>
      </p:sp>
      <p:sp>
        <p:nvSpPr>
          <p:cNvPr id="30" name="Text 27"/>
          <p:cNvSpPr/>
          <p:nvPr/>
        </p:nvSpPr>
        <p:spPr>
          <a:xfrm>
            <a:off x="3474720" y="4956048"/>
            <a:ext cx="26060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0.2560</a:t>
            </a:r>
            <a:endParaRPr lang="en-US" sz="2000" dirty="0"/>
          </a:p>
        </p:txBody>
      </p:sp>
      <p:sp>
        <p:nvSpPr>
          <p:cNvPr id="31" name="Text 28"/>
          <p:cNvSpPr/>
          <p:nvPr/>
        </p:nvSpPr>
        <p:spPr>
          <a:xfrm>
            <a:off x="3474720" y="5413248"/>
            <a:ext cx="2606040" cy="548640"/>
          </a:xfrm>
          <a:prstGeom prst="rect">
            <a:avLst/>
          </a:prstGeom>
          <a:noFill/>
          <a:ln/>
        </p:spPr>
        <p:txBody>
          <a:bodyPr wrap="square" lIns="0" tIns="0" rIns="0" bIns="0" rtlCol="0" anchor="ctr"/>
          <a:lstStyle/>
          <a:p>
            <a:pPr marL="0" indent="0">
              <a:lnSpc>
                <a:spcPct val="110000"/>
              </a:lnSpc>
              <a:buNone/>
            </a:pPr>
            <a:r>
              <a:rPr lang="en-US" sz="1000" dirty="0">
                <a:solidFill>
                  <a:srgbClr val="AEB9CC"/>
                </a:solidFill>
                <a:latin typeface="Calibri" pitchFamily="34" charset="0"/>
                <a:ea typeface="Calibri" pitchFamily="34" charset="-122"/>
                <a:cs typeface="Calibri" pitchFamily="34" charset="-120"/>
              </a:rPr>
              <a:t>Final validation loss</a:t>
            </a:r>
            <a:endParaRPr lang="en-US" sz="1000" dirty="0"/>
          </a:p>
        </p:txBody>
      </p:sp>
      <p:sp>
        <p:nvSpPr>
          <p:cNvPr id="32" name="Text 29"/>
          <p:cNvSpPr/>
          <p:nvPr/>
        </p:nvSpPr>
        <p:spPr>
          <a:xfrm>
            <a:off x="6172200" y="4956048"/>
            <a:ext cx="26060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10.638 GiB</a:t>
            </a:r>
            <a:endParaRPr lang="en-US" sz="2000" dirty="0"/>
          </a:p>
        </p:txBody>
      </p:sp>
      <p:sp>
        <p:nvSpPr>
          <p:cNvPr id="33" name="Text 30"/>
          <p:cNvSpPr/>
          <p:nvPr/>
        </p:nvSpPr>
        <p:spPr>
          <a:xfrm>
            <a:off x="6172200" y="5413248"/>
            <a:ext cx="2606040" cy="548640"/>
          </a:xfrm>
          <a:prstGeom prst="rect">
            <a:avLst/>
          </a:prstGeom>
          <a:noFill/>
          <a:ln/>
        </p:spPr>
        <p:txBody>
          <a:bodyPr wrap="square" lIns="0" tIns="0" rIns="0" bIns="0" rtlCol="0" anchor="ctr"/>
          <a:lstStyle/>
          <a:p>
            <a:pPr marL="0" indent="0">
              <a:lnSpc>
                <a:spcPct val="110000"/>
              </a:lnSpc>
              <a:buNone/>
            </a:pPr>
            <a:r>
              <a:rPr lang="en-US" sz="1000" dirty="0">
                <a:solidFill>
                  <a:srgbClr val="AEB9CC"/>
                </a:solidFill>
                <a:latin typeface="Calibri" pitchFamily="34" charset="0"/>
                <a:ea typeface="Calibri" pitchFamily="34" charset="-122"/>
                <a:cs typeface="Calibri" pitchFamily="34" charset="-120"/>
              </a:rPr>
              <a:t>Peak allocated VRAM</a:t>
            </a:r>
            <a:endParaRPr lang="en-US" sz="1000" dirty="0"/>
          </a:p>
        </p:txBody>
      </p:sp>
      <p:sp>
        <p:nvSpPr>
          <p:cNvPr id="34" name="Text 31"/>
          <p:cNvSpPr/>
          <p:nvPr/>
        </p:nvSpPr>
        <p:spPr>
          <a:xfrm>
            <a:off x="8869680" y="4956048"/>
            <a:ext cx="260604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33.03M</a:t>
            </a:r>
            <a:endParaRPr lang="en-US" sz="2000" dirty="0"/>
          </a:p>
        </p:txBody>
      </p:sp>
      <p:sp>
        <p:nvSpPr>
          <p:cNvPr id="35" name="Text 32"/>
          <p:cNvSpPr/>
          <p:nvPr/>
        </p:nvSpPr>
        <p:spPr>
          <a:xfrm>
            <a:off x="8869680" y="5413248"/>
            <a:ext cx="2606040" cy="548640"/>
          </a:xfrm>
          <a:prstGeom prst="rect">
            <a:avLst/>
          </a:prstGeom>
          <a:noFill/>
          <a:ln/>
        </p:spPr>
        <p:txBody>
          <a:bodyPr wrap="square" lIns="0" tIns="0" rIns="0" bIns="0" rtlCol="0" anchor="ctr"/>
          <a:lstStyle/>
          <a:p>
            <a:pPr marL="0" indent="0">
              <a:lnSpc>
                <a:spcPct val="110000"/>
              </a:lnSpc>
              <a:buNone/>
            </a:pPr>
            <a:r>
              <a:rPr lang="en-US" sz="1000" dirty="0">
                <a:solidFill>
                  <a:srgbClr val="AEB9CC"/>
                </a:solidFill>
                <a:latin typeface="Calibri" pitchFamily="34" charset="0"/>
                <a:ea typeface="Calibri" pitchFamily="34" charset="-122"/>
                <a:cs typeface="Calibri" pitchFamily="34" charset="-120"/>
              </a:rPr>
              <a:t>Trainable adapter parameters</a:t>
            </a:r>
            <a:endParaRPr lang="en-US" sz="1000" dirty="0"/>
          </a:p>
        </p:txBody>
      </p:sp>
      <p:sp>
        <p:nvSpPr>
          <p:cNvPr id="36" name="Text 33"/>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COMPUTATIONAL REQUIREMENTS</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Comfortably feasible on a single Colab L4</a:t>
            </a:r>
            <a:endParaRPr lang="en-US" sz="3000" dirty="0"/>
          </a:p>
        </p:txBody>
      </p:sp>
      <p:sp>
        <p:nvSpPr>
          <p:cNvPr id="4" name="Text 2"/>
          <p:cNvSpPr/>
          <p:nvPr/>
        </p:nvSpPr>
        <p:spPr>
          <a:xfrm>
            <a:off x="457200" y="1188720"/>
            <a:ext cx="5394960" cy="320040"/>
          </a:xfrm>
          <a:prstGeom prst="rect">
            <a:avLst/>
          </a:prstGeom>
          <a:noFill/>
          <a:ln/>
        </p:spPr>
        <p:txBody>
          <a:bodyPr wrap="square" lIns="0" tIns="0" rIns="0" bIns="0" rtlCol="0" anchor="ctr"/>
          <a:lstStyle/>
          <a:p>
            <a:pPr marL="0" indent="0">
              <a:buNone/>
            </a:pPr>
            <a:r>
              <a:rPr lang="en-US" sz="1350" b="1" dirty="0">
                <a:solidFill>
                  <a:srgbClr val="13234B"/>
                </a:solidFill>
                <a:latin typeface="Cambria" pitchFamily="34" charset="0"/>
                <a:ea typeface="Cambria" pitchFamily="34" charset="-122"/>
                <a:cs typeface="Cambria" pitchFamily="34" charset="-120"/>
              </a:rPr>
              <a:t>VRAM headroom (of ~22.03 GiB usable)</a:t>
            </a:r>
            <a:endParaRPr lang="en-US" sz="1350" dirty="0"/>
          </a:p>
        </p:txBody>
      </p:sp>
      <p:graphicFrame>
        <p:nvGraphicFramePr>
          <p:cNvPr id="5" name="Chart 0"/>
          <p:cNvGraphicFramePr/>
          <p:nvPr>
            <p:extLst>
              <p:ext uri="{D42A27DB-BD31-4B8C-83A1-F6EECF244321}">
                <p14:modId xmlns:p14="http://schemas.microsoft.com/office/powerpoint/2010/main" val="1487945974"/>
              </p:ext>
            </p:extLst>
          </p:nvPr>
        </p:nvGraphicFramePr>
        <p:xfrm>
          <a:off x="457200" y="1508760"/>
          <a:ext cx="539496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3886200"/>
            <a:ext cx="5394960" cy="548640"/>
          </a:xfrm>
          <a:prstGeom prst="rect">
            <a:avLst/>
          </a:prstGeom>
          <a:noFill/>
          <a:ln/>
        </p:spPr>
        <p:txBody>
          <a:bodyPr wrap="square" lIns="0" tIns="0" rIns="0" bIns="0" rtlCol="0" anchor="ctr"/>
          <a:lstStyle/>
          <a:p>
            <a:pPr marL="0" indent="0">
              <a:lnSpc>
                <a:spcPct val="115000"/>
              </a:lnSpc>
              <a:buNone/>
            </a:pPr>
            <a:r>
              <a:rPr lang="en-US" sz="1100" i="1" dirty="0">
                <a:solidFill>
                  <a:srgbClr val="5B6472"/>
                </a:solidFill>
                <a:latin typeface="Calibri" pitchFamily="34" charset="0"/>
                <a:ea typeface="Calibri" pitchFamily="34" charset="-122"/>
                <a:cs typeface="Calibri" pitchFamily="34" charset="-120"/>
              </a:rPr>
              <a:t>Both stay well under the 22 GiB ceiling — leaving margin for batching and future retrieval components.</a:t>
            </a:r>
            <a:endParaRPr lang="en-US" sz="1100" dirty="0"/>
          </a:p>
        </p:txBody>
      </p:sp>
      <p:sp>
        <p:nvSpPr>
          <p:cNvPr id="7" name="Shape 4"/>
          <p:cNvSpPr/>
          <p:nvPr/>
        </p:nvSpPr>
        <p:spPr>
          <a:xfrm>
            <a:off x="6172200" y="1188720"/>
            <a:ext cx="0" cy="5029200"/>
          </a:xfrm>
          <a:prstGeom prst="line">
            <a:avLst/>
          </a:prstGeom>
          <a:noFill/>
          <a:ln w="12700">
            <a:solidFill>
              <a:srgbClr val="E4E7EC"/>
            </a:solidFill>
            <a:prstDash val="solid"/>
          </a:ln>
        </p:spPr>
      </p:sp>
      <p:sp>
        <p:nvSpPr>
          <p:cNvPr id="8" name="Text 5"/>
          <p:cNvSpPr/>
          <p:nvPr/>
        </p:nvSpPr>
        <p:spPr>
          <a:xfrm>
            <a:off x="6492240" y="1188720"/>
            <a:ext cx="5212080" cy="320040"/>
          </a:xfrm>
          <a:prstGeom prst="rect">
            <a:avLst/>
          </a:prstGeom>
          <a:noFill/>
          <a:ln/>
        </p:spPr>
        <p:txBody>
          <a:bodyPr wrap="square" lIns="0" tIns="0" rIns="0" bIns="0" rtlCol="0" anchor="ctr"/>
          <a:lstStyle/>
          <a:p>
            <a:pPr marL="0" indent="0">
              <a:buNone/>
            </a:pPr>
            <a:r>
              <a:rPr lang="en-US" sz="1350" b="1" dirty="0">
                <a:solidFill>
                  <a:srgbClr val="13234B"/>
                </a:solidFill>
                <a:latin typeface="Cambria" pitchFamily="34" charset="0"/>
                <a:ea typeface="Cambria" pitchFamily="34" charset="-122"/>
                <a:cs typeface="Cambria" pitchFamily="34" charset="-120"/>
              </a:rPr>
              <a:t>Mean generation time / example (batched, ms)</a:t>
            </a:r>
            <a:endParaRPr lang="en-US" sz="1350" dirty="0"/>
          </a:p>
        </p:txBody>
      </p:sp>
      <p:graphicFrame>
        <p:nvGraphicFramePr>
          <p:cNvPr id="9" name="Chart 1"/>
          <p:cNvGraphicFramePr/>
          <p:nvPr/>
        </p:nvGraphicFramePr>
        <p:xfrm>
          <a:off x="6492240" y="1508760"/>
          <a:ext cx="5212080" cy="310896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6"/>
          <p:cNvSpPr/>
          <p:nvPr/>
        </p:nvSpPr>
        <p:spPr>
          <a:xfrm>
            <a:off x="6492240" y="4709160"/>
            <a:ext cx="5212080" cy="548640"/>
          </a:xfrm>
          <a:prstGeom prst="rect">
            <a:avLst/>
          </a:prstGeom>
          <a:noFill/>
          <a:ln/>
        </p:spPr>
        <p:txBody>
          <a:bodyPr wrap="square" lIns="0" tIns="0" rIns="0" bIns="0" rtlCol="0" anchor="ctr"/>
          <a:lstStyle/>
          <a:p>
            <a:pPr marL="0" indent="0">
              <a:lnSpc>
                <a:spcPct val="115000"/>
              </a:lnSpc>
              <a:buNone/>
            </a:pPr>
            <a:r>
              <a:rPr lang="en-US" sz="1000" i="1" dirty="0">
                <a:solidFill>
                  <a:srgbClr val="5B6472"/>
                </a:solidFill>
                <a:latin typeface="Calibri" pitchFamily="34" charset="0"/>
                <a:ea typeface="Calibri" pitchFamily="34" charset="-122"/>
                <a:cs typeface="Calibri" pitchFamily="34" charset="-120"/>
              </a:rPr>
              <a:t>Offline batch averages, not final API latency — deployment testing will measure batch-size-one p50/p95 including retrieval and execution.</a:t>
            </a:r>
            <a:endParaRPr lang="en-US" sz="1000" dirty="0"/>
          </a:p>
        </p:txBody>
      </p:sp>
      <p:sp>
        <p:nvSpPr>
          <p:cNvPr id="11" name="Text 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0E7C86"/>
                </a:solidFill>
                <a:latin typeface="Calibri" pitchFamily="34" charset="0"/>
                <a:ea typeface="Calibri" pitchFamily="34" charset="-122"/>
                <a:cs typeface="Calibri" pitchFamily="34" charset="-120"/>
              </a:rPr>
              <a:t>RISKS &amp; LIMITATIONS</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13234B"/>
                </a:solidFill>
                <a:latin typeface="Cambria" pitchFamily="34" charset="0"/>
                <a:ea typeface="Cambria" pitchFamily="34" charset="-122"/>
                <a:cs typeface="Cambria" pitchFamily="34" charset="-120"/>
              </a:rPr>
              <a:t>Where accuracy still breaks down, and how it's contained</a:t>
            </a:r>
            <a:endParaRPr lang="en-US" sz="3000" dirty="0"/>
          </a:p>
        </p:txBody>
      </p:sp>
      <p:sp>
        <p:nvSpPr>
          <p:cNvPr id="4" name="Text 2"/>
          <p:cNvSpPr/>
          <p:nvPr/>
        </p:nvSpPr>
        <p:spPr>
          <a:xfrm>
            <a:off x="457200" y="1188720"/>
            <a:ext cx="5394960" cy="320040"/>
          </a:xfrm>
          <a:prstGeom prst="rect">
            <a:avLst/>
          </a:prstGeom>
          <a:noFill/>
          <a:ln/>
        </p:spPr>
        <p:txBody>
          <a:bodyPr wrap="square" lIns="0" tIns="0" rIns="0" bIns="0" rtlCol="0" anchor="ctr"/>
          <a:lstStyle/>
          <a:p>
            <a:pPr marL="0" indent="0">
              <a:buNone/>
            </a:pPr>
            <a:r>
              <a:rPr lang="en-US" sz="1350" b="1" dirty="0">
                <a:solidFill>
                  <a:srgbClr val="13234B"/>
                </a:solidFill>
                <a:latin typeface="Cambria" pitchFamily="34" charset="0"/>
                <a:ea typeface="Cambria" pitchFamily="34" charset="-122"/>
                <a:cs typeface="Cambria" pitchFamily="34" charset="-120"/>
              </a:rPr>
              <a:t>Baseline Qwen3 - Strict execution accuracy by query complexity</a:t>
            </a:r>
            <a:endParaRPr lang="en-US" sz="1350" dirty="0"/>
          </a:p>
        </p:txBody>
      </p:sp>
      <p:graphicFrame>
        <p:nvGraphicFramePr>
          <p:cNvPr id="5" name="Chart 0"/>
          <p:cNvGraphicFramePr/>
          <p:nvPr/>
        </p:nvGraphicFramePr>
        <p:xfrm>
          <a:off x="457200" y="1508760"/>
          <a:ext cx="5394960" cy="26517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457200" y="4251960"/>
            <a:ext cx="5394960" cy="822960"/>
          </a:xfrm>
          <a:prstGeom prst="rect">
            <a:avLst/>
          </a:prstGeom>
          <a:noFill/>
          <a:ln/>
        </p:spPr>
        <p:txBody>
          <a:bodyPr wrap="square" lIns="0" tIns="0" rIns="0" bIns="0" rtlCol="0" anchor="ctr"/>
          <a:lstStyle/>
          <a:p>
            <a:pPr marL="0" indent="0">
              <a:lnSpc>
                <a:spcPct val="120000"/>
              </a:lnSpc>
              <a:buNone/>
            </a:pPr>
            <a:r>
              <a:rPr lang="en-US" sz="1100" dirty="0">
                <a:solidFill>
                  <a:srgbClr val="1A2233"/>
                </a:solidFill>
                <a:latin typeface="Calibri" pitchFamily="34" charset="0"/>
                <a:ea typeface="Calibri" pitchFamily="34" charset="-122"/>
                <a:cs typeface="Calibri" pitchFamily="34" charset="-120"/>
              </a:rPr>
              <a:t>Largest errors are semantic, not syntactic — multi-join and join-plus-subquery cases are hardest: invented columns, missing joins, wrong aggregation and executable queries that answer the wrong question.</a:t>
            </a:r>
            <a:endParaRPr lang="en-US" sz="1100" dirty="0"/>
          </a:p>
        </p:txBody>
      </p:sp>
      <p:sp>
        <p:nvSpPr>
          <p:cNvPr id="7" name="Shape 4"/>
          <p:cNvSpPr/>
          <p:nvPr/>
        </p:nvSpPr>
        <p:spPr>
          <a:xfrm>
            <a:off x="6172200" y="1188720"/>
            <a:ext cx="0" cy="5029200"/>
          </a:xfrm>
          <a:prstGeom prst="line">
            <a:avLst/>
          </a:prstGeom>
          <a:noFill/>
          <a:ln w="12700">
            <a:solidFill>
              <a:srgbClr val="E4E7EC"/>
            </a:solidFill>
            <a:prstDash val="solid"/>
          </a:ln>
        </p:spPr>
      </p:sp>
      <p:sp>
        <p:nvSpPr>
          <p:cNvPr id="8" name="Text 5"/>
          <p:cNvSpPr/>
          <p:nvPr/>
        </p:nvSpPr>
        <p:spPr>
          <a:xfrm>
            <a:off x="6492240" y="1188720"/>
            <a:ext cx="5212080" cy="274320"/>
          </a:xfrm>
          <a:prstGeom prst="rect">
            <a:avLst/>
          </a:prstGeom>
          <a:noFill/>
          <a:ln/>
        </p:spPr>
        <p:txBody>
          <a:bodyPr wrap="square" lIns="0" tIns="0" rIns="0" bIns="0" rtlCol="0" anchor="ctr"/>
          <a:lstStyle/>
          <a:p>
            <a:pPr marL="0" indent="0">
              <a:buNone/>
            </a:pPr>
            <a:r>
              <a:rPr lang="en-US" sz="1250" b="1" dirty="0">
                <a:solidFill>
                  <a:srgbClr val="B97A1F"/>
                </a:solidFill>
                <a:latin typeface="Calibri" pitchFamily="34" charset="0"/>
                <a:ea typeface="Calibri" pitchFamily="34" charset="-122"/>
                <a:cs typeface="Calibri" pitchFamily="34" charset="-120"/>
              </a:rPr>
              <a:t>Validation overfitting</a:t>
            </a:r>
            <a:endParaRPr lang="en-US" sz="1250" dirty="0"/>
          </a:p>
        </p:txBody>
      </p:sp>
      <p:sp>
        <p:nvSpPr>
          <p:cNvPr id="9" name="Text 6"/>
          <p:cNvSpPr/>
          <p:nvPr/>
        </p:nvSpPr>
        <p:spPr>
          <a:xfrm>
            <a:off x="6492240" y="1444752"/>
            <a:ext cx="5212080" cy="594360"/>
          </a:xfrm>
          <a:prstGeom prst="rect">
            <a:avLst/>
          </a:prstGeom>
          <a:noFill/>
          <a:ln/>
        </p:spPr>
        <p:txBody>
          <a:bodyPr wrap="square" lIns="0" tIns="0" rIns="0" bIns="0" rtlCol="0" anchor="ctr"/>
          <a:lstStyle/>
          <a:p>
            <a:pPr marL="0" indent="0">
              <a:lnSpc>
                <a:spcPct val="115000"/>
              </a:lnSpc>
              <a:buNone/>
            </a:pPr>
            <a:r>
              <a:rPr lang="en-US" sz="1050" dirty="0">
                <a:solidFill>
                  <a:srgbClr val="1A2233"/>
                </a:solidFill>
                <a:latin typeface="Calibri" pitchFamily="34" charset="0"/>
                <a:ea typeface="Calibri" pitchFamily="34" charset="-122"/>
                <a:cs typeface="Calibri" pitchFamily="34" charset="-120"/>
              </a:rPr>
              <a:t>Spider validation used for every decision — treat as dev set, not </a:t>
            </a:r>
            <a:r>
              <a:rPr lang="en-US" sz="1050">
                <a:solidFill>
                  <a:srgbClr val="1A2233"/>
                </a:solidFill>
                <a:latin typeface="Calibri" pitchFamily="34" charset="0"/>
                <a:ea typeface="Calibri" pitchFamily="34" charset="-122"/>
                <a:cs typeface="Calibri" pitchFamily="34" charset="-120"/>
              </a:rPr>
              <a:t>unbiased final test</a:t>
            </a:r>
            <a:endParaRPr lang="en-US" sz="1050" dirty="0"/>
          </a:p>
        </p:txBody>
      </p:sp>
      <p:sp>
        <p:nvSpPr>
          <p:cNvPr id="10" name="Text 7"/>
          <p:cNvSpPr/>
          <p:nvPr/>
        </p:nvSpPr>
        <p:spPr>
          <a:xfrm>
            <a:off x="6492240" y="2148840"/>
            <a:ext cx="5212080" cy="274320"/>
          </a:xfrm>
          <a:prstGeom prst="rect">
            <a:avLst/>
          </a:prstGeom>
          <a:noFill/>
          <a:ln/>
        </p:spPr>
        <p:txBody>
          <a:bodyPr wrap="square" lIns="0" tIns="0" rIns="0" bIns="0" rtlCol="0" anchor="ctr"/>
          <a:lstStyle/>
          <a:p>
            <a:pPr marL="0" indent="0">
              <a:buNone/>
            </a:pPr>
            <a:r>
              <a:rPr lang="en-US" sz="1250" b="1" dirty="0">
                <a:solidFill>
                  <a:srgbClr val="B97A1F"/>
                </a:solidFill>
                <a:latin typeface="Calibri" pitchFamily="34" charset="0"/>
                <a:ea typeface="Calibri" pitchFamily="34" charset="-122"/>
                <a:cs typeface="Calibri" pitchFamily="34" charset="-120"/>
              </a:rPr>
              <a:t>Safety vs. production</a:t>
            </a:r>
            <a:endParaRPr lang="en-US" sz="1250" dirty="0"/>
          </a:p>
        </p:txBody>
      </p:sp>
      <p:sp>
        <p:nvSpPr>
          <p:cNvPr id="11" name="Text 8"/>
          <p:cNvSpPr/>
          <p:nvPr/>
        </p:nvSpPr>
        <p:spPr>
          <a:xfrm>
            <a:off x="6492240" y="2404872"/>
            <a:ext cx="5212080" cy="594360"/>
          </a:xfrm>
          <a:prstGeom prst="rect">
            <a:avLst/>
          </a:prstGeom>
          <a:noFill/>
          <a:ln/>
        </p:spPr>
        <p:txBody>
          <a:bodyPr wrap="square" lIns="0" tIns="0" rIns="0" bIns="0" rtlCol="0" anchor="ctr"/>
          <a:lstStyle/>
          <a:p>
            <a:pPr marL="0" indent="0">
              <a:lnSpc>
                <a:spcPct val="115000"/>
              </a:lnSpc>
              <a:buNone/>
            </a:pPr>
            <a:r>
              <a:rPr lang="en-US" sz="1050" dirty="0">
                <a:solidFill>
                  <a:srgbClr val="1A2233"/>
                </a:solidFill>
                <a:latin typeface="Calibri" pitchFamily="34" charset="0"/>
                <a:ea typeface="Calibri" pitchFamily="34" charset="-122"/>
                <a:cs typeface="Calibri" pitchFamily="34" charset="-120"/>
              </a:rPr>
              <a:t>Read-only execution ≠ full authorization; auth, permissions, audit logs still needed</a:t>
            </a:r>
            <a:endParaRPr lang="en-US" sz="1050" dirty="0"/>
          </a:p>
        </p:txBody>
      </p:sp>
      <p:sp>
        <p:nvSpPr>
          <p:cNvPr id="12" name="Text 9"/>
          <p:cNvSpPr/>
          <p:nvPr/>
        </p:nvSpPr>
        <p:spPr>
          <a:xfrm>
            <a:off x="6492240" y="3108960"/>
            <a:ext cx="5212080" cy="274320"/>
          </a:xfrm>
          <a:prstGeom prst="rect">
            <a:avLst/>
          </a:prstGeom>
          <a:noFill/>
          <a:ln/>
        </p:spPr>
        <p:txBody>
          <a:bodyPr wrap="square" lIns="0" tIns="0" rIns="0" bIns="0" rtlCol="0" anchor="ctr"/>
          <a:lstStyle/>
          <a:p>
            <a:pPr marL="0" indent="0">
              <a:buNone/>
            </a:pPr>
            <a:r>
              <a:rPr lang="en-US" sz="1250" b="1" dirty="0">
                <a:solidFill>
                  <a:srgbClr val="B97A1F"/>
                </a:solidFill>
                <a:latin typeface="Calibri" pitchFamily="34" charset="0"/>
                <a:ea typeface="Calibri" pitchFamily="34" charset="-122"/>
                <a:cs typeface="Calibri" pitchFamily="34" charset="-120"/>
              </a:rPr>
              <a:t>Hallucination &amp; ambiguity</a:t>
            </a:r>
            <a:endParaRPr lang="en-US" sz="1250" dirty="0"/>
          </a:p>
        </p:txBody>
      </p:sp>
      <p:sp>
        <p:nvSpPr>
          <p:cNvPr id="13" name="Text 10"/>
          <p:cNvSpPr/>
          <p:nvPr/>
        </p:nvSpPr>
        <p:spPr>
          <a:xfrm>
            <a:off x="6492240" y="3364992"/>
            <a:ext cx="5212080" cy="594360"/>
          </a:xfrm>
          <a:prstGeom prst="rect">
            <a:avLst/>
          </a:prstGeom>
          <a:noFill/>
          <a:ln/>
        </p:spPr>
        <p:txBody>
          <a:bodyPr wrap="square" lIns="0" tIns="0" rIns="0" bIns="0" rtlCol="0" anchor="ctr"/>
          <a:lstStyle/>
          <a:p>
            <a:pPr marL="0" indent="0">
              <a:lnSpc>
                <a:spcPct val="115000"/>
              </a:lnSpc>
              <a:buNone/>
            </a:pPr>
            <a:r>
              <a:rPr lang="en-US" sz="1050" dirty="0">
                <a:solidFill>
                  <a:srgbClr val="1A2233"/>
                </a:solidFill>
                <a:latin typeface="Calibri" pitchFamily="34" charset="0"/>
                <a:ea typeface="Calibri" pitchFamily="34" charset="-122"/>
                <a:cs typeface="Calibri" pitchFamily="34" charset="-120"/>
              </a:rPr>
              <a:t>Successful execution ≠ correctness; show SQL, prefer safe failure over silent guessing</a:t>
            </a:r>
            <a:endParaRPr lang="en-US" sz="1050" dirty="0"/>
          </a:p>
        </p:txBody>
      </p:sp>
      <p:sp>
        <p:nvSpPr>
          <p:cNvPr id="14" name="Text 11"/>
          <p:cNvSpPr/>
          <p:nvPr/>
        </p:nvSpPr>
        <p:spPr>
          <a:xfrm>
            <a:off x="6492240" y="4069080"/>
            <a:ext cx="5212080" cy="274320"/>
          </a:xfrm>
          <a:prstGeom prst="rect">
            <a:avLst/>
          </a:prstGeom>
          <a:noFill/>
          <a:ln/>
        </p:spPr>
        <p:txBody>
          <a:bodyPr wrap="square" lIns="0" tIns="0" rIns="0" bIns="0" rtlCol="0" anchor="ctr"/>
          <a:lstStyle/>
          <a:p>
            <a:pPr marL="0" indent="0">
              <a:buNone/>
            </a:pPr>
            <a:r>
              <a:rPr lang="en-US" sz="1250" b="1" dirty="0">
                <a:solidFill>
                  <a:srgbClr val="B97A1F"/>
                </a:solidFill>
                <a:latin typeface="Calibri" pitchFamily="34" charset="0"/>
                <a:ea typeface="Calibri" pitchFamily="34" charset="-122"/>
                <a:cs typeface="Calibri" pitchFamily="34" charset="-120"/>
              </a:rPr>
              <a:t>Generalization limits</a:t>
            </a:r>
            <a:endParaRPr lang="en-US" sz="1250" dirty="0"/>
          </a:p>
        </p:txBody>
      </p:sp>
      <p:sp>
        <p:nvSpPr>
          <p:cNvPr id="15" name="Text 12"/>
          <p:cNvSpPr/>
          <p:nvPr/>
        </p:nvSpPr>
        <p:spPr>
          <a:xfrm>
            <a:off x="6492240" y="4325112"/>
            <a:ext cx="5212080" cy="594360"/>
          </a:xfrm>
          <a:prstGeom prst="rect">
            <a:avLst/>
          </a:prstGeom>
          <a:noFill/>
          <a:ln/>
        </p:spPr>
        <p:txBody>
          <a:bodyPr wrap="square" lIns="0" tIns="0" rIns="0" bIns="0" rtlCol="0" anchor="ctr"/>
          <a:lstStyle/>
          <a:p>
            <a:pPr marL="0" indent="0">
              <a:lnSpc>
                <a:spcPct val="115000"/>
              </a:lnSpc>
              <a:buNone/>
            </a:pPr>
            <a:r>
              <a:rPr lang="en-US" sz="1050" dirty="0">
                <a:solidFill>
                  <a:srgbClr val="1A2233"/>
                </a:solidFill>
                <a:latin typeface="Calibri" pitchFamily="34" charset="0"/>
                <a:ea typeface="Calibri" pitchFamily="34" charset="-122"/>
                <a:cs typeface="Calibri" pitchFamily="34" charset="-120"/>
              </a:rPr>
              <a:t>Spider is clean English; results may not transfer to BIRD, other dialects, or dirty enterprise data</a:t>
            </a:r>
            <a:endParaRPr lang="en-US" sz="1050" dirty="0"/>
          </a:p>
        </p:txBody>
      </p:sp>
      <p:sp>
        <p:nvSpPr>
          <p:cNvPr id="16" name="Text 13"/>
          <p:cNvSpPr/>
          <p:nvPr/>
        </p:nvSpPr>
        <p:spPr>
          <a:xfrm>
            <a:off x="6492240" y="5029200"/>
            <a:ext cx="5212080" cy="274320"/>
          </a:xfrm>
          <a:prstGeom prst="rect">
            <a:avLst/>
          </a:prstGeom>
          <a:noFill/>
          <a:ln/>
        </p:spPr>
        <p:txBody>
          <a:bodyPr wrap="square" lIns="0" tIns="0" rIns="0" bIns="0" rtlCol="0" anchor="ctr"/>
          <a:lstStyle/>
          <a:p>
            <a:pPr marL="0" indent="0">
              <a:buNone/>
            </a:pPr>
            <a:r>
              <a:rPr lang="en-US" sz="1250" b="1" dirty="0">
                <a:solidFill>
                  <a:srgbClr val="B97A1F"/>
                </a:solidFill>
                <a:latin typeface="Calibri" pitchFamily="34" charset="0"/>
                <a:ea typeface="Calibri" pitchFamily="34" charset="-122"/>
                <a:cs typeface="Calibri" pitchFamily="34" charset="-120"/>
              </a:rPr>
              <a:t>Infrastructure</a:t>
            </a:r>
            <a:endParaRPr lang="en-US" sz="1250" dirty="0"/>
          </a:p>
        </p:txBody>
      </p:sp>
      <p:sp>
        <p:nvSpPr>
          <p:cNvPr id="17" name="Text 14"/>
          <p:cNvSpPr/>
          <p:nvPr/>
        </p:nvSpPr>
        <p:spPr>
          <a:xfrm>
            <a:off x="6492240" y="5285232"/>
            <a:ext cx="5212080" cy="594360"/>
          </a:xfrm>
          <a:prstGeom prst="rect">
            <a:avLst/>
          </a:prstGeom>
          <a:noFill/>
          <a:ln/>
        </p:spPr>
        <p:txBody>
          <a:bodyPr wrap="square" lIns="0" tIns="0" rIns="0" bIns="0" rtlCol="0" anchor="ctr"/>
          <a:lstStyle/>
          <a:p>
            <a:pPr marL="0" indent="0">
              <a:lnSpc>
                <a:spcPct val="115000"/>
              </a:lnSpc>
              <a:buNone/>
            </a:pPr>
            <a:r>
              <a:rPr lang="en-US" sz="1050" dirty="0">
                <a:solidFill>
                  <a:srgbClr val="1A2233"/>
                </a:solidFill>
                <a:latin typeface="Calibri" pitchFamily="34" charset="0"/>
                <a:ea typeface="Calibri" pitchFamily="34" charset="-122"/>
                <a:cs typeface="Calibri" pitchFamily="34" charset="-120"/>
              </a:rPr>
              <a:t>Colab runtimes can reset; checkpoint recovery prevents loss but not replay time</a:t>
            </a:r>
            <a:endParaRPr lang="en-US" sz="1050" dirty="0"/>
          </a:p>
        </p:txBody>
      </p:sp>
      <p:sp>
        <p:nvSpPr>
          <p:cNvPr id="18" name="Text 15"/>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0B1730"/>
        </a:solidFill>
        <a:effectLst/>
      </p:bgPr>
    </p:bg>
    <p:spTree>
      <p:nvGrpSpPr>
        <p:cNvPr id="1" name=""/>
        <p:cNvGrpSpPr/>
        <p:nvPr/>
      </p:nvGrpSpPr>
      <p:grpSpPr>
        <a:xfrm>
          <a:off x="0" y="0"/>
          <a:ext cx="0" cy="0"/>
          <a:chOff x="0" y="0"/>
          <a:chExt cx="0" cy="0"/>
        </a:xfrm>
      </p:grpSpPr>
      <p:sp>
        <p:nvSpPr>
          <p:cNvPr id="2" name="Text 0"/>
          <p:cNvSpPr/>
          <p:nvPr/>
        </p:nvSpPr>
        <p:spPr>
          <a:xfrm>
            <a:off x="457200" y="73152"/>
            <a:ext cx="7315200" cy="274320"/>
          </a:xfrm>
          <a:prstGeom prst="rect">
            <a:avLst/>
          </a:prstGeom>
          <a:noFill/>
          <a:ln/>
        </p:spPr>
        <p:txBody>
          <a:bodyPr wrap="square" lIns="0" tIns="0" rIns="0" bIns="0" rtlCol="0" anchor="ctr"/>
          <a:lstStyle/>
          <a:p>
            <a:pPr marL="0" indent="0">
              <a:buNone/>
            </a:pPr>
            <a:r>
              <a:rPr lang="en-US" sz="1150" b="1" kern="0" spc="200" dirty="0">
                <a:solidFill>
                  <a:srgbClr val="E8A33D"/>
                </a:solidFill>
                <a:latin typeface="Calibri" pitchFamily="34" charset="0"/>
                <a:ea typeface="Calibri" pitchFamily="34" charset="-122"/>
                <a:cs typeface="Calibri" pitchFamily="34" charset="-120"/>
              </a:rPr>
              <a:t>SUMMARY &amp; NEXT STEPS</a:t>
            </a:r>
            <a:endParaRPr lang="en-US" sz="1150" dirty="0"/>
          </a:p>
        </p:txBody>
      </p:sp>
      <p:sp>
        <p:nvSpPr>
          <p:cNvPr id="3" name="Text 1"/>
          <p:cNvSpPr/>
          <p:nvPr/>
        </p:nvSpPr>
        <p:spPr>
          <a:xfrm>
            <a:off x="457200" y="320040"/>
            <a:ext cx="11247120" cy="64008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Ready for Milestone 4: training and product integration</a:t>
            </a:r>
            <a:endParaRPr lang="en-US" sz="3000" dirty="0"/>
          </a:p>
        </p:txBody>
      </p:sp>
      <p:sp>
        <p:nvSpPr>
          <p:cNvPr id="4" name="Shape 2"/>
          <p:cNvSpPr/>
          <p:nvPr/>
        </p:nvSpPr>
        <p:spPr>
          <a:xfrm>
            <a:off x="457200" y="1280160"/>
            <a:ext cx="365760" cy="365760"/>
          </a:xfrm>
          <a:prstGeom prst="roundRect">
            <a:avLst>
              <a:gd name="adj" fmla="val 15000"/>
            </a:avLst>
          </a:prstGeom>
          <a:solidFill>
            <a:srgbClr val="0E7C86"/>
          </a:solidFill>
          <a:ln/>
        </p:spPr>
      </p:sp>
      <p:sp>
        <p:nvSpPr>
          <p:cNvPr id="5" name="Text 3"/>
          <p:cNvSpPr/>
          <p:nvPr/>
        </p:nvSpPr>
        <p:spPr>
          <a:xfrm>
            <a:off x="45720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6" name="Text 4"/>
          <p:cNvSpPr/>
          <p:nvPr/>
        </p:nvSpPr>
        <p:spPr>
          <a:xfrm>
            <a:off x="960120" y="125272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Freeze the selected Qwen3 revision, adapter, prompt, and evaluation settings</a:t>
            </a:r>
            <a:endParaRPr lang="en-US" sz="1200" dirty="0"/>
          </a:p>
        </p:txBody>
      </p:sp>
      <p:sp>
        <p:nvSpPr>
          <p:cNvPr id="7" name="Shape 5"/>
          <p:cNvSpPr/>
          <p:nvPr/>
        </p:nvSpPr>
        <p:spPr>
          <a:xfrm>
            <a:off x="6309360" y="1280160"/>
            <a:ext cx="365760" cy="365760"/>
          </a:xfrm>
          <a:prstGeom prst="roundRect">
            <a:avLst>
              <a:gd name="adj" fmla="val 15000"/>
            </a:avLst>
          </a:prstGeom>
          <a:solidFill>
            <a:srgbClr val="0E7C86"/>
          </a:solidFill>
          <a:ln/>
        </p:spPr>
      </p:sp>
      <p:sp>
        <p:nvSpPr>
          <p:cNvPr id="8" name="Text 6"/>
          <p:cNvSpPr/>
          <p:nvPr/>
        </p:nvSpPr>
        <p:spPr>
          <a:xfrm>
            <a:off x="6309360" y="128016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9" name="Text 7"/>
          <p:cNvSpPr/>
          <p:nvPr/>
        </p:nvSpPr>
        <p:spPr>
          <a:xfrm>
            <a:off x="6812280" y="125272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Build the FastAPI /ask path around the existing model and executor</a:t>
            </a:r>
            <a:endParaRPr lang="en-US" sz="1200" dirty="0"/>
          </a:p>
        </p:txBody>
      </p:sp>
      <p:sp>
        <p:nvSpPr>
          <p:cNvPr id="10" name="Shape 8"/>
          <p:cNvSpPr/>
          <p:nvPr/>
        </p:nvSpPr>
        <p:spPr>
          <a:xfrm>
            <a:off x="457200" y="2331720"/>
            <a:ext cx="365760" cy="365760"/>
          </a:xfrm>
          <a:prstGeom prst="roundRect">
            <a:avLst>
              <a:gd name="adj" fmla="val 15000"/>
            </a:avLst>
          </a:prstGeom>
          <a:solidFill>
            <a:srgbClr val="0E7C86"/>
          </a:solidFill>
          <a:ln/>
        </p:spPr>
      </p:sp>
      <p:sp>
        <p:nvSpPr>
          <p:cNvPr id="11" name="Text 9"/>
          <p:cNvSpPr/>
          <p:nvPr/>
        </p:nvSpPr>
        <p:spPr>
          <a:xfrm>
            <a:off x="457200" y="2331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2" name="Text 10"/>
          <p:cNvSpPr/>
          <p:nvPr/>
        </p:nvSpPr>
        <p:spPr>
          <a:xfrm>
            <a:off x="960120" y="230428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Implement table-level schema retrieval &amp; value grounding for large schemas</a:t>
            </a:r>
            <a:endParaRPr lang="en-US" sz="1200" dirty="0"/>
          </a:p>
        </p:txBody>
      </p:sp>
      <p:sp>
        <p:nvSpPr>
          <p:cNvPr id="13" name="Shape 11"/>
          <p:cNvSpPr/>
          <p:nvPr/>
        </p:nvSpPr>
        <p:spPr>
          <a:xfrm>
            <a:off x="6309360" y="2331720"/>
            <a:ext cx="365760" cy="365760"/>
          </a:xfrm>
          <a:prstGeom prst="roundRect">
            <a:avLst>
              <a:gd name="adj" fmla="val 15000"/>
            </a:avLst>
          </a:prstGeom>
          <a:solidFill>
            <a:srgbClr val="0E7C86"/>
          </a:solidFill>
          <a:ln/>
        </p:spPr>
      </p:sp>
      <p:sp>
        <p:nvSpPr>
          <p:cNvPr id="14" name="Text 12"/>
          <p:cNvSpPr/>
          <p:nvPr/>
        </p:nvSpPr>
        <p:spPr>
          <a:xfrm>
            <a:off x="6309360" y="2331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5" name="Text 13"/>
          <p:cNvSpPr/>
          <p:nvPr/>
        </p:nvSpPr>
        <p:spPr>
          <a:xfrm>
            <a:off x="6812280" y="230428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Add a bounded execution-guided self-correction loop</a:t>
            </a:r>
            <a:endParaRPr lang="en-US" sz="1200" dirty="0"/>
          </a:p>
        </p:txBody>
      </p:sp>
      <p:sp>
        <p:nvSpPr>
          <p:cNvPr id="16" name="Shape 14"/>
          <p:cNvSpPr/>
          <p:nvPr/>
        </p:nvSpPr>
        <p:spPr>
          <a:xfrm>
            <a:off x="457200" y="3383280"/>
            <a:ext cx="365760" cy="365760"/>
          </a:xfrm>
          <a:prstGeom prst="roundRect">
            <a:avLst>
              <a:gd name="adj" fmla="val 15000"/>
            </a:avLst>
          </a:prstGeom>
          <a:solidFill>
            <a:srgbClr val="0E7C86"/>
          </a:solidFill>
          <a:ln/>
        </p:spPr>
      </p:sp>
      <p:sp>
        <p:nvSpPr>
          <p:cNvPr id="17" name="Text 15"/>
          <p:cNvSpPr/>
          <p:nvPr/>
        </p:nvSpPr>
        <p:spPr>
          <a:xfrm>
            <a:off x="45720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18" name="Text 16"/>
          <p:cNvSpPr/>
          <p:nvPr/>
        </p:nvSpPr>
        <p:spPr>
          <a:xfrm>
            <a:off x="960120" y="335584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Add result summarization and rule-based chart selection</a:t>
            </a:r>
            <a:endParaRPr lang="en-US" sz="1200" dirty="0"/>
          </a:p>
        </p:txBody>
      </p:sp>
      <p:sp>
        <p:nvSpPr>
          <p:cNvPr id="19" name="Shape 17"/>
          <p:cNvSpPr/>
          <p:nvPr/>
        </p:nvSpPr>
        <p:spPr>
          <a:xfrm>
            <a:off x="6309360" y="3383280"/>
            <a:ext cx="365760" cy="365760"/>
          </a:xfrm>
          <a:prstGeom prst="roundRect">
            <a:avLst>
              <a:gd name="adj" fmla="val 15000"/>
            </a:avLst>
          </a:prstGeom>
          <a:solidFill>
            <a:srgbClr val="0E7C86"/>
          </a:solidFill>
          <a:ln/>
        </p:spPr>
      </p:sp>
      <p:sp>
        <p:nvSpPr>
          <p:cNvPr id="20" name="Text 18"/>
          <p:cNvSpPr/>
          <p:nvPr/>
        </p:nvSpPr>
        <p:spPr>
          <a:xfrm>
            <a:off x="6309360" y="338328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1" name="Text 19"/>
          <p:cNvSpPr/>
          <p:nvPr/>
        </p:nvSpPr>
        <p:spPr>
          <a:xfrm>
            <a:off x="6812280" y="335584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Build a minimal UI: SQL, rows, answer, chart, errors</a:t>
            </a:r>
            <a:endParaRPr lang="en-US" sz="1200" dirty="0"/>
          </a:p>
        </p:txBody>
      </p:sp>
      <p:sp>
        <p:nvSpPr>
          <p:cNvPr id="22" name="Shape 20"/>
          <p:cNvSpPr/>
          <p:nvPr/>
        </p:nvSpPr>
        <p:spPr>
          <a:xfrm>
            <a:off x="457200" y="4434840"/>
            <a:ext cx="365760" cy="365760"/>
          </a:xfrm>
          <a:prstGeom prst="roundRect">
            <a:avLst>
              <a:gd name="adj" fmla="val 15000"/>
            </a:avLst>
          </a:prstGeom>
          <a:solidFill>
            <a:srgbClr val="0E7C86"/>
          </a:solidFill>
          <a:ln/>
        </p:spPr>
      </p:sp>
      <p:sp>
        <p:nvSpPr>
          <p:cNvPr id="23" name="Text 21"/>
          <p:cNvSpPr/>
          <p:nvPr/>
        </p:nvSpPr>
        <p:spPr>
          <a:xfrm>
            <a:off x="457200" y="44348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4" name="Text 22"/>
          <p:cNvSpPr/>
          <p:nvPr/>
        </p:nvSpPr>
        <p:spPr>
          <a:xfrm>
            <a:off x="960120" y="440740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Evaluate once on an untouched database-disjoint set; add BIRD if feasible</a:t>
            </a:r>
            <a:endParaRPr lang="en-US" sz="1200" dirty="0"/>
          </a:p>
        </p:txBody>
      </p:sp>
      <p:sp>
        <p:nvSpPr>
          <p:cNvPr id="25" name="Shape 23"/>
          <p:cNvSpPr/>
          <p:nvPr/>
        </p:nvSpPr>
        <p:spPr>
          <a:xfrm>
            <a:off x="6309360" y="4434840"/>
            <a:ext cx="365760" cy="365760"/>
          </a:xfrm>
          <a:prstGeom prst="roundRect">
            <a:avLst>
              <a:gd name="adj" fmla="val 15000"/>
            </a:avLst>
          </a:prstGeom>
          <a:solidFill>
            <a:srgbClr val="0E7C86"/>
          </a:solidFill>
          <a:ln/>
        </p:spPr>
      </p:sp>
      <p:sp>
        <p:nvSpPr>
          <p:cNvPr id="26" name="Text 24"/>
          <p:cNvSpPr/>
          <p:nvPr/>
        </p:nvSpPr>
        <p:spPr>
          <a:xfrm>
            <a:off x="6309360" y="44348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8</a:t>
            </a:r>
            <a:endParaRPr lang="en-US" sz="1400" dirty="0"/>
          </a:p>
        </p:txBody>
      </p:sp>
      <p:sp>
        <p:nvSpPr>
          <p:cNvPr id="27" name="Text 25"/>
          <p:cNvSpPr/>
          <p:nvPr/>
        </p:nvSpPr>
        <p:spPr>
          <a:xfrm>
            <a:off x="6812280" y="4407408"/>
            <a:ext cx="4892040" cy="914400"/>
          </a:xfrm>
          <a:prstGeom prst="rect">
            <a:avLst/>
          </a:prstGeom>
          <a:noFill/>
          <a:ln/>
        </p:spPr>
        <p:txBody>
          <a:bodyPr wrap="square" lIns="0" tIns="0" rIns="0" bIns="0" rtlCol="0" anchor="t"/>
          <a:lstStyle/>
          <a:p>
            <a:pPr marL="0" indent="0">
              <a:lnSpc>
                <a:spcPct val="115000"/>
              </a:lnSpc>
              <a:buNone/>
            </a:pPr>
            <a:r>
              <a:rPr lang="en-US" sz="1200" dirty="0">
                <a:solidFill>
                  <a:srgbClr val="FFFFFF"/>
                </a:solidFill>
                <a:latin typeface="Calibri" pitchFamily="34" charset="0"/>
                <a:ea typeface="Calibri" pitchFamily="34" charset="-122"/>
                <a:cs typeface="Calibri" pitchFamily="34" charset="-120"/>
              </a:rPr>
              <a:t>Measure batch-size-one end-to-end latency and safety behavior</a:t>
            </a:r>
            <a:endParaRPr lang="en-US" sz="1200" dirty="0"/>
          </a:p>
        </p:txBody>
      </p:sp>
      <p:sp>
        <p:nvSpPr>
          <p:cNvPr id="28" name="Text 26"/>
          <p:cNvSpPr/>
          <p:nvPr/>
        </p:nvSpPr>
        <p:spPr>
          <a:xfrm>
            <a:off x="457200" y="5623560"/>
            <a:ext cx="11247120" cy="822960"/>
          </a:xfrm>
          <a:prstGeom prst="rect">
            <a:avLst/>
          </a:prstGeom>
          <a:noFill/>
          <a:ln/>
        </p:spPr>
        <p:txBody>
          <a:bodyPr wrap="square" lIns="0" tIns="0" rIns="0" bIns="0" rtlCol="0" anchor="ctr"/>
          <a:lstStyle/>
          <a:p>
            <a:pPr marL="0" indent="0" algn="ctr">
              <a:lnSpc>
                <a:spcPct val="120000"/>
              </a:lnSpc>
              <a:buNone/>
            </a:pPr>
            <a:r>
              <a:rPr lang="en-US" sz="1300" i="1" dirty="0">
                <a:solidFill>
                  <a:srgbClr val="E8A33D"/>
                </a:solidFill>
                <a:latin typeface="Cambria" pitchFamily="34" charset="0"/>
                <a:ea typeface="Cambria" pitchFamily="34" charset="-122"/>
                <a:cs typeface="Cambria" pitchFamily="34" charset="-120"/>
              </a:rPr>
              <a:t>“The primary technical challenge is no longer fitting or training a small model; it is improving schema grounding and candidate selection without overfitting the existing Spider validation set.”</a:t>
            </a:r>
            <a:endParaRPr lang="en-US" sz="1300" dirty="0"/>
          </a:p>
        </p:txBody>
      </p:sp>
      <p:sp>
        <p:nvSpPr>
          <p:cNvPr id="29" name="Text 27"/>
          <p:cNvSpPr/>
          <p:nvPr/>
        </p:nvSpPr>
        <p:spPr>
          <a:xfrm>
            <a:off x="457200" y="6473952"/>
            <a:ext cx="5486400" cy="274320"/>
          </a:xfrm>
          <a:prstGeom prst="rect">
            <a:avLst/>
          </a:prstGeom>
          <a:noFill/>
          <a:ln/>
        </p:spPr>
        <p:txBody>
          <a:bodyPr wrap="square" lIns="0" tIns="0" rIns="0" bIns="0" rtlCol="0" anchor="ctr"/>
          <a:lstStyle/>
          <a:p>
            <a:pPr marL="0" indent="0">
              <a:buNone/>
            </a:pPr>
            <a:r>
              <a:rPr lang="en-US" sz="900" dirty="0">
                <a:solidFill>
                  <a:srgbClr val="5B6472"/>
                </a:solidFill>
                <a:latin typeface="Calibri" pitchFamily="34" charset="0"/>
                <a:ea typeface="Calibri" pitchFamily="34" charset="-122"/>
                <a:cs typeface="Calibri" pitchFamily="34" charset="-120"/>
              </a:rPr>
              <a:t>Talk to Your Database  |  Milestone 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394</TotalTime>
  <Words>2067</Words>
  <Application>Microsoft Office PowerPoint</Application>
  <PresentationFormat>Widescreen</PresentationFormat>
  <Paragraphs>362</Paragraphs>
  <Slides>16</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Cambria</vt:lpstr>
      <vt:lpstr>Plus Jakarta Sans</vt:lpstr>
      <vt:lpstr>Plus Jakarta Sans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Walu Aier</cp:lastModifiedBy>
  <cp:revision>121</cp:revision>
  <dcterms:created xsi:type="dcterms:W3CDTF">2026-07-25T02:55:53Z</dcterms:created>
  <dcterms:modified xsi:type="dcterms:W3CDTF">2026-07-25T09:32:21Z</dcterms:modified>
</cp:coreProperties>
</file>